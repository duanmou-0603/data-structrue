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</p:sldMasterIdLst>
  <p:notesMasterIdLst>
    <p:notesMasterId r:id="rId16"/>
  </p:notesMasterIdLst>
  <p:handoutMasterIdLst>
    <p:handoutMasterId r:id="rId55"/>
  </p:handoutMasterIdLst>
  <p:sldIdLst>
    <p:sldId id="284" r:id="rId15"/>
    <p:sldId id="285" r:id="rId17"/>
    <p:sldId id="286" r:id="rId18"/>
    <p:sldId id="287" r:id="rId19"/>
    <p:sldId id="288" r:id="rId20"/>
    <p:sldId id="289" r:id="rId21"/>
    <p:sldId id="290" r:id="rId22"/>
    <p:sldId id="291" r:id="rId23"/>
    <p:sldId id="292" r:id="rId24"/>
    <p:sldId id="293" r:id="rId25"/>
    <p:sldId id="294" r:id="rId26"/>
    <p:sldId id="295" r:id="rId27"/>
    <p:sldId id="317" r:id="rId28"/>
    <p:sldId id="296" r:id="rId29"/>
    <p:sldId id="316" r:id="rId30"/>
    <p:sldId id="297" r:id="rId31"/>
    <p:sldId id="298" r:id="rId32"/>
    <p:sldId id="330" r:id="rId33"/>
    <p:sldId id="314" r:id="rId34"/>
    <p:sldId id="328" r:id="rId35"/>
    <p:sldId id="300" r:id="rId36"/>
    <p:sldId id="301" r:id="rId37"/>
    <p:sldId id="302" r:id="rId38"/>
    <p:sldId id="303" r:id="rId39"/>
    <p:sldId id="304" r:id="rId40"/>
    <p:sldId id="305" r:id="rId41"/>
    <p:sldId id="306" r:id="rId42"/>
    <p:sldId id="307" r:id="rId43"/>
    <p:sldId id="321" r:id="rId44"/>
    <p:sldId id="308" r:id="rId45"/>
    <p:sldId id="309" r:id="rId46"/>
    <p:sldId id="323" r:id="rId47"/>
    <p:sldId id="310" r:id="rId48"/>
    <p:sldId id="324" r:id="rId49"/>
    <p:sldId id="325" r:id="rId50"/>
    <p:sldId id="326" r:id="rId51"/>
    <p:sldId id="327" r:id="rId52"/>
    <p:sldId id="311" r:id="rId53"/>
    <p:sldId id="333" r:id="rId5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8" Type="http://schemas.openxmlformats.org/officeDocument/2006/relationships/tableStyles" Target="tableStyles.xml"/><Relationship Id="rId57" Type="http://schemas.openxmlformats.org/officeDocument/2006/relationships/viewProps" Target="viewProps.xml"/><Relationship Id="rId56" Type="http://schemas.openxmlformats.org/officeDocument/2006/relationships/presProps" Target="presProps.xml"/><Relationship Id="rId55" Type="http://schemas.openxmlformats.org/officeDocument/2006/relationships/handoutMaster" Target="handoutMasters/handoutMaster1.xml"/><Relationship Id="rId54" Type="http://schemas.openxmlformats.org/officeDocument/2006/relationships/slide" Target="slides/slide39.xml"/><Relationship Id="rId53" Type="http://schemas.openxmlformats.org/officeDocument/2006/relationships/slide" Target="slides/slide38.xml"/><Relationship Id="rId52" Type="http://schemas.openxmlformats.org/officeDocument/2006/relationships/slide" Target="slides/slide37.xml"/><Relationship Id="rId51" Type="http://schemas.openxmlformats.org/officeDocument/2006/relationships/slide" Target="slides/slide36.xml"/><Relationship Id="rId50" Type="http://schemas.openxmlformats.org/officeDocument/2006/relationships/slide" Target="slides/slide35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34.xml"/><Relationship Id="rId48" Type="http://schemas.openxmlformats.org/officeDocument/2006/relationships/slide" Target="slides/slide33.xml"/><Relationship Id="rId47" Type="http://schemas.openxmlformats.org/officeDocument/2006/relationships/slide" Target="slides/slide32.xml"/><Relationship Id="rId46" Type="http://schemas.openxmlformats.org/officeDocument/2006/relationships/slide" Target="slides/slide31.xml"/><Relationship Id="rId45" Type="http://schemas.openxmlformats.org/officeDocument/2006/relationships/slide" Target="slides/slide30.xml"/><Relationship Id="rId44" Type="http://schemas.openxmlformats.org/officeDocument/2006/relationships/slide" Target="slides/slide29.xml"/><Relationship Id="rId43" Type="http://schemas.openxmlformats.org/officeDocument/2006/relationships/slide" Target="slides/slide28.xml"/><Relationship Id="rId42" Type="http://schemas.openxmlformats.org/officeDocument/2006/relationships/slide" Target="slides/slide27.xml"/><Relationship Id="rId41" Type="http://schemas.openxmlformats.org/officeDocument/2006/relationships/slide" Target="slides/slide26.xml"/><Relationship Id="rId40" Type="http://schemas.openxmlformats.org/officeDocument/2006/relationships/slide" Target="slides/slide25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24.xml"/><Relationship Id="rId38" Type="http://schemas.openxmlformats.org/officeDocument/2006/relationships/slide" Target="slides/slide23.xml"/><Relationship Id="rId37" Type="http://schemas.openxmlformats.org/officeDocument/2006/relationships/slide" Target="slides/slide22.xml"/><Relationship Id="rId36" Type="http://schemas.openxmlformats.org/officeDocument/2006/relationships/slide" Target="slides/slide21.xml"/><Relationship Id="rId35" Type="http://schemas.openxmlformats.org/officeDocument/2006/relationships/slide" Target="slides/slide20.xml"/><Relationship Id="rId34" Type="http://schemas.openxmlformats.org/officeDocument/2006/relationships/slide" Target="slides/slide19.xml"/><Relationship Id="rId33" Type="http://schemas.openxmlformats.org/officeDocument/2006/relationships/slide" Target="slides/slide18.xml"/><Relationship Id="rId32" Type="http://schemas.openxmlformats.org/officeDocument/2006/relationships/slide" Target="slides/slide17.xml"/><Relationship Id="rId31" Type="http://schemas.openxmlformats.org/officeDocument/2006/relationships/slide" Target="slides/slide16.xml"/><Relationship Id="rId30" Type="http://schemas.openxmlformats.org/officeDocument/2006/relationships/slide" Target="slides/slide1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14.xml"/><Relationship Id="rId28" Type="http://schemas.openxmlformats.org/officeDocument/2006/relationships/slide" Target="slides/slide13.xml"/><Relationship Id="rId27" Type="http://schemas.openxmlformats.org/officeDocument/2006/relationships/slide" Target="slides/slide12.xml"/><Relationship Id="rId26" Type="http://schemas.openxmlformats.org/officeDocument/2006/relationships/slide" Target="slides/slide11.xml"/><Relationship Id="rId25" Type="http://schemas.openxmlformats.org/officeDocument/2006/relationships/slide" Target="slides/slide10.xml"/><Relationship Id="rId24" Type="http://schemas.openxmlformats.org/officeDocument/2006/relationships/slide" Target="slides/slide9.xml"/><Relationship Id="rId23" Type="http://schemas.openxmlformats.org/officeDocument/2006/relationships/slide" Target="slides/slide8.xml"/><Relationship Id="rId22" Type="http://schemas.openxmlformats.org/officeDocument/2006/relationships/slide" Target="slides/slide7.xml"/><Relationship Id="rId21" Type="http://schemas.openxmlformats.org/officeDocument/2006/relationships/slide" Target="slides/slide6.xml"/><Relationship Id="rId20" Type="http://schemas.openxmlformats.org/officeDocument/2006/relationships/slide" Target="slides/slide5.xml"/><Relationship Id="rId2" Type="http://schemas.openxmlformats.org/officeDocument/2006/relationships/theme" Target="theme/theme1.xml"/><Relationship Id="rId19" Type="http://schemas.openxmlformats.org/officeDocument/2006/relationships/slide" Target="slides/slide4.xml"/><Relationship Id="rId18" Type="http://schemas.openxmlformats.org/officeDocument/2006/relationships/slide" Target="slides/slide3.xml"/><Relationship Id="rId17" Type="http://schemas.openxmlformats.org/officeDocument/2006/relationships/slide" Target="slides/slide2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本周将继续学习线性表的内容，重点是栈、队列这两种受限的线性表结构，以及递归模型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  <a:sym typeface="苹方-简" panose="020B04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在生活中，栈的例子随处可见，比如一摞书，我们总是从最上面拿；再比如弹匣，最后压进去的子弹最先被打出来。这些都体现了栈“后进先出”的核心规则。栈是一种受限的线性表，我们只能在栈的一端，也就是栈顶，进行插入和删除操作。接下来，我们会通过代码演示和互动练习来加深理解。</a:t>
            </a:r>
            <a:endParaRPr lang="en-US" sz="1200" b="0" i="0" u="none" strike="noStrike">
              <a:solidFill>
                <a:srgbClr val="0000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  <a:sym typeface="苹方-简" panose="020B04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栈的结构很简单，有一个栈顶和一个栈底。我们可以用数组来实现顺序栈，也可以用单链表来实现链栈。</a:t>
            </a:r>
            <a:endParaRPr lang="en-US" sz="1200" b="0" i="0" u="none" strike="noStrike">
              <a:solidFill>
                <a:srgbClr val="0000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  <a:sym typeface="苹方-简" panose="020B0400000000000000" charset="-122"/>
            </a:endParaRPr>
          </a:p>
          <a:p>
            <a:pPr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  <a:sym typeface="苹方-简" panose="020B0400000000000000" charset="-122"/>
            </a:endParaRPr>
          </a:p>
          <a:p>
            <a:pPr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  <a:sym typeface="苹方-简" panose="020B04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栈的基本操作包括初始化、入栈、出栈、取栈顶元素和判断栈是否为空。这些操作都是围绕栈顶进行的。</a:t>
            </a:r>
            <a:endParaRPr lang="en-US" sz="1200" b="0" i="0" u="none" strike="noStrike">
              <a:solidFill>
                <a:srgbClr val="0000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  <a:sym typeface="苹方-简" panose="020B04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这是用Python实现的顺序栈。我们用一个列表来存储数据，push操作就是在列表末尾添加元素，pop操作就是删除列表末尾的元素。需要注意的是，在进行pop操作时，一定要先判断栈是否为空，避免出现空栈异常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链栈的实现是基于单链表的，我们把链表的头节点作为栈顶。入栈操作就是在链表头部插入一个节点，出栈操作就是删除链表的头节点。由于只操作链表头部，所以这些操作的时间复杂度都是O(1)，非常高效。</a:t>
            </a:r>
            <a:endParaRPr lang="en-US" sz="1200" b="0" i="0" u="none" strike="noStrike">
              <a:solidFill>
                <a:srgbClr val="0000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  <a:sym typeface="苹方-简" panose="020B0400000000000000" charset="-122"/>
            </a:endParaRPr>
          </a:p>
          <a:p>
            <a:pPr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  <a:sym typeface="苹方-简" panose="020B0400000000000000" charset="-122"/>
            </a:endParaRPr>
          </a:p>
          <a:p>
            <a:pPr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  <a:sym typeface="苹方-简" panose="020B04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请大家思考一下顺序栈和链栈各自的优缺点和适用场景。</a:t>
            </a:r>
            <a:endParaRPr lang="en-US" sz="1200" b="0" i="0" u="none" strike="noStrike">
              <a:solidFill>
                <a:srgbClr val="0000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  <a:sym typeface="苹方-简" panose="020B04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栈在计算机科学中有非常广泛的应用。比如，程序运行时的函数调用栈，用来管理函数的调用和返回；编译器在处理表达式时，会用栈来进行括号匹配和表达式求值；我们日常使用的软件，如浏览器的后退功能、编辑器的撤销功能，也都是基于栈实现的。</a:t>
            </a:r>
            <a:endParaRPr lang="en-US" sz="1200" b="0" i="0" u="none" strike="noStrike">
              <a:solidFill>
                <a:srgbClr val="0000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  <a:sym typeface="苹方-简" panose="020B04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栈的核心是“后进先出”，所有操作都在栈顶进行，时间复杂度为O(1)</a:t>
            </a:r>
            <a:endParaRPr lang="en-US" sz="1200" b="0" i="0" u="none" strike="noStrike">
              <a:solidFill>
                <a:srgbClr val="0000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  <a:sym typeface="苹方-简" panose="020B0400000000000000" charset="-122"/>
            </a:endParaRPr>
          </a:p>
          <a:p>
            <a:pPr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  <a:sym typeface="苹方-简" panose="020B0400000000000000" charset="-122"/>
            </a:endParaRPr>
          </a:p>
          <a:p>
            <a:pPr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  <a:sym typeface="苹方-简" panose="020B04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队列的概念同样来自生活，比如排队买票，先来的人先买；打印机处理任务，先提交的任务先打印。这体现了队列“先进先出”的规则。</a:t>
            </a:r>
            <a:endParaRPr lang="en-US" sz="1200" b="0" i="0" u="none" strike="noStrike">
              <a:solidFill>
                <a:srgbClr val="0000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  <a:sym typeface="苹方-简" panose="020B04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队列是一种受限的线性表，我们在队尾插入元素，在队头删除元素。</a:t>
            </a:r>
            <a:endParaRPr lang="en-US" sz="1200" b="0" i="0" u="none" strike="noStrike">
              <a:solidFill>
                <a:srgbClr val="0000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  <a:sym typeface="苹方-简" panose="020B04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请大家对比一下栈和队列的核心区别。</a:t>
            </a:r>
            <a:endParaRPr lang="en-US" sz="1200" b="0" i="0" u="none" strike="noStrike">
              <a:solidFill>
                <a:srgbClr val="0000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  <a:sym typeface="苹方-简" panose="020B04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顺序队列和链队列两种实现方式，以及入队、出队等基本操作。</a:t>
            </a:r>
            <a:endParaRPr lang="en-US" sz="1200" b="0" i="0" u="none" strike="noStrike">
              <a:solidFill>
                <a:srgbClr val="0000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  <a:sym typeface="苹方-简" panose="020B0400000000000000" charset="-122"/>
            </a:endParaRPr>
          </a:p>
          <a:p>
            <a:pPr indent="0" algn="l">
              <a:lnSpc>
                <a:spcPct val="100000"/>
              </a:lnSpc>
            </a:p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队列前面明明有空位，但队尾指针已经到了数组的末尾，导致无法继续入队。</a:t>
            </a:r>
            <a:endParaRPr lang="en-US" sz="1200" b="0" i="0" u="none" strike="noStrike">
              <a:solidFill>
                <a:srgbClr val="0000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  <a:sym typeface="苹方-简" panose="020B04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为了解决顺序队列的假溢出问题，我们引入了循环队列。通过取模运算，我们可以让队列的头尾指针在数组中循环移动。这里有两个关键的判断条件：当头尾指针相等时，队列为空；当队尾指针的下一个位置是队头指针时，队列已满。</a:t>
            </a:r>
            <a:endParaRPr lang="en-US" sz="12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为了区分空和满的状态，我们通常会牺牲一个存储空间。请大家快速写出判空和判满的公式。</a:t>
            </a:r>
            <a:endParaRPr lang="en-US" sz="12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。</a:t>
            </a:r>
            <a:endParaRPr lang="en-US" sz="12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为了解决顺序队列的假溢出问题，我们引入了循环队列。通过取模运算，我们可以让队列的头尾指针在数组中循环移动。这里有两个关键的判断条件：当头尾指针相等时，队列为空；当队尾指针的下一个位置是队头指针时，队列已满。</a:t>
            </a:r>
            <a:endParaRPr lang="en-US" sz="12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为了区分空和满的状态，我们通常会牺牲一个存储空间。请大家快速写出判空和判满的公式。</a:t>
            </a:r>
            <a:endParaRPr lang="en-US" sz="12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。</a:t>
            </a:r>
            <a:endParaRPr lang="en-US" sz="12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递归是一种非常强大的编程思想，它的核心是把一个大问题分解成更小的、相似的子问题来解决。一个完整的递归函数必须包含三个要素：基线条件，也就是递归的终止条件；递归关系，描述如何将问题分解；以及收敛性，确保问题规模在不断缩小，最终能达到基线条件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为了解决顺序队列的假溢出问题，我们引入了循环队列。通过取模运算，我们可以让队列的头尾指针在数组中循环移动。这里有两个关键的判断条件：当头尾指针相等时，队列为空；当队尾指针的下一个位置是队头指针时，队列已满。</a:t>
            </a:r>
            <a:endParaRPr lang="en-US" sz="12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为了区分空和满的状态，我们通常会牺牲一个存储空间。请大家快速写出判空和判满的公式。</a:t>
            </a:r>
            <a:endParaRPr lang="en-US" sz="12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。</a:t>
            </a:r>
            <a:endParaRPr lang="en-US" sz="12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这一页我们重点讲解递归的底层实现，递归的本质就是压栈和弹栈的过程；</a:t>
            </a:r>
            <a:endParaRPr lang="en-US" sz="1200" b="0" i="0" u="none" strike="noStrike">
              <a:solidFill>
                <a:srgbClr val="0000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  <a:sym typeface="苹方-简" panose="020B0400000000000000" charset="-122"/>
            </a:endParaRPr>
          </a:p>
          <a:p>
            <a:pPr indent="0" algn="l">
              <a:lnSpc>
                <a:spcPct val="100000"/>
              </a:lnSpc>
            </a:p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推演 fact(3) 的具体栈过程</a:t>
            </a:r>
            <a:endParaRPr lang="en-US" sz="1200" b="0" i="0" u="none" strike="noStrike">
              <a:solidFill>
                <a:srgbClr val="0000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  <a:sym typeface="苹方-简" panose="020B0400000000000000" charset="-122"/>
            </a:endParaRPr>
          </a:p>
          <a:p>
            <a:pPr indent="0" algn="l">
              <a:lnSpc>
                <a:spcPct val="100000"/>
              </a:lnSpc>
            </a:p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探讨递归深度过大可能导致的问题。递归的底层实现其实就是系统调用栈。每次调用一个函数，系统都会在栈中压入一个栈帧，保存函数的参数、局部变量和返回地址。当函数返回时，对应的栈帧会被弹出。如果递归的深度太大，就会导致栈溢出。所以，递归的本质就是分治思想加上栈的应用。如果递归深度过大，程序会出现什么问题呢？</a:t>
            </a:r>
            <a:endParaRPr lang="en-US" sz="1200" b="0" i="0" u="none" strike="noStrike">
              <a:solidFill>
                <a:srgbClr val="0000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  <a:sym typeface="苹方-简" panose="020B04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重点掌握栈、队列与递归的关系。</a:t>
            </a:r>
            <a:endParaRPr lang="en-US" sz="1200" b="0" i="0" u="none" strike="noStrike">
              <a:solidFill>
                <a:srgbClr val="0000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  <a:sym typeface="苹方-简" panose="020B0400000000000000" charset="-122"/>
            </a:endParaRPr>
          </a:p>
          <a:p>
            <a:pPr indent="0" algn="l">
              <a:lnSpc>
                <a:spcPct val="100000"/>
              </a:lnSpc>
            </a:p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实现递归斐波那契数列</a:t>
            </a:r>
            <a:endParaRPr lang="en-US" sz="1200" b="0" i="0" u="none" strike="noStrike">
              <a:solidFill>
                <a:srgbClr val="0000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  <a:sym typeface="苹方-简" panose="020B04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  <a:sym typeface="苹方-简" panose="020B04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  <a:sym typeface="苹方-简" panose="020B04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接下来是荣誉课程的内容。递归的三大痛点：栈溢出、重复计算和调试困难。然后进行案例演示，展示深度递归导致的程序崩溃。</a:t>
            </a:r>
            <a:endParaRPr lang="en-US" sz="1200" b="0" i="0" u="none" strike="noStrike">
              <a:solidFill>
                <a:srgbClr val="0000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  <a:sym typeface="苹方-简" panose="020B0400000000000000" charset="-122"/>
            </a:endParaRPr>
          </a:p>
          <a:p>
            <a:pPr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  <a:sym typeface="苹方-简" panose="020B0400000000000000" charset="-122"/>
            </a:endParaRPr>
          </a:p>
          <a:p>
            <a:pPr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  <a:sym typeface="苹方-简" panose="020B04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讨论一下，为什么在工程实践中，我们常常需要将递归转化为迭代？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递归简洁但开销大、风险高；迭代高效稳定、更适合生产环境。</a:t>
            </a:r>
            <a:endParaRPr lang="zh-CN" altLang="en-US" sz="1200" b="0" i="0" u="none" strike="noStrike">
              <a:solidFill>
                <a:srgbClr val="0000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  <a:sym typeface="苹方-简" panose="020B04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”</a:t>
            </a:r>
            <a:endParaRPr lang="zh-CN" altLang="en-US" sz="1200" b="0" i="0" u="none" strike="noStrike">
              <a:solidFill>
                <a:srgbClr val="0000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  <a:sym typeface="苹方-简" panose="020B04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接下来，我们来学习递归转迭代的通用方法。这个方法主要分为四个步骤。</a:t>
            </a:r>
            <a:endParaRPr lang="en-US" sz="12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找出递归的基线条件，也就是递归的终止条件，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即</a:t>
            </a:r>
            <a:r>
              <a:rPr lang="en-US" sz="12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循环的出口</a:t>
            </a:r>
            <a:endParaRPr lang="en-US" sz="12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用一个显式的栈来保存每次递归调用的状态，比如参数、局部变量等，这相当于手动模拟了系统调用栈</a:t>
            </a:r>
            <a:endParaRPr lang="en-US" sz="12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将初始的状态信息压入栈中，启动整个迭代过程</a:t>
            </a:r>
            <a:endParaRPr lang="en-US" sz="12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进入循环，不断地从栈中弹出状态并执行相应的操作，直到栈为空，整个过程就完成了</a:t>
            </a:r>
            <a:endParaRPr lang="en-US" sz="12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这四个步骤是将任何递归算法转化为迭代算法的通用思路。</a:t>
            </a:r>
            <a:endParaRPr lang="en-US" sz="12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本页重点讲解阶乘的递归与迭代实现对比。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两种算法的结构差异；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运行对比展示效率或空间差异；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仿写迭代版本。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第二个例子是链表反转。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递归版本通过回溯来修改指针方向，而迭代版本则使用三个指针（prev, cur, next）来原地反转链表，空间复杂度为O(1)，非常高效。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尝试</a:t>
            </a:r>
            <a:r>
              <a:rPr lang="en-US" sz="1400" b="0" i="0" u="none" strike="noStrike">
                <a:solidFill>
                  <a:srgbClr val="000000"/>
                </a:solidFill>
              </a:rPr>
              <a:t>画图练习指针变化过程。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栈模拟递归过程，强调“右先入栈”的规则。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展示节点出入栈的详细过程。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栈是后进先出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(LIFO)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结构，先入栈的右子节点会后出栈，这样才能保证左子树先于右子树被访问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第三课时我们学习了如何将递归转化为迭代。</a:t>
            </a:r>
            <a:endParaRPr lang="en-US" sz="1200" b="0" i="0" u="none" strike="noStrike">
              <a:solidFill>
                <a:srgbClr val="0000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  <a:sym typeface="苹方-简" panose="020B0400000000000000" charset="-122"/>
            </a:endParaRPr>
          </a:p>
          <a:p>
            <a:pPr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  <a:sym typeface="苹方-简" panose="020B04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重点总结转化后的时间复杂度基本不变，但空间复杂度变得更加可控</a:t>
            </a:r>
            <a:endParaRPr lang="en-US" sz="1200" b="0" i="0" u="none" strike="noStrike">
              <a:solidFill>
                <a:srgbClr val="0000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  <a:sym typeface="苹方-简" panose="020B0400000000000000" charset="-122"/>
            </a:endParaRPr>
          </a:p>
          <a:p>
            <a:pPr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  <a:sym typeface="苹方-简" panose="020B04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找基线、建栈、循环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执行</a:t>
            </a:r>
            <a:r>
              <a:rPr lang="en-US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，这有助于我们理解和实现递归到迭代的转化。</a:t>
            </a:r>
            <a:endParaRPr lang="en-US" sz="1200" b="0" i="0" u="none" strike="noStrike">
              <a:solidFill>
                <a:srgbClr val="0000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  <a:sym typeface="苹方-简" panose="020B0400000000000000" charset="-122"/>
            </a:endParaRPr>
          </a:p>
          <a:p>
            <a:pPr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  <a:sym typeface="苹方-简" panose="020B0400000000000000" charset="-122"/>
            </a:endParaRPr>
          </a:p>
          <a:p>
            <a:pPr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  <a:sym typeface="苹方-简" panose="020B04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判断在不同场景下使用递归还是迭代更合适。</a:t>
            </a:r>
            <a:endParaRPr lang="en-US" sz="1200" b="0" i="0" u="none" strike="noStrike">
              <a:solidFill>
                <a:srgbClr val="0000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  <a:sym typeface="苹方-简" panose="020B04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最后一个课时，我们将深入理解调用栈的底层原理，并探讨工程健壮性问题。</a:t>
            </a:r>
            <a:endParaRPr lang="en-US" sz="1200" b="0" i="0" u="none" strike="noStrike">
              <a:solidFill>
                <a:srgbClr val="0000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  <a:sym typeface="苹方-简" panose="020B0400000000000000" charset="-122"/>
            </a:endParaRPr>
          </a:p>
          <a:p>
            <a:pPr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  <a:sym typeface="苹方-简" panose="020B0400000000000000" charset="-122"/>
            </a:endParaRPr>
          </a:p>
          <a:p>
            <a:pPr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  <a:sym typeface="苹方-简" panose="020B04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深入理解栈帧存储内容：参数、局部变量及返回地址。</a:t>
            </a:r>
            <a:endParaRPr lang="en-US" sz="1200" b="0" i="0" u="none" strike="noStrike">
              <a:solidFill>
                <a:srgbClr val="0000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  <a:sym typeface="苹方-简" panose="020B0400000000000000" charset="-122"/>
            </a:endParaRPr>
          </a:p>
          <a:p>
            <a:pPr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  <a:sym typeface="苹方-简" panose="020B04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图示直观解析栈帧结构与调用过程。</a:t>
            </a:r>
            <a:endParaRPr lang="en-US" sz="1200" b="0" i="0" u="none" strike="noStrike">
              <a:solidFill>
                <a:srgbClr val="0000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  <a:sym typeface="苹方-简" panose="020B0400000000000000" charset="-122"/>
            </a:endParaRPr>
          </a:p>
          <a:p>
            <a:pPr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  <a:sym typeface="苹方-简" panose="020B04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探讨函数调用在底层的具体操作细节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：</a:t>
            </a:r>
            <a:r>
              <a:rPr lang="en-US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每次调用一个函数，系统都会创建一个栈帧并压入调用栈。栈帧中保存了函数的参数、局部变量、返回地址等信息。当函数执行完毕返回时，对应的栈帧会被弹出，并将结果返回给上一层函数。</a:t>
            </a:r>
            <a:endParaRPr lang="en-US" sz="1200" b="0" i="0" u="none" strike="noStrike">
              <a:solidFill>
                <a:srgbClr val="0000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  <a:sym typeface="苹方-简" panose="020B0400000000000000" charset="-122"/>
            </a:endParaRPr>
          </a:p>
          <a:p>
            <a:pPr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  <a:sym typeface="苹方-简" panose="020B04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当一个函数被调用时，系统在底层具体做了哪些操作？</a:t>
            </a:r>
            <a:endParaRPr lang="en-US" sz="1200" b="0" i="0" u="none" strike="noStrike">
              <a:solidFill>
                <a:srgbClr val="0000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  <a:sym typeface="苹方-简" panose="020B04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我们以计算fact(3)为例，手动模拟一下调用栈的过程。首先，fact(3)被调用，压入栈中；接着，它调用fact(2)，再次压栈；然后是fact(1)和fact(0)。当fact(0)执行到基线条件返回后，栈开始逐层弹出，计算结果并返回，最终得到3的阶乘是6。</a:t>
            </a:r>
            <a:endParaRPr lang="en-US" sz="1200" b="0" i="0" u="none" strike="noStrike">
              <a:solidFill>
                <a:srgbClr val="0000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  <a:sym typeface="苹方-简" panose="020B0400000000000000" charset="-122"/>
            </a:endParaRPr>
          </a:p>
          <a:p>
            <a:pPr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  <a:sym typeface="苹方-简" panose="020B0400000000000000" charset="-122"/>
            </a:endParaRPr>
          </a:p>
          <a:p>
            <a:pPr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  <a:sym typeface="苹方-简" panose="020B04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通过这个过程，我们可以更直观地理解递归的执行流程。</a:t>
            </a:r>
            <a:endParaRPr lang="en-US" sz="1200" b="0" i="0" u="none" strike="noStrike">
              <a:solidFill>
                <a:srgbClr val="0000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  <a:sym typeface="苹方-简" panose="020B04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栈帧为什么要按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“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参数</a:t>
            </a:r>
            <a:r>
              <a:rPr lang="en-US" altLang="en-US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→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返回地址</a:t>
            </a:r>
            <a:r>
              <a:rPr lang="en-US" altLang="en-US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→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局部变量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”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的顺序存储？核心是为了高效读取和释放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——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参数和返回地址先压入栈，函数执行时先取参数，执行完先释放局部变量，最后取返回地址，符合栈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“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先进后出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”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的特点，避免混乱。</a:t>
            </a:r>
            <a:endParaRPr lang="zh-CN" altLang="en-US" sz="1200" b="0" i="0" u="none" strike="noStrike">
              <a:solidFill>
                <a:srgbClr val="0000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  <a:sym typeface="苹方-简" panose="020B04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不同函数的栈帧怎么区分？靠栈基指针（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ebp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）和栈指针（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esp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）标记边界，每个函数的栈帧都有自己的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ebp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和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esp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，函数调用时更新这两个指针，划定新栈帧范围；函数返回时，恢复指针，回到上一个栈帧，确保互不干扰。</a:t>
            </a:r>
            <a:endParaRPr lang="zh-CN" altLang="en-US" sz="1200" b="0" i="0" u="none" strike="noStrike">
              <a:solidFill>
                <a:srgbClr val="0000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  <a:sym typeface="苹方-简" panose="020B0400000000000000" charset="-122"/>
            </a:endParaRPr>
          </a:p>
          <a:p>
            <a:pPr indent="0" algn="l">
              <a:lnSpc>
                <a:spcPct val="100000"/>
              </a:lnSpc>
            </a:pPr>
            <a:endParaRPr lang="en-US" altLang="zh-CN" sz="1200" b="0" i="0" u="none" strike="noStrike">
              <a:solidFill>
                <a:srgbClr val="0000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  <a:sym typeface="苹方-简" panose="020B04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函数调用的底层，就是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“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压参</a:t>
            </a:r>
            <a:r>
              <a:rPr lang="en-US" altLang="en-US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→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压返回地址</a:t>
            </a:r>
            <a:r>
              <a:rPr lang="en-US" altLang="en-US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→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建栈帧</a:t>
            </a:r>
            <a:r>
              <a:rPr lang="en-US" altLang="en-US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→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执行函数</a:t>
            </a:r>
            <a:r>
              <a:rPr lang="en-US" altLang="en-US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→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毁栈帧</a:t>
            </a:r>
            <a:r>
              <a:rPr lang="en-US" altLang="en-US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→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返回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”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的循环，而栈帧就是这个过程的核心载体。</a:t>
            </a:r>
            <a:endParaRPr lang="zh-CN" altLang="en-US" sz="1200" b="0" i="0" u="none" strike="noStrike">
              <a:solidFill>
                <a:srgbClr val="0000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  <a:sym typeface="苹方-简" panose="020B04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接下来，我们通过手动模拟来深入理解链表反转的递归调用栈</a:t>
            </a:r>
            <a:endParaRPr lang="en-US" sz="1200" b="0" i="0" u="none" strike="noStrike">
              <a:solidFill>
                <a:srgbClr val="0000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  <a:sym typeface="苹方-简" panose="020B0400000000000000" charset="-122"/>
            </a:endParaRPr>
          </a:p>
          <a:p>
            <a:pPr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  <a:sym typeface="苹方-简" panose="020B04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每层递归调用都会保存当前的head节点。</a:t>
            </a:r>
            <a:endParaRPr lang="en-US" sz="1200" b="0" i="0" u="none" strike="noStrike">
              <a:solidFill>
                <a:srgbClr val="0000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  <a:sym typeface="苹方-简" panose="020B0400000000000000" charset="-122"/>
            </a:endParaRPr>
          </a:p>
          <a:p>
            <a:pPr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  <a:sym typeface="苹方-简" panose="020B04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当递归到达链表末尾开始回溯时，如何修改指针方向</a:t>
            </a:r>
            <a:endParaRPr lang="en-US" sz="1200" b="0" i="0" u="none" strike="noStrike">
              <a:solidFill>
                <a:srgbClr val="0000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  <a:sym typeface="苹方-简" panose="020B0400000000000000" charset="-122"/>
            </a:endParaRPr>
          </a:p>
          <a:p>
            <a:pPr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  <a:sym typeface="苹方-简" panose="020B04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花几</a:t>
            </a:r>
            <a:r>
              <a:rPr lang="en-US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分钟动手画图，绘制栈的变化过程，</a:t>
            </a:r>
            <a:endParaRPr lang="en-US" sz="1200" b="0" i="0" u="none" strike="noStrike">
              <a:solidFill>
                <a:srgbClr val="0000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  <a:sym typeface="苹方-简" panose="020B0400000000000000" charset="-122"/>
            </a:endParaRPr>
          </a:p>
          <a:p>
            <a:pPr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  <a:sym typeface="苹方-简" panose="020B04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检验是否真正理解递归本质的关键。看懂这个过程，就真正理解了递归的本质。请大家画出栈的变化过程。</a:t>
            </a:r>
            <a:endParaRPr lang="en-US" sz="1200" b="0" i="0" u="none" strike="noStrike">
              <a:solidFill>
                <a:srgbClr val="0000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  <a:sym typeface="苹方-简" panose="020B04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本页重点讲解栈和队列的健壮性加固。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设置容量上限，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push/enqueue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前判断是否已满，避免溢出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对插入的数据进行类型校验，确保与容器定义的类型一致；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使用动态扩容容器，减少固定容量带来的越界风险，但需注意扩容时的线程安全（多线程场景）。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工程上的最佳实践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：</a:t>
            </a:r>
            <a:endParaRPr lang="zh-CN" altLang="en-US" sz="1200" b="0" i="0" u="none" strike="noStrike">
              <a:solidFill>
                <a:srgbClr val="0000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  <a:sym typeface="苹方-简" panose="020B0400000000000000" charset="-122"/>
            </a:endParaRPr>
          </a:p>
          <a:p>
            <a:pPr indent="0" algn="l">
              <a:lnSpc>
                <a:spcPct val="100000"/>
              </a:lnSpc>
            </a:pPr>
            <a:endParaRPr lang="zh-CN" altLang="en-US" sz="1200" b="0" i="0" u="none" strike="noStrike">
              <a:solidFill>
                <a:srgbClr val="0000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  <a:sym typeface="苹方-简" panose="020B04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在算法设计阶段，可以先用递归快速理清思路；</a:t>
            </a:r>
            <a:endParaRPr lang="en-US" sz="1200" b="0" i="0" u="none" strike="noStrike">
              <a:solidFill>
                <a:srgbClr val="0000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  <a:sym typeface="苹方-简" panose="020B04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但在生产环境中，为了性能和稳定性，最好将其转化为迭代并使用手动栈</a:t>
            </a:r>
            <a:endParaRPr lang="en-US" sz="1200" b="0" i="0" u="none" strike="noStrike">
              <a:solidFill>
                <a:srgbClr val="0000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  <a:sym typeface="苹方-简" panose="020B0400000000000000" charset="-122"/>
            </a:endParaRPr>
          </a:p>
          <a:p>
            <a:pPr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  <a:sym typeface="苹方-简" panose="020B04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使用Python内置的双端队列deque，它的效率更高</a:t>
            </a:r>
            <a:endParaRPr lang="en-US" sz="1200" b="0" i="0" u="none" strike="noStrike">
              <a:solidFill>
                <a:srgbClr val="0000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  <a:sym typeface="苹方-简" panose="020B0400000000000000" charset="-122"/>
            </a:endParaRPr>
          </a:p>
          <a:p>
            <a:pPr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  <a:sym typeface="苹方-简" panose="020B04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在实际项目中，你会如何选择使用递归还是迭代？同时，我们应该为栈和队列设计统一的接口，这样在需要替换实现时会更加方便。</a:t>
            </a:r>
            <a:endParaRPr lang="en-US" sz="1200" b="0" i="0" u="none" strike="noStrike">
              <a:solidFill>
                <a:srgbClr val="0000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  <a:sym typeface="苹方-简" panose="020B04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工程上的最佳实践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：</a:t>
            </a:r>
            <a:endParaRPr lang="zh-CN" altLang="en-US" sz="1200" b="0" i="0" u="none" strike="noStrike">
              <a:solidFill>
                <a:srgbClr val="0000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  <a:sym typeface="苹方-简" panose="020B0400000000000000" charset="-122"/>
            </a:endParaRPr>
          </a:p>
          <a:p>
            <a:pPr indent="0" algn="l">
              <a:lnSpc>
                <a:spcPct val="100000"/>
              </a:lnSpc>
            </a:pPr>
            <a:endParaRPr lang="zh-CN" altLang="en-US" sz="1200" b="0" i="0" u="none" strike="noStrike">
              <a:solidFill>
                <a:srgbClr val="0000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  <a:sym typeface="苹方-简" panose="020B04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在算法设计阶段，可以先用递归快速理清思路；</a:t>
            </a:r>
            <a:endParaRPr lang="en-US" sz="1200" b="0" i="0" u="none" strike="noStrike">
              <a:solidFill>
                <a:srgbClr val="0000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  <a:sym typeface="苹方-简" panose="020B04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但在生产环境中，为了性能和稳定性，最好将其转化为迭代并使用手动栈</a:t>
            </a:r>
            <a:endParaRPr lang="en-US" sz="1200" b="0" i="0" u="none" strike="noStrike">
              <a:solidFill>
                <a:srgbClr val="0000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  <a:sym typeface="苹方-简" panose="020B0400000000000000" charset="-122"/>
            </a:endParaRPr>
          </a:p>
          <a:p>
            <a:pPr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  <a:sym typeface="苹方-简" panose="020B04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使用Python内置的双端队列deque，它的效率更高</a:t>
            </a:r>
            <a:endParaRPr lang="en-US" sz="1200" b="0" i="0" u="none" strike="noStrike">
              <a:solidFill>
                <a:srgbClr val="0000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  <a:sym typeface="苹方-简" panose="020B0400000000000000" charset="-122"/>
            </a:endParaRPr>
          </a:p>
          <a:p>
            <a:pPr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  <a:sym typeface="苹方-简" panose="020B04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在实际项目中，你会如何选择使用递归还是迭代？同时，我们应该为栈和队列设计统一的接口，这样在需要替换实现时会更加方便。</a:t>
            </a:r>
            <a:endParaRPr lang="en-US" sz="1200" b="0" i="0" u="none" strike="noStrike">
              <a:solidFill>
                <a:srgbClr val="0000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  <a:sym typeface="苹方-简" panose="020B04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工程上的最佳实践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：</a:t>
            </a:r>
            <a:endParaRPr lang="zh-CN" altLang="en-US" sz="1200" b="0" i="0" u="none" strike="noStrike">
              <a:solidFill>
                <a:srgbClr val="0000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  <a:sym typeface="苹方-简" panose="020B0400000000000000" charset="-122"/>
            </a:endParaRPr>
          </a:p>
          <a:p>
            <a:pPr indent="0" algn="l">
              <a:lnSpc>
                <a:spcPct val="100000"/>
              </a:lnSpc>
            </a:pPr>
            <a:endParaRPr lang="zh-CN" altLang="en-US" sz="1200" b="0" i="0" u="none" strike="noStrike">
              <a:solidFill>
                <a:srgbClr val="0000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  <a:sym typeface="苹方-简" panose="020B04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在算法设计阶段，可以先用递归快速理清思路；</a:t>
            </a:r>
            <a:endParaRPr lang="en-US" sz="1200" b="0" i="0" u="none" strike="noStrike">
              <a:solidFill>
                <a:srgbClr val="0000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  <a:sym typeface="苹方-简" panose="020B04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但在生产环境中，为了性能和稳定性，最好将其转化为迭代并使用手动栈</a:t>
            </a:r>
            <a:endParaRPr lang="en-US" sz="1200" b="0" i="0" u="none" strike="noStrike">
              <a:solidFill>
                <a:srgbClr val="0000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  <a:sym typeface="苹方-简" panose="020B04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苹方-简" panose="020B0400000000000000" charset="-122"/>
                <a:ea typeface="苹方-简" panose="020B0400000000000000" charset="-122"/>
                <a:cs typeface="苹方-简" panose="020B0400000000000000" charset="-122"/>
                <a:sym typeface="苹方-简" panose="020B0400000000000000" charset="-122"/>
              </a:rPr>
              <a:t>、</a:t>
            </a:r>
            <a:endParaRPr lang="zh-CN" altLang="en-US" sz="1200" b="0" i="0" u="none" strike="noStrike">
              <a:solidFill>
                <a:srgbClr val="0000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  <a:sym typeface="苹方-简" panose="020B04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  <a:sym typeface="苹方-简" panose="020B04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苹方-简" panose="020B0400000000000000" charset="-122"/>
              <a:ea typeface="苹方-简" panose="020B0400000000000000" charset="-122"/>
              <a:cs typeface="苹方-简" panose="020B0400000000000000" charset="-122"/>
              <a:sym typeface="苹方-简" panose="020B04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核心内容总结：本周我们学习了栈和队列，栈是后进先出，队列是先进先出，循环队列解决了假溢出问题。递归本质上是系统栈的调用，迭代则是手动管理栈。在工程实践中，我们要特别注意代码的健壮性。下周预告：我们将开始学习树形结构，这是一种非线性结构，非常重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endParaRPr lang="zh-CN" alt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mtClean="0">
                <a:latin typeface="Calibri" panose="020F05020202040A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9120027" cy="1455648"/>
          </a:xfrm>
        </p:spPr>
        <p:txBody>
          <a:bodyPr/>
          <a:lstStyle>
            <a:lvl1pPr algn="just"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849348"/>
            <a:ext cx="10972800" cy="42768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dirty="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mtClean="0">
                <a:latin typeface="Calibri" panose="020F05020202040A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mtClean="0">
                <a:latin typeface="Calibri" panose="020F05020202040A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773197"/>
            <a:ext cx="5384800" cy="435296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773197"/>
            <a:ext cx="5384800" cy="435296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mtClean="0">
                <a:latin typeface="Calibri" panose="020F05020202040A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773199"/>
            <a:ext cx="5386917" cy="5735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465797"/>
            <a:ext cx="5386917" cy="366036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773199"/>
            <a:ext cx="5389033" cy="5735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9" y="2465797"/>
            <a:ext cx="5389033" cy="36603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endParaRPr lang="zh-CN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mtClean="0">
                <a:latin typeface="Calibri" panose="020F05020202040A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mtClean="0">
                <a:latin typeface="Calibri" panose="020F05020202040A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mtClean="0">
                <a:latin typeface="Calibri" panose="020F05020202040A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E27C3970-F629-4164-8ED3-C6E3D19F587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mtClean="0">
                <a:latin typeface="Calibri" panose="020F05020202040A0204" pitchFamily="34" charset="0"/>
              </a:defRPr>
            </a:lvl1pPr>
          </a:lstStyle>
          <a:p>
            <a:fld id="{7E03F02A-5DFD-446D-8B83-A8486F512C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endParaRPr lang="zh-CN" alt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mtClean="0">
                <a:latin typeface="Calibri" panose="020F05020202040A0204" pitchFamily="34" charset="0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E27C3970-F629-4164-8ED3-C6E3D19F587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mtClean="0">
                <a:latin typeface="Calibri" panose="020F05020202040A0204" pitchFamily="34" charset="0"/>
              </a:defRPr>
            </a:lvl1pPr>
          </a:lstStyle>
          <a:p>
            <a:fld id="{7E03F02A-5DFD-446D-8B83-A8486F512C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mtClean="0">
                <a:latin typeface="Calibri" panose="020F05020202040A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609600" y="1600203"/>
            <a:ext cx="10972800" cy="4525963"/>
          </a:xfrm>
        </p:spPr>
        <p:txBody>
          <a:bodyPr/>
          <a:lstStyle/>
          <a:p>
            <a:pPr lvl="0"/>
            <a:r>
              <a:rPr lang="zh-CN" altLang="en-US" noProof="0"/>
              <a:t>单击图标添加表格</a:t>
            </a:r>
            <a:endParaRPr lang="zh-CN" alt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E27C3970-F629-4164-8ED3-C6E3D19F587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mtClean="0">
                <a:latin typeface="Calibri" panose="020F05020202040A0204" pitchFamily="34" charset="0"/>
              </a:defRPr>
            </a:lvl1pPr>
          </a:lstStyle>
          <a:p>
            <a:fld id="{7E03F02A-5DFD-446D-8B83-A8486F512C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137793"/>
          </a:xfrm>
        </p:spPr>
        <p:txBody>
          <a:bodyPr>
            <a:normAutofit/>
          </a:bodyPr>
          <a:lstStyle>
            <a:lvl1pPr marL="0" indent="0" algn="l" latinLnBrk="0">
              <a:lnSpc>
                <a:spcPct val="150000"/>
              </a:lnSpc>
              <a:spcBef>
                <a:spcPts val="600"/>
              </a:spcBef>
              <a:buNone/>
              <a:defRPr kumimoji="1" lang="ja-JP" sz="2800" b="1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  <a:lvl2pPr marL="457200" indent="0" algn="ctr" latinLnBrk="0">
              <a:buNone/>
              <a:defRPr kumimoji="1" lang="ja-JP" sz="2000"/>
            </a:lvl2pPr>
            <a:lvl3pPr marL="914400" indent="0" algn="ctr" latinLnBrk="0">
              <a:buNone/>
              <a:defRPr kumimoji="1" lang="ja-JP" sz="1800"/>
            </a:lvl3pPr>
            <a:lvl4pPr marL="1371600" indent="0" algn="ctr" latinLnBrk="0">
              <a:buNone/>
              <a:defRPr kumimoji="1" lang="ja-JP" sz="1600"/>
            </a:lvl4pPr>
            <a:lvl5pPr marL="1828800" indent="0" algn="ctr" latinLnBrk="0">
              <a:buNone/>
              <a:defRPr kumimoji="1" lang="ja-JP" sz="1600"/>
            </a:lvl5pPr>
            <a:lvl6pPr marL="2286000" indent="0" algn="ctr" latinLnBrk="0">
              <a:buNone/>
              <a:defRPr kumimoji="1" lang="ja-JP" sz="1600"/>
            </a:lvl6pPr>
            <a:lvl7pPr marL="2743200" indent="0" algn="ctr" latinLnBrk="0">
              <a:buNone/>
              <a:defRPr kumimoji="1" lang="ja-JP" sz="1600"/>
            </a:lvl7pPr>
            <a:lvl8pPr marL="3200400" indent="0" algn="ctr" latinLnBrk="0">
              <a:buNone/>
              <a:defRPr kumimoji="1" lang="ja-JP" sz="1600"/>
            </a:lvl8pPr>
            <a:lvl9pPr marL="3657600" indent="0" algn="ctr" latinLnBrk="0">
              <a:buNone/>
              <a:defRPr kumimoji="1" lang="ja-JP"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ja-JP" dirty="0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3" name="标题 12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4257673"/>
          </a:xfrm>
        </p:spPr>
        <p:txBody>
          <a:bodyPr anchor="b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C3970-F629-4164-8ED3-C6E3D19F587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43798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i="1"/>
            </a:lvl1pPr>
          </a:lstStyle>
          <a:p>
            <a:fld id="{7E03F02A-5DFD-446D-8B83-A8486F512C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2.xml"/></Relationships>
</file>

<file path=ppt/slideMasters/_rels/slideMaster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7" Type="http://schemas.openxmlformats.org/officeDocument/2006/relationships/theme" Target="../theme/theme13.xml"/><Relationship Id="rId16" Type="http://schemas.openxmlformats.org/officeDocument/2006/relationships/image" Target="../media/image1.png"/><Relationship Id="rId15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09600" y="274637"/>
            <a:ext cx="9099549" cy="13795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9"/>
          </p:nvPr>
        </p:nvSpPr>
        <p:spPr bwMode="auto">
          <a:xfrm>
            <a:off x="609600" y="1869897"/>
            <a:ext cx="10972800" cy="4256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Tx/>
              <a:buNone/>
              <a:defRPr sz="1400" b="0" i="0">
                <a:solidFill>
                  <a:srgbClr val="000000"/>
                </a:solidFill>
                <a:latin typeface="Arial" panose="020B0704020202020204" pitchFamily="34" charset="0"/>
                <a:ea typeface="Microsoft YaHei" panose="020B0502040204020203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buFontTx/>
              <a:buNone/>
              <a:defRPr sz="1400" b="0" i="0">
                <a:solidFill>
                  <a:srgbClr val="000000"/>
                </a:solidFill>
                <a:latin typeface="Arial" panose="020B0704020202020204" pitchFamily="34" charset="0"/>
                <a:ea typeface="Microsoft YaHei" panose="020B0502040204020203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 b="0" i="0" smtClean="0">
                <a:solidFill>
                  <a:srgbClr val="000000"/>
                </a:solidFill>
                <a:latin typeface="Arial" panose="020B0704020202020204" pitchFamily="34" charset="0"/>
                <a:ea typeface="Microsoft YaHei" panose="020B0502040204020203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图片 2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18" b="36140"/>
          <a:stretch>
            <a:fillRect/>
          </a:stretch>
        </p:blipFill>
        <p:spPr bwMode="auto">
          <a:xfrm>
            <a:off x="9709149" y="274638"/>
            <a:ext cx="1873251" cy="147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</p:sldLayoutIdLst>
  <p:hf sldNum="0"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Microsoft YaHei" panose="020B0502040204020203" charset="-122"/>
          <a:ea typeface="Microsoft YaHei" panose="020B0502040204020203" charset="-122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704020202020204" pitchFamily="34" charset="0"/>
          <a:ea typeface="宋体" panose="02010600030101010101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704020202020204" pitchFamily="34" charset="0"/>
          <a:ea typeface="宋体" panose="02010600030101010101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704020202020204" pitchFamily="34" charset="0"/>
          <a:ea typeface="宋体" panose="02010600030101010101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704020202020204" pitchFamily="34" charset="0"/>
          <a:ea typeface="宋体" panose="0201060003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704020202020204" pitchFamily="34" charset="0"/>
          <a:ea typeface="宋体" panose="0201060003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704020202020204" pitchFamily="34" charset="0"/>
          <a:ea typeface="宋体" panose="0201060003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704020202020204" pitchFamily="34" charset="0"/>
          <a:ea typeface="宋体" panose="0201060003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7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Microsoft YaHei" panose="020B0502040204020203" charset="-122"/>
          <a:ea typeface="Microsoft YaHei" panose="020B0502040204020203" charset="-122"/>
          <a:cs typeface="+mn-cs"/>
        </a:defRPr>
      </a:lvl1pPr>
      <a:lvl2pPr marL="742950" indent="-28575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Microsoft YaHei" panose="020B0502040204020203" charset="-122"/>
          <a:ea typeface="Microsoft YaHei" panose="020B0502040204020203" charset="-122"/>
        </a:defRPr>
      </a:lvl2pPr>
      <a:lvl3pPr marL="1143000" indent="-2286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Microsoft YaHei" panose="020B0502040204020203" charset="-122"/>
          <a:ea typeface="Microsoft YaHei" panose="020B0502040204020203" charset="-122"/>
        </a:defRPr>
      </a:lvl3pPr>
      <a:lvl4pPr marL="1600200" indent="-2286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Microsoft YaHei" panose="020B0502040204020203" charset="-122"/>
          <a:ea typeface="Microsoft YaHei" panose="020B0502040204020203" charset="-122"/>
        </a:defRPr>
      </a:lvl4pPr>
      <a:lvl5pPr marL="2057400" indent="-2286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Microsoft YaHei" panose="020B0502040204020203" charset="-122"/>
          <a:ea typeface="Microsoft YaHei" panose="020B0502040204020203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副标题 5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>
                <a:solidFill>
                  <a:srgbClr val="000000"/>
                </a:solidFill>
                <a:cs typeface="Microsoft YaHei" panose="020B0502040204020203" charset="-122"/>
                <a:sym typeface="Microsoft YaHei" panose="020B0502040204020203" charset="-122"/>
              </a:rPr>
              <a:t>栈、队列与递归模型</a:t>
            </a:r>
            <a:endParaRPr lang="zh-CN" altLang="en-US"/>
          </a:p>
        </p:txBody>
      </p:sp>
      <p:sp>
        <p:nvSpPr>
          <p:cNvPr id="4" name="AutoShape 4"/>
          <p:cNvSpPr/>
          <p:nvPr/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50000"/>
              </a:lnSpc>
              <a:spcBef>
                <a:spcPct val="20000"/>
              </a:spcBef>
              <a:defRPr/>
            </a:pPr>
            <a:endParaRPr lang="en-US" sz="1100"/>
          </a:p>
        </p:txBody>
      </p:sp>
      <p:sp>
        <p:nvSpPr>
          <p:cNvPr id="5" name="标题 4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>
                <a:solidFill>
                  <a:srgbClr val="000000"/>
                </a:solidFill>
                <a:cs typeface="Microsoft YaHei" panose="020B0502040204020203" charset="-122"/>
                <a:sym typeface="Microsoft YaHei" panose="020B0502040204020203" charset="-122"/>
              </a:rPr>
              <a:t>第4周 线性表（二）</a:t>
            </a:r>
            <a:endParaRPr lang="zh-CN" altLang="en-US"/>
          </a:p>
        </p:txBody>
      </p:sp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r="3267" b="36263"/>
          <a:stretch>
            <a:fillRect/>
          </a:stretch>
        </p:blipFill>
        <p:spPr>
          <a:xfrm>
            <a:off x="9702800" y="279400"/>
            <a:ext cx="1879600" cy="147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914400" y="2133600"/>
            <a:ext cx="10363200" cy="147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ctr" anchorCtr="0"/>
          <a:lstStyle/>
          <a:p>
            <a:pPr indent="0" algn="ctr">
              <a:lnSpc>
                <a:spcPct val="100000"/>
              </a:lnSpc>
              <a:defRPr/>
            </a:pP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r="3267" b="36263"/>
          <a:stretch>
            <a:fillRect/>
          </a:stretch>
        </p:blipFill>
        <p:spPr>
          <a:xfrm>
            <a:off x="9702800" y="279400"/>
            <a:ext cx="1879600" cy="147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609600" y="279400"/>
            <a:ext cx="91186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课程目录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09600" y="1854200"/>
            <a:ext cx="10972800" cy="427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355600" indent="-355600" algn="l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Char char="•"/>
              <a:defRPr/>
            </a:pPr>
            <a:r>
              <a:rPr lang="en-US" sz="2800" b="1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普通课程（2课时）</a:t>
            </a:r>
            <a:endParaRPr lang="en-US" sz="1100"/>
          </a:p>
          <a:p>
            <a:pPr marL="762000" lvl="1" indent="-304800" algn="l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第1课时：栈（Stack）——结构、操作与应用</a:t>
            </a:r>
            <a:endParaRPr lang="en-US" sz="24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marL="762000" lvl="1" indent="-304800" algn="l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第2课时：队列（Queue）与递归模型</a:t>
            </a:r>
            <a:endParaRPr lang="en-US" sz="24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marL="0" indent="0" algn="l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None/>
            </a:pPr>
            <a:endParaRPr lang="en-US" sz="24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r="3267" b="36263"/>
          <a:stretch>
            <a:fillRect/>
          </a:stretch>
        </p:blipFill>
        <p:spPr>
          <a:xfrm>
            <a:off x="9702800" y="279400"/>
            <a:ext cx="1879600" cy="147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609600" y="279400"/>
            <a:ext cx="91186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栈（Stack）</a:t>
            </a:r>
            <a:endParaRPr lang="en-US" sz="1100"/>
          </a:p>
          <a:p>
            <a:pPr indent="0" algn="l">
              <a:lnSpc>
                <a:spcPct val="100000"/>
              </a:lnSpc>
            </a:pPr>
            <a:endParaRPr lang="en-US" sz="2400" b="0" i="0" u="none" strike="noStrike">
              <a:solidFill>
                <a:srgbClr val="50505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609600" y="1854200"/>
            <a:ext cx="6350000" cy="427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330200" indent="-330200" algn="l">
              <a:lnSpc>
                <a:spcPct val="125000"/>
              </a:lnSpc>
              <a:spcBef>
                <a:spcPct val="20000"/>
              </a:spcBef>
              <a:buClr>
                <a:srgbClr val="000000"/>
              </a:buClr>
              <a:buChar char="•"/>
              <a:defRPr/>
            </a:pPr>
            <a:r>
              <a:rPr lang="en-US" sz="2600" b="1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栈的直观理解</a:t>
            </a:r>
            <a:endParaRPr lang="en-US" sz="1100"/>
          </a:p>
          <a:p>
            <a:pPr marL="736600" lvl="1" indent="-279400" algn="l">
              <a:lnSpc>
                <a:spcPct val="125000"/>
              </a:lnSpc>
              <a:spcBef>
                <a:spcPct val="20000"/>
              </a:spcBef>
              <a:buClr>
                <a:srgbClr val="000000"/>
              </a:buClr>
              <a:buChar char="•"/>
            </a:pPr>
            <a:r>
              <a:rPr lang="en-US" sz="22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生活案例：书堆、弹匣、浏览器后退、撤销操作</a:t>
            </a:r>
            <a:endParaRPr lang="en-US" sz="22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marL="736600" lvl="1" indent="-279400" algn="l">
              <a:lnSpc>
                <a:spcPct val="125000"/>
              </a:lnSpc>
              <a:spcBef>
                <a:spcPct val="20000"/>
              </a:spcBef>
              <a:buClr>
                <a:srgbClr val="000000"/>
              </a:buClr>
              <a:buChar char="•"/>
            </a:pPr>
            <a:r>
              <a:rPr lang="en-US" sz="22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核心定义：后进先出 (LIFO - Last In First Out)</a:t>
            </a:r>
            <a:endParaRPr lang="en-US" sz="22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marL="330200" indent="-330200" algn="l">
              <a:lnSpc>
                <a:spcPct val="125000"/>
              </a:lnSpc>
              <a:spcBef>
                <a:spcPct val="20000"/>
              </a:spcBef>
              <a:buClr>
                <a:srgbClr val="000000"/>
              </a:buClr>
              <a:buChar char="•"/>
            </a:pPr>
            <a:r>
              <a:rPr lang="en-US" sz="2600" b="1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思考与练习</a:t>
            </a:r>
            <a:endParaRPr lang="en-US" sz="2600" b="1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marL="736600" lvl="1" indent="-279400" algn="l">
              <a:lnSpc>
                <a:spcPct val="125000"/>
              </a:lnSpc>
              <a:spcBef>
                <a:spcPct val="20000"/>
              </a:spcBef>
              <a:buClr>
                <a:srgbClr val="000000"/>
              </a:buClr>
              <a:buChar char="•"/>
            </a:pPr>
            <a:r>
              <a:rPr lang="en-US" sz="22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思考：生活中还有哪些符合 LIFO 逻辑的场景？</a:t>
            </a:r>
            <a:endParaRPr lang="en-US" sz="22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marL="736600" lvl="1" indent="-279400" algn="l">
              <a:lnSpc>
                <a:spcPct val="125000"/>
              </a:lnSpc>
              <a:spcBef>
                <a:spcPct val="20000"/>
              </a:spcBef>
              <a:buClr>
                <a:srgbClr val="000000"/>
              </a:buClr>
              <a:buChar char="•"/>
            </a:pPr>
            <a:r>
              <a:rPr lang="en-US" sz="22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快速判断：若3个元素依次入栈，可能的出栈顺序有哪些？</a:t>
            </a:r>
            <a:endParaRPr lang="en-US" sz="22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t="18750" b="18750"/>
          <a:stretch>
            <a:fillRect/>
          </a:stretch>
        </p:blipFill>
        <p:spPr>
          <a:xfrm>
            <a:off x="7366000" y="2286000"/>
            <a:ext cx="4064000" cy="2540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r="3267" b="36263"/>
          <a:stretch>
            <a:fillRect/>
          </a:stretch>
        </p:blipFill>
        <p:spPr>
          <a:xfrm>
            <a:off x="9702800" y="279400"/>
            <a:ext cx="1879600" cy="147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609600" y="279400"/>
            <a:ext cx="91186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just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栈的结构与基础操作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09600" y="1854200"/>
            <a:ext cx="10972800" cy="427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355600" indent="-355600" algn="l">
              <a:lnSpc>
                <a:spcPct val="125000"/>
              </a:lnSpc>
              <a:spcBef>
                <a:spcPct val="20000"/>
              </a:spcBef>
              <a:buClr>
                <a:srgbClr val="000000"/>
              </a:buClr>
              <a:buChar char="•"/>
              <a:defRPr/>
            </a:pPr>
            <a:r>
              <a:rPr lang="en-US" sz="28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核心概念：栈顶与栈底</a:t>
            </a:r>
            <a:endParaRPr lang="en-US" sz="1100"/>
          </a:p>
          <a:p>
            <a:pPr marL="355600" indent="-355600" algn="l">
              <a:lnSpc>
                <a:spcPct val="125000"/>
              </a:lnSpc>
              <a:spcBef>
                <a:spcPct val="20000"/>
              </a:spcBef>
              <a:buClr>
                <a:srgbClr val="000000"/>
              </a:buClr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实现方式：顺序栈（数组）与链栈（链表）</a:t>
            </a:r>
            <a:endParaRPr lang="en-US" sz="28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marL="355600" indent="-355600" algn="l">
              <a:lnSpc>
                <a:spcPct val="125000"/>
              </a:lnSpc>
              <a:spcBef>
                <a:spcPct val="20000"/>
              </a:spcBef>
              <a:buClr>
                <a:srgbClr val="000000"/>
              </a:buClr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五大操作：初始化、入栈、出栈、取栈顶、判空</a:t>
            </a:r>
            <a:endParaRPr lang="en-US" sz="28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marL="355600" indent="-355600" algn="l">
              <a:lnSpc>
                <a:spcPct val="125000"/>
              </a:lnSpc>
              <a:spcBef>
                <a:spcPct val="50000"/>
              </a:spcBef>
              <a:buClr>
                <a:srgbClr val="000000"/>
              </a:buClr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思考：空栈能执行 Pop 操作吗？</a:t>
            </a:r>
            <a:endParaRPr lang="en-US" sz="28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marL="355600" indent="-355600" algn="l">
              <a:lnSpc>
                <a:spcPct val="125000"/>
              </a:lnSpc>
              <a:spcBef>
                <a:spcPct val="20000"/>
              </a:spcBef>
              <a:buClr>
                <a:srgbClr val="000000"/>
              </a:buClr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思考：栈是否支持随机访问？</a:t>
            </a:r>
            <a:endParaRPr lang="en-US" sz="28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marL="355600" indent="-355600" algn="l">
              <a:lnSpc>
                <a:spcPct val="125000"/>
              </a:lnSpc>
              <a:spcBef>
                <a:spcPct val="20000"/>
              </a:spcBef>
              <a:buClr>
                <a:srgbClr val="000000"/>
              </a:buClr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思考：栈操作的时间复杂度？</a:t>
            </a:r>
            <a:endParaRPr lang="en-US" sz="28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r="3267" b="36263"/>
          <a:stretch>
            <a:fillRect/>
          </a:stretch>
        </p:blipFill>
        <p:spPr>
          <a:xfrm>
            <a:off x="9702800" y="279400"/>
            <a:ext cx="1879600" cy="147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609600" y="279400"/>
            <a:ext cx="40259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顺序栈Python实现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09600" y="1854200"/>
            <a:ext cx="5080000" cy="330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ts val="2000"/>
              </a:lnSpc>
              <a:defRPr/>
            </a:pPr>
            <a:r>
              <a:rPr lang="en-US" sz="1600" b="0" i="0" u="none" strike="noStrike">
                <a:solidFill>
                  <a:srgbClr val="008000"/>
                </a:solidFill>
                <a:latin typeface="JetBrains Maple Mono" panose="02000009000000000000" charset="-122"/>
                <a:ea typeface="JetBrains Maple Mono" panose="02000009000000000000" charset="-122"/>
                <a:cs typeface="JetBrains Maple Mono" panose="02000009000000000000" charset="-122"/>
                <a:sym typeface="JetBrains Maple Mono" panose="02000009000000000000" charset="-122"/>
              </a:rPr>
              <a:t># Python 顺序栈实现</a:t>
            </a:r>
            <a:endParaRPr lang="en-US" sz="1100"/>
          </a:p>
          <a:p>
            <a:pPr indent="0" algn="l">
              <a:lnSpc>
                <a:spcPts val="20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JetBrains Maple Mono" panose="02000009000000000000" charset="-122"/>
                <a:ea typeface="JetBrains Maple Mono" panose="02000009000000000000" charset="-122"/>
                <a:cs typeface="JetBrains Maple Mono" panose="02000009000000000000" charset="-122"/>
                <a:sym typeface="JetBrains Maple Mono" panose="02000009000000000000" charset="-122"/>
              </a:rPr>
              <a:t>class Stack:</a:t>
            </a:r>
            <a:endParaRPr lang="en-US" sz="1600" b="0" i="0" u="none" strike="noStrike">
              <a:solidFill>
                <a:srgbClr val="000000"/>
              </a:solidFill>
              <a:latin typeface="JetBrains Maple Mono" panose="02000009000000000000" charset="-122"/>
              <a:ea typeface="JetBrains Maple Mono" panose="02000009000000000000" charset="-122"/>
              <a:cs typeface="JetBrains Maple Mono" panose="02000009000000000000" charset="-122"/>
              <a:sym typeface="JetBrains Maple Mono" panose="02000009000000000000" charset="-122"/>
            </a:endParaRPr>
          </a:p>
          <a:p>
            <a:pPr indent="0" algn="l">
              <a:lnSpc>
                <a:spcPts val="20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JetBrains Maple Mono" panose="02000009000000000000" charset="-122"/>
                <a:ea typeface="JetBrains Maple Mono" panose="02000009000000000000" charset="-122"/>
                <a:cs typeface="JetBrains Maple Mono" panose="02000009000000000000" charset="-122"/>
                <a:sym typeface="JetBrains Maple Mono" panose="02000009000000000000" charset="-122"/>
              </a:rPr>
              <a:t>def __init__(self):</a:t>
            </a:r>
            <a:endParaRPr lang="en-US" sz="1600" b="0" i="0" u="none" strike="noStrike">
              <a:solidFill>
                <a:srgbClr val="000000"/>
              </a:solidFill>
              <a:latin typeface="JetBrains Maple Mono" panose="02000009000000000000" charset="-122"/>
              <a:ea typeface="JetBrains Maple Mono" panose="02000009000000000000" charset="-122"/>
              <a:cs typeface="JetBrains Maple Mono" panose="02000009000000000000" charset="-122"/>
              <a:sym typeface="JetBrains Maple Mono" panose="02000009000000000000" charset="-122"/>
            </a:endParaRPr>
          </a:p>
          <a:p>
            <a:pPr indent="0" algn="l">
              <a:lnSpc>
                <a:spcPts val="20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JetBrains Maple Mono" panose="02000009000000000000" charset="-122"/>
                <a:ea typeface="JetBrains Maple Mono" panose="02000009000000000000" charset="-122"/>
                <a:cs typeface="JetBrains Maple Mono" panose="02000009000000000000" charset="-122"/>
                <a:sym typeface="JetBrains Maple Mono" panose="02000009000000000000" charset="-122"/>
              </a:rPr>
              <a:t>self.data = []</a:t>
            </a:r>
            <a:endParaRPr lang="en-US" sz="1600" b="0" i="0" u="none" strike="noStrike">
              <a:solidFill>
                <a:srgbClr val="000000"/>
              </a:solidFill>
              <a:latin typeface="JetBrains Maple Mono" panose="02000009000000000000" charset="-122"/>
              <a:ea typeface="JetBrains Maple Mono" panose="02000009000000000000" charset="-122"/>
              <a:cs typeface="JetBrains Maple Mono" panose="02000009000000000000" charset="-122"/>
              <a:sym typeface="JetBrains Maple Mono" panose="02000009000000000000" charset="-122"/>
            </a:endParaRPr>
          </a:p>
          <a:p>
            <a:pPr indent="0" algn="l">
              <a:lnSpc>
                <a:spcPts val="20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JetBrains Maple Mono" panose="02000009000000000000" charset="-122"/>
                <a:ea typeface="JetBrains Maple Mono" panose="02000009000000000000" charset="-122"/>
                <a:cs typeface="JetBrains Maple Mono" panose="02000009000000000000" charset="-122"/>
                <a:sym typeface="JetBrains Maple Mono" panose="02000009000000000000" charset="-122"/>
              </a:rPr>
              <a:t>def push(self, x): self.data.append(x)</a:t>
            </a:r>
            <a:endParaRPr lang="en-US" sz="1600" b="0" i="0" u="none" strike="noStrike">
              <a:solidFill>
                <a:srgbClr val="000000"/>
              </a:solidFill>
              <a:latin typeface="JetBrains Maple Mono" panose="02000009000000000000" charset="-122"/>
              <a:ea typeface="JetBrains Maple Mono" panose="02000009000000000000" charset="-122"/>
              <a:cs typeface="JetBrains Maple Mono" panose="02000009000000000000" charset="-122"/>
              <a:sym typeface="JetBrains Maple Mono" panose="02000009000000000000" charset="-122"/>
            </a:endParaRPr>
          </a:p>
          <a:p>
            <a:pPr indent="0" algn="l">
              <a:lnSpc>
                <a:spcPts val="20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JetBrains Maple Mono" panose="02000009000000000000" charset="-122"/>
                <a:ea typeface="JetBrains Maple Mono" panose="02000009000000000000" charset="-122"/>
                <a:cs typeface="JetBrains Maple Mono" panose="02000009000000000000" charset="-122"/>
                <a:sym typeface="JetBrains Maple Mono" panose="02000009000000000000" charset="-122"/>
              </a:rPr>
              <a:t>def pop(self):</a:t>
            </a:r>
            <a:endParaRPr lang="en-US" sz="1600" b="0" i="0" u="none" strike="noStrike">
              <a:solidFill>
                <a:srgbClr val="000000"/>
              </a:solidFill>
              <a:latin typeface="JetBrains Maple Mono" panose="02000009000000000000" charset="-122"/>
              <a:ea typeface="JetBrains Maple Mono" panose="02000009000000000000" charset="-122"/>
              <a:cs typeface="JetBrains Maple Mono" panose="02000009000000000000" charset="-122"/>
              <a:sym typeface="JetBrains Maple Mono" panose="02000009000000000000" charset="-122"/>
            </a:endParaRPr>
          </a:p>
          <a:p>
            <a:pPr indent="0" algn="l">
              <a:lnSpc>
                <a:spcPts val="20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JetBrains Maple Mono" panose="02000009000000000000" charset="-122"/>
                <a:ea typeface="JetBrains Maple Mono" panose="02000009000000000000" charset="-122"/>
                <a:cs typeface="JetBrains Maple Mono" panose="02000009000000000000" charset="-122"/>
                <a:sym typeface="JetBrains Maple Mono" panose="02000009000000000000" charset="-122"/>
              </a:rPr>
              <a:t>if not self.data: raise Exception("空栈")</a:t>
            </a:r>
            <a:endParaRPr lang="en-US" sz="1600" b="0" i="0" u="none" strike="noStrike">
              <a:solidFill>
                <a:srgbClr val="000000"/>
              </a:solidFill>
              <a:latin typeface="JetBrains Maple Mono" panose="02000009000000000000" charset="-122"/>
              <a:ea typeface="JetBrains Maple Mono" panose="02000009000000000000" charset="-122"/>
              <a:cs typeface="JetBrains Maple Mono" panose="02000009000000000000" charset="-122"/>
              <a:sym typeface="JetBrains Maple Mono" panose="02000009000000000000" charset="-122"/>
            </a:endParaRPr>
          </a:p>
          <a:p>
            <a:pPr indent="0" algn="l">
              <a:lnSpc>
                <a:spcPts val="20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JetBrains Maple Mono" panose="02000009000000000000" charset="-122"/>
                <a:ea typeface="JetBrains Maple Mono" panose="02000009000000000000" charset="-122"/>
                <a:cs typeface="JetBrains Maple Mono" panose="02000009000000000000" charset="-122"/>
                <a:sym typeface="JetBrains Maple Mono" panose="02000009000000000000" charset="-122"/>
              </a:rPr>
              <a:t>return self.data.pop()</a:t>
            </a:r>
            <a:endParaRPr lang="en-US" sz="1600" b="0" i="0" u="none" strike="noStrike">
              <a:solidFill>
                <a:srgbClr val="000000"/>
              </a:solidFill>
              <a:latin typeface="JetBrains Maple Mono" panose="02000009000000000000" charset="-122"/>
              <a:ea typeface="JetBrains Maple Mono" panose="02000009000000000000" charset="-122"/>
              <a:cs typeface="JetBrains Maple Mono" panose="02000009000000000000" charset="-122"/>
              <a:sym typeface="JetBrains Maple Mono" panose="02000009000000000000" charset="-122"/>
            </a:endParaRPr>
          </a:p>
          <a:p>
            <a:pPr indent="0" algn="l">
              <a:lnSpc>
                <a:spcPts val="20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JetBrains Maple Mono" panose="02000009000000000000" charset="-122"/>
                <a:ea typeface="JetBrains Maple Mono" panose="02000009000000000000" charset="-122"/>
                <a:cs typeface="JetBrains Maple Mono" panose="02000009000000000000" charset="-122"/>
                <a:sym typeface="JetBrains Maple Mono" panose="02000009000000000000" charset="-122"/>
              </a:rPr>
              <a:t>def top(self): return self.data[-1]</a:t>
            </a:r>
            <a:endParaRPr lang="en-US" sz="1600" b="0" i="0" u="none" strike="noStrike">
              <a:solidFill>
                <a:srgbClr val="000000"/>
              </a:solidFill>
              <a:latin typeface="JetBrains Maple Mono" panose="02000009000000000000" charset="-122"/>
              <a:ea typeface="JetBrains Maple Mono" panose="02000009000000000000" charset="-122"/>
              <a:cs typeface="JetBrains Maple Mono" panose="02000009000000000000" charset="-122"/>
              <a:sym typeface="JetBrains Maple Mono" panose="02000009000000000000" charset="-122"/>
            </a:endParaRPr>
          </a:p>
          <a:p>
            <a:pPr indent="0" algn="l">
              <a:lnSpc>
                <a:spcPts val="20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JetBrains Maple Mono" panose="02000009000000000000" charset="-122"/>
                <a:ea typeface="JetBrains Maple Mono" panose="02000009000000000000" charset="-122"/>
                <a:cs typeface="JetBrains Maple Mono" panose="02000009000000000000" charset="-122"/>
                <a:sym typeface="JetBrains Maple Mono" panose="02000009000000000000" charset="-122"/>
              </a:rPr>
              <a:t>def is_empty(self): return len(self.data)==0</a:t>
            </a:r>
            <a:endParaRPr lang="en-US" sz="1600" b="0" i="0" u="none" strike="noStrike">
              <a:solidFill>
                <a:srgbClr val="000000"/>
              </a:solidFill>
              <a:latin typeface="JetBrains Maple Mono" panose="02000009000000000000" charset="-122"/>
              <a:ea typeface="JetBrains Maple Mono" panose="02000009000000000000" charset="-122"/>
              <a:cs typeface="JetBrains Maple Mono" panose="02000009000000000000" charset="-122"/>
              <a:sym typeface="JetBrains Maple Mono" panose="02000009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6096000" y="1854200"/>
            <a:ext cx="5080000" cy="3302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图示说明：栈结构与操作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33333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1.</a:t>
            </a:r>
            <a:r>
              <a:rPr lang="en-US" sz="1400" b="1" i="0" u="none" strike="noStrike">
                <a:solidFill>
                  <a:srgbClr val="333333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结构示意图</a:t>
            </a:r>
            <a:r>
              <a:rPr lang="en-US" sz="1400" b="0" i="0" u="none" strike="noStrike">
                <a:solidFill>
                  <a:srgbClr val="333333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：使用列表 self.data 模拟数组。</a:t>
            </a:r>
            <a:endParaRPr lang="en-US" sz="1400" b="0" i="0" u="none" strike="noStrike">
              <a:solidFill>
                <a:srgbClr val="333333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33333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2.</a:t>
            </a:r>
            <a:r>
              <a:rPr lang="en-US" sz="1400" b="1" i="0" u="none" strike="noStrike">
                <a:solidFill>
                  <a:srgbClr val="333333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Push操作</a:t>
            </a:r>
            <a:r>
              <a:rPr lang="en-US" sz="1400" b="0" i="0" u="none" strike="noStrike">
                <a:solidFill>
                  <a:srgbClr val="333333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：append(x) 将元素 x 添加到列表末尾（栈顶），栈顶指针上移。</a:t>
            </a:r>
            <a:endParaRPr lang="en-US" sz="1400" b="0" i="0" u="none" strike="noStrike">
              <a:solidFill>
                <a:srgbClr val="333333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33333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3.</a:t>
            </a:r>
            <a:r>
              <a:rPr lang="en-US" sz="1400" b="1" i="0" u="none" strike="noStrike">
                <a:solidFill>
                  <a:srgbClr val="333333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Pop操作</a:t>
            </a:r>
            <a:r>
              <a:rPr lang="en-US" sz="1400" b="0" i="0" u="none" strike="noStrike">
                <a:solidFill>
                  <a:srgbClr val="333333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：pop() 移除列表末尾元素，栈顶指针下移。需先判断栈是否为空。</a:t>
            </a:r>
            <a:endParaRPr lang="en-US" sz="1400" b="0" i="0" u="none" strike="noStrike">
              <a:solidFill>
                <a:srgbClr val="333333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33333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4.</a:t>
            </a:r>
            <a:r>
              <a:rPr lang="en-US" sz="1400" b="1" i="0" u="none" strike="noStrike">
                <a:solidFill>
                  <a:srgbClr val="333333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取栈顶</a:t>
            </a:r>
            <a:r>
              <a:rPr lang="en-US" sz="1400" b="0" i="0" u="none" strike="noStrike">
                <a:solidFill>
                  <a:srgbClr val="333333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：top</a:t>
            </a:r>
            <a:endParaRPr lang="en-US" sz="1400" b="0" i="0" u="none" strike="noStrike">
              <a:solidFill>
                <a:srgbClr val="333333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33333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5.</a:t>
            </a:r>
            <a:r>
              <a:rPr lang="en-US" sz="1400" b="1" i="0" u="none" strike="noStrike">
                <a:solidFill>
                  <a:srgbClr val="333333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栈空判断</a:t>
            </a:r>
            <a:r>
              <a:rPr lang="en-US" sz="1400" b="0" i="0" u="none" strike="noStrike">
                <a:solidFill>
                  <a:srgbClr val="333333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：is_empty() 检查列表长度是否为0。</a:t>
            </a:r>
            <a:endParaRPr lang="en-US" sz="1400" b="0" i="0" u="none" strike="noStrike">
              <a:solidFill>
                <a:srgbClr val="333333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r="3267" b="36263"/>
          <a:stretch>
            <a:fillRect/>
          </a:stretch>
        </p:blipFill>
        <p:spPr>
          <a:xfrm>
            <a:off x="9702800" y="279400"/>
            <a:ext cx="1879600" cy="147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609600" y="279400"/>
            <a:ext cx="178816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链栈实现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09600" y="1854200"/>
            <a:ext cx="6350000" cy="427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279400" indent="-279400" algn="l">
              <a:lnSpc>
                <a:spcPct val="125000"/>
              </a:lnSpc>
              <a:spcBef>
                <a:spcPct val="20000"/>
              </a:spcBef>
              <a:buClr>
                <a:srgbClr val="000000"/>
              </a:buClr>
              <a:buChar char="•"/>
              <a:defRPr/>
            </a:pPr>
            <a:r>
              <a:rPr lang="en-US" sz="2200" b="1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链栈（Linked Stack）定义：</a:t>
            </a:r>
            <a:endParaRPr lang="en-US" sz="1100"/>
          </a:p>
          <a:p>
            <a:pPr marL="698500" lvl="1" indent="-241300" algn="l">
              <a:lnSpc>
                <a:spcPct val="125000"/>
              </a:lnSpc>
              <a:spcBef>
                <a:spcPct val="20000"/>
              </a:spcBef>
              <a:buClr>
                <a:srgbClr val="000000"/>
              </a:buClr>
              <a:buChar char="•"/>
            </a:pPr>
            <a:r>
              <a:rPr lang="en-US" sz="19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基于链表（Linked List）实现的栈结构。使用链表的节点来存储栈元素，通过链表的指针来维护栈的先进后出（LIFO）特性。</a:t>
            </a:r>
            <a:endParaRPr lang="en-US" sz="19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marL="279400" indent="-279400" algn="l">
              <a:lnSpc>
                <a:spcPct val="125000"/>
              </a:lnSpc>
              <a:spcBef>
                <a:spcPct val="20000"/>
              </a:spcBef>
              <a:buClr>
                <a:srgbClr val="000000"/>
              </a:buClr>
              <a:buChar char="•"/>
            </a:pPr>
            <a:r>
              <a:rPr lang="en-US" sz="2200" b="1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链栈实现原理：</a:t>
            </a:r>
            <a:endParaRPr lang="en-US" sz="2200" b="1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marL="698500" lvl="1" indent="-241300" algn="l">
              <a:lnSpc>
                <a:spcPct val="125000"/>
              </a:lnSpc>
              <a:spcBef>
                <a:spcPct val="20000"/>
              </a:spcBef>
              <a:buClr>
                <a:srgbClr val="000000"/>
              </a:buClr>
              <a:buChar char="•"/>
            </a:pPr>
            <a:r>
              <a:rPr lang="en-US" sz="19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栈顶=链表头，头插法push，删头节点pop</a:t>
            </a:r>
            <a:endParaRPr lang="en-US" sz="19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marL="279400" indent="-279400" algn="l">
              <a:lnSpc>
                <a:spcPct val="125000"/>
              </a:lnSpc>
              <a:spcBef>
                <a:spcPct val="20000"/>
              </a:spcBef>
              <a:buClr>
                <a:srgbClr val="000000"/>
              </a:buClr>
              <a:buChar char="•"/>
            </a:pPr>
            <a:r>
              <a:rPr lang="en-US" sz="2200" b="1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对比思考：顺序栈 vs 链栈</a:t>
            </a:r>
            <a:endParaRPr lang="en-US" sz="2200" b="1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indent="0" algn="l">
              <a:lnSpc>
                <a:spcPct val="125000"/>
              </a:lnSpc>
            </a:pPr>
          </a:p>
        </p:txBody>
      </p:sp>
      <p:sp>
        <p:nvSpPr>
          <p:cNvPr id="5" name="AutoShape 5"/>
          <p:cNvSpPr/>
          <p:nvPr/>
        </p:nvSpPr>
        <p:spPr>
          <a:xfrm>
            <a:off x="7120018" y="2667000"/>
            <a:ext cx="4778107" cy="274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/>
          <a:lstStyle/>
          <a:p>
            <a:pPr marL="660400" lvl="1" indent="-203200" algn="l">
              <a:lnSpc>
                <a:spcPct val="125000"/>
              </a:lnSpc>
              <a:buClr>
                <a:srgbClr val="1F2329"/>
              </a:buClr>
              <a:buChar char="•"/>
              <a:defRPr/>
            </a:pP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1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顺序栈优点：</a:t>
            </a:r>
            <a:r>
              <a:rPr lang="en-US" sz="14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实现简单，基于数组，随机访问速度快；存储空间连续，缓存友好。</a:t>
            </a:r>
            <a:endParaRPr lang="en-US" sz="1100"/>
          </a:p>
          <a:p>
            <a:pPr marL="660400" lvl="1" indent="-203200" algn="l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1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顺序栈缺点：</a:t>
            </a:r>
            <a:r>
              <a:rPr lang="en-US" sz="14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大小固定，可能造成空间浪费或栈溢出；扩容成本高。</a:t>
            </a:r>
            <a:endParaRPr lang="en-US" sz="14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marL="660400" lvl="1" indent="-203200" algn="l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1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链栈优点：</a:t>
            </a:r>
            <a:r>
              <a:rPr lang="en-US" sz="14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大小动态变化，空间利用率高；不存在栈满问题。</a:t>
            </a:r>
            <a:endParaRPr lang="en-US" sz="14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marL="660400" lvl="1" indent="-203200" algn="l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1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链栈缺点：</a:t>
            </a:r>
            <a:r>
              <a:rPr lang="en-US" sz="14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节点有额外指针域，空间开销略大；频繁操作有时间开销。</a:t>
            </a:r>
            <a:endParaRPr lang="en-US" sz="14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marL="660400" lvl="1" indent="-203200" algn="l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1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选择建议：</a:t>
            </a:r>
            <a:r>
              <a:rPr lang="en-US" sz="14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容量固定选顺序栈，动态变化选链栈。</a:t>
            </a:r>
            <a:endParaRPr lang="en-US" sz="14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0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279400"/>
            <a:ext cx="26797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栈的四大应用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609600" y="1854200"/>
            <a:ext cx="10972800" cy="427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355600" indent="-355600" algn="l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Char char="•"/>
              <a:defRPr/>
            </a:pPr>
            <a:r>
              <a:rPr lang="en-US" sz="2800" b="1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核心应用场景</a:t>
            </a:r>
            <a:endParaRPr lang="en-US" sz="1100"/>
          </a:p>
          <a:p>
            <a:pPr marL="762000" lvl="1" indent="-304800" algn="l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调用栈、括号匹配、表达式求值、后退操作</a:t>
            </a:r>
            <a:endParaRPr lang="en-US" sz="24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marL="355600" indent="-355600" algn="l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Char char="•"/>
            </a:pPr>
            <a:r>
              <a:rPr lang="en-US" sz="2800" b="1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快速练习</a:t>
            </a:r>
            <a:endParaRPr lang="en-US" sz="2800" b="1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marL="762000" lvl="1" indent="-304800" algn="l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针对表达式 `([{}])`，口头复述入栈与出栈步骤</a:t>
            </a:r>
            <a:endParaRPr lang="en-US" sz="24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lvl="1" indent="0" algn="l">
              <a:lnSpc>
                <a:spcPct val="150000"/>
              </a:lnSpc>
              <a:spcBef>
                <a:spcPct val="20000"/>
              </a:spcBef>
              <a:buClr>
                <a:srgbClr val="FFFFFF"/>
              </a:buClr>
              <a:buChar char="•"/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r="3267" b="36263"/>
          <a:stretch>
            <a:fillRect/>
          </a:stretch>
        </p:blipFill>
        <p:spPr>
          <a:xfrm>
            <a:off x="9702800" y="279400"/>
            <a:ext cx="1879600" cy="147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609600" y="279400"/>
            <a:ext cx="10160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表达式 `([{}])` 入栈与出栈步骤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09600" y="1854200"/>
            <a:ext cx="10972800" cy="427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304800" indent="-304800" algn="l">
              <a:lnSpc>
                <a:spcPct val="125000"/>
              </a:lnSpc>
              <a:spcBef>
                <a:spcPct val="20000"/>
              </a:spcBef>
              <a:buClr>
                <a:srgbClr val="000000"/>
              </a:buClr>
              <a:buChar char="•"/>
              <a:defRPr/>
            </a:pPr>
            <a:r>
              <a:rPr lang="en-US" sz="24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初始状态：栈为空，准备开始遍历表达式 `([{}])`。</a:t>
            </a:r>
            <a:endParaRPr lang="en-US" sz="1100"/>
          </a:p>
          <a:p>
            <a:pPr marL="304800" indent="-304800" algn="l">
              <a:lnSpc>
                <a:spcPct val="125000"/>
              </a:lnSpc>
              <a:spcBef>
                <a:spcPct val="20000"/>
              </a:spcBef>
              <a:buClr>
                <a:srgbClr val="000000"/>
              </a:buClr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步骤1：读取左括号 `(` 入栈，栈内元素：[ '(' ]。</a:t>
            </a:r>
            <a:endParaRPr lang="en-US" sz="24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marL="304800" indent="-304800" algn="l">
              <a:lnSpc>
                <a:spcPct val="125000"/>
              </a:lnSpc>
              <a:spcBef>
                <a:spcPct val="20000"/>
              </a:spcBef>
              <a:buClr>
                <a:srgbClr val="000000"/>
              </a:buClr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步骤2：读取左括号 `[` 入栈，栈内元素：[ '(', '[' ]。</a:t>
            </a:r>
            <a:endParaRPr lang="en-US" sz="24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marL="304800" indent="-304800" algn="l">
              <a:lnSpc>
                <a:spcPct val="125000"/>
              </a:lnSpc>
              <a:spcBef>
                <a:spcPct val="20000"/>
              </a:spcBef>
              <a:buClr>
                <a:srgbClr val="000000"/>
              </a:buClr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步骤3：读取左括号 `{` 入栈，栈内元素：[ '(', '[', '{' ]。</a:t>
            </a:r>
            <a:endParaRPr lang="en-US" sz="24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marL="304800" indent="-304800" algn="l">
              <a:lnSpc>
                <a:spcPct val="125000"/>
              </a:lnSpc>
              <a:spcBef>
                <a:spcPct val="20000"/>
              </a:spcBef>
              <a:buClr>
                <a:srgbClr val="000000"/>
              </a:buClr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步骤4：读取右括号 `}`，匹配栈顶 `{` 后出栈，栈内：[ '(', '[' ]。</a:t>
            </a:r>
            <a:endParaRPr lang="en-US" sz="24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marL="304800" indent="-304800" algn="l">
              <a:lnSpc>
                <a:spcPct val="125000"/>
              </a:lnSpc>
              <a:spcBef>
                <a:spcPct val="20000"/>
              </a:spcBef>
              <a:buClr>
                <a:srgbClr val="000000"/>
              </a:buClr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步骤5：读取右括号 `]`，匹配栈顶 `[` 后出栈，栈内：[ '(' ]。</a:t>
            </a:r>
            <a:endParaRPr lang="en-US" sz="24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marL="304800" indent="-304800" algn="l">
              <a:lnSpc>
                <a:spcPct val="125000"/>
              </a:lnSpc>
              <a:spcBef>
                <a:spcPct val="20000"/>
              </a:spcBef>
              <a:buClr>
                <a:srgbClr val="000000"/>
              </a:buClr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步骤6：读取右括号 `)`，匹配栈顶 `(` 后出栈，栈内变为空。</a:t>
            </a:r>
            <a:endParaRPr lang="en-US" sz="24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marL="304800" indent="-304800" algn="l">
              <a:lnSpc>
                <a:spcPct val="125000"/>
              </a:lnSpc>
              <a:spcBef>
                <a:spcPct val="20000"/>
              </a:spcBef>
              <a:buClr>
                <a:srgbClr val="000000"/>
              </a:buClr>
              <a:buChar char="•"/>
            </a:pPr>
            <a:r>
              <a:rPr lang="en-US" sz="2400" b="1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最终状态：表达式遍历完毕且栈为空，括号匹配验证通过。</a:t>
            </a:r>
            <a:endParaRPr lang="en-US" sz="2400" b="1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r="3267" b="36263"/>
          <a:stretch>
            <a:fillRect/>
          </a:stretch>
        </p:blipFill>
        <p:spPr>
          <a:xfrm>
            <a:off x="9702800" y="279400"/>
            <a:ext cx="1879600" cy="147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609600" y="279400"/>
            <a:ext cx="91186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just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小结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09600" y="1854200"/>
            <a:ext cx="10972800" cy="427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355600" indent="-355600" algn="l">
              <a:lnSpc>
                <a:spcPct val="133000"/>
              </a:lnSpc>
              <a:spcBef>
                <a:spcPct val="20000"/>
              </a:spcBef>
              <a:buClr>
                <a:srgbClr val="000000"/>
              </a:buClr>
              <a:buChar char="•"/>
              <a:defRPr/>
            </a:pPr>
            <a:r>
              <a:rPr lang="en-US" sz="2800" b="1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核心概念回顾</a:t>
            </a:r>
            <a:endParaRPr lang="en-US" sz="1100"/>
          </a:p>
          <a:p>
            <a:pPr marL="762000" lvl="1" indent="-304800" algn="l">
              <a:lnSpc>
                <a:spcPct val="133000"/>
              </a:lnSpc>
              <a:spcBef>
                <a:spcPct val="20000"/>
              </a:spcBef>
              <a:buClr>
                <a:srgbClr val="000000"/>
              </a:buClr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LIFO（后进先出）、栈顶操作、O(1) 时间复杂度</a:t>
            </a:r>
            <a:endParaRPr lang="en-US" sz="24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marL="762000" lvl="1" indent="-304800" algn="l">
              <a:lnSpc>
                <a:spcPct val="133000"/>
              </a:lnSpc>
              <a:spcBef>
                <a:spcPct val="20000"/>
              </a:spcBef>
              <a:buClr>
                <a:srgbClr val="000000"/>
              </a:buClr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经典应用场景回顾</a:t>
            </a:r>
            <a:endParaRPr lang="en-US" sz="24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marL="355600" indent="-355600" algn="l">
              <a:lnSpc>
                <a:spcPct val="133000"/>
              </a:lnSpc>
              <a:spcBef>
                <a:spcPct val="20000"/>
              </a:spcBef>
              <a:buClr>
                <a:srgbClr val="000000"/>
              </a:buClr>
              <a:buChar char="•"/>
            </a:pPr>
            <a:r>
              <a:rPr lang="en-US" sz="2800" b="1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实战与练习</a:t>
            </a:r>
            <a:endParaRPr lang="en-US" sz="2800" b="1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marL="762000" lvl="1" indent="-304800" algn="l">
              <a:lnSpc>
                <a:spcPct val="133000"/>
              </a:lnSpc>
              <a:spcBef>
                <a:spcPct val="20000"/>
              </a:spcBef>
              <a:buClr>
                <a:srgbClr val="000000"/>
              </a:buClr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实战演练：运行栈实现括号匹配算法</a:t>
            </a:r>
            <a:endParaRPr lang="en-US" sz="24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marL="762000" lvl="1" indent="-304800" algn="l">
              <a:lnSpc>
                <a:spcPct val="133000"/>
              </a:lnSpc>
              <a:spcBef>
                <a:spcPct val="20000"/>
              </a:spcBef>
              <a:buClr>
                <a:srgbClr val="000000"/>
              </a:buClr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任务：编写3行核心代码测试栈功能</a:t>
            </a:r>
            <a:endParaRPr lang="en-US" sz="24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marL="762000" lvl="1" indent="-304800" algn="l">
              <a:lnSpc>
                <a:spcPct val="133000"/>
              </a:lnSpc>
              <a:spcBef>
                <a:spcPct val="20000"/>
              </a:spcBef>
              <a:buClr>
                <a:srgbClr val="000000"/>
              </a:buClr>
              <a:buChar char="•"/>
            </a:pPr>
            <a:endParaRPr lang="en-US" sz="24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r="3267" b="36263"/>
          <a:stretch>
            <a:fillRect/>
          </a:stretch>
        </p:blipFill>
        <p:spPr>
          <a:xfrm>
            <a:off x="9702800" y="279400"/>
            <a:ext cx="1879600" cy="147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609600" y="279400"/>
            <a:ext cx="91186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just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队列与递归模型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09600" y="1854200"/>
            <a:ext cx="6604000" cy="482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279400" indent="-279400" algn="l">
              <a:lnSpc>
                <a:spcPct val="125000"/>
              </a:lnSpc>
              <a:spcBef>
                <a:spcPct val="20000"/>
              </a:spcBef>
              <a:buClr>
                <a:srgbClr val="000000"/>
              </a:buClr>
              <a:buChar char="•"/>
              <a:defRPr/>
            </a:pPr>
            <a:r>
              <a:rPr lang="en-US" sz="22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核心概念与生活案例</a:t>
            </a:r>
            <a:endParaRPr lang="en-US" sz="1100"/>
          </a:p>
          <a:p>
            <a:pPr marL="685800" lvl="1" indent="-228600" algn="l">
              <a:lnSpc>
                <a:spcPct val="125000"/>
              </a:lnSpc>
              <a:spcBef>
                <a:spcPct val="20000"/>
              </a:spcBef>
              <a:buClr>
                <a:srgbClr val="000000"/>
              </a:buClr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核心规则：先进先出 (FIFO - First In First Out)</a:t>
            </a:r>
            <a:endParaRPr lang="en-US" sz="18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marL="685800" lvl="1" indent="-228600" algn="l">
              <a:lnSpc>
                <a:spcPct val="125000"/>
              </a:lnSpc>
              <a:spcBef>
                <a:spcPct val="20000"/>
              </a:spcBef>
              <a:buClr>
                <a:srgbClr val="000000"/>
              </a:buClr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生活类比：排队买票（先来先买）、打印机任务处理</a:t>
            </a:r>
            <a:endParaRPr lang="en-US" sz="18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marL="279400" indent="-279400" algn="l">
              <a:lnSpc>
                <a:spcPct val="125000"/>
              </a:lnSpc>
              <a:spcBef>
                <a:spcPct val="20000"/>
              </a:spcBef>
              <a:buClr>
                <a:srgbClr val="000000"/>
              </a:buClr>
              <a:buChar char="•"/>
            </a:pPr>
            <a:r>
              <a:rPr lang="en-US" sz="22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基本操作流程</a:t>
            </a:r>
            <a:endParaRPr lang="en-US" sz="22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marL="685800" lvl="1" indent="-228600" algn="l">
              <a:lnSpc>
                <a:spcPct val="125000"/>
              </a:lnSpc>
              <a:spcBef>
                <a:spcPct val="20000"/>
              </a:spcBef>
              <a:buClr>
                <a:srgbClr val="000000"/>
              </a:buClr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入队：新元素始终从队尾（Rear）插入</a:t>
            </a:r>
            <a:endParaRPr lang="en-US" sz="18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marL="685800" lvl="1" indent="-228600" algn="l">
              <a:lnSpc>
                <a:spcPct val="125000"/>
              </a:lnSpc>
              <a:spcBef>
                <a:spcPct val="20000"/>
              </a:spcBef>
              <a:buClr>
                <a:srgbClr val="000000"/>
              </a:buClr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出队：元素始终从队头（Front）删除</a:t>
            </a:r>
            <a:endParaRPr lang="en-US" sz="18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marL="279400" indent="-279400" algn="l">
              <a:lnSpc>
                <a:spcPct val="125000"/>
              </a:lnSpc>
              <a:spcBef>
                <a:spcPct val="20000"/>
              </a:spcBef>
              <a:buClr>
                <a:srgbClr val="000000"/>
              </a:buClr>
              <a:buChar char="•"/>
            </a:pPr>
            <a:r>
              <a:rPr lang="en-US" sz="22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栈与队列的对比思考</a:t>
            </a:r>
            <a:endParaRPr lang="en-US" sz="22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marL="685800" lvl="1" indent="-228600" algn="l">
              <a:lnSpc>
                <a:spcPct val="125000"/>
              </a:lnSpc>
              <a:spcBef>
                <a:spcPct val="20000"/>
              </a:spcBef>
              <a:buClr>
                <a:srgbClr val="000000"/>
              </a:buClr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栈 (Stack)：后进先出 (LIFO)，仅有一个出入口</a:t>
            </a:r>
            <a:endParaRPr lang="en-US" sz="18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marL="685800" lvl="1" indent="-228600" algn="l">
              <a:lnSpc>
                <a:spcPct val="125000"/>
              </a:lnSpc>
              <a:spcBef>
                <a:spcPct val="20000"/>
              </a:spcBef>
              <a:buClr>
                <a:srgbClr val="000000"/>
              </a:buClr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队列 (Queue)：先进先出 (FIFO)，两端开口，单向流动</a:t>
            </a:r>
            <a:endParaRPr lang="en-US" sz="18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t="12500" b="12500"/>
          <a:stretch>
            <a:fillRect/>
          </a:stretch>
        </p:blipFill>
        <p:spPr>
          <a:xfrm>
            <a:off x="7493000" y="2286000"/>
            <a:ext cx="4064000" cy="304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r="3267" b="36263"/>
          <a:stretch>
            <a:fillRect/>
          </a:stretch>
        </p:blipFill>
        <p:spPr>
          <a:xfrm>
            <a:off x="9702800" y="279400"/>
            <a:ext cx="1879600" cy="147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609600" y="279400"/>
            <a:ext cx="91186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just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队列结构与基础实现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09600" y="1854200"/>
            <a:ext cx="10972800" cy="427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355600" indent="-355600" algn="l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Char char="•"/>
              <a:defRPr/>
            </a:pPr>
            <a:r>
              <a:rPr lang="en-US" sz="28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顺序队列与链队列的实现方式</a:t>
            </a:r>
            <a:endParaRPr lang="en-US" sz="1100"/>
          </a:p>
          <a:p>
            <a:pPr marL="355600" indent="-355600" algn="l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基本操作：入队、出队、取队头元素、判空</a:t>
            </a:r>
            <a:endParaRPr lang="en-US" sz="28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marL="355600" indent="-355600" algn="l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思考：顺序队列为什么</a:t>
            </a:r>
            <a:r>
              <a:rPr lang="zh-CN" altLang="en-US" sz="28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可能</a:t>
            </a:r>
            <a:r>
              <a:rPr lang="en-US" sz="28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会出现“假溢出”现象？</a:t>
            </a:r>
            <a:endParaRPr lang="en-US" sz="28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609600" y="279400"/>
            <a:ext cx="91186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循环队列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09600" y="1854200"/>
            <a:ext cx="10972800" cy="427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355600" indent="-355600" algn="l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Char char="•"/>
              <a:defRPr/>
            </a:pPr>
            <a:r>
              <a:rPr lang="en-US" sz="2800" b="1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核心概念</a:t>
            </a:r>
            <a:endParaRPr lang="en-US" sz="1100"/>
          </a:p>
          <a:p>
            <a:pPr marL="762000" lvl="1" indent="-304800" algn="l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取模%、判空、判满、牺牲1位</a:t>
            </a:r>
            <a:endParaRPr lang="en-US" sz="24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marL="355600" indent="-355600" algn="l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Char char="•"/>
            </a:pPr>
            <a:r>
              <a:rPr lang="en-US" sz="2800" b="1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动态演示</a:t>
            </a:r>
            <a:endParaRPr lang="en-US" sz="2800" b="1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marL="762000" lvl="1" indent="-304800" algn="l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循环队列动态走格演示</a:t>
            </a:r>
            <a:endParaRPr lang="en-US" sz="24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marL="355600" indent="-355600" algn="l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Char char="•"/>
            </a:pPr>
            <a:r>
              <a:rPr lang="en-US" sz="2800" b="1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快速</a:t>
            </a:r>
            <a:r>
              <a:rPr lang="zh-CN" altLang="en-US" sz="2800" b="1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思考</a:t>
            </a:r>
            <a:endParaRPr lang="en-US" sz="2800" b="1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marL="762000" lvl="1" indent="-304800" algn="l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Char char="•"/>
            </a:pPr>
            <a:r>
              <a:rPr lang="zh-CN" altLang="en-US" sz="24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如何</a:t>
            </a:r>
            <a:r>
              <a:rPr lang="zh-CN" altLang="en-US" sz="24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判断空</a:t>
            </a:r>
            <a:r>
              <a:rPr lang="en-US" altLang="zh-CN" sz="24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/</a:t>
            </a:r>
            <a:r>
              <a:rPr lang="zh-CN" altLang="en-US" sz="24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满？</a:t>
            </a:r>
            <a:endParaRPr lang="zh-CN" altLang="en-US" sz="24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</p:txBody>
      </p:sp>
      <p:pic>
        <p:nvPicPr>
          <p:cNvPr id="5" name="Picture 2"/>
          <p:cNvPicPr>
            <a:picLocks noChangeAspect="1"/>
          </p:cNvPicPr>
          <p:nvPr/>
        </p:nvPicPr>
        <p:blipFill>
          <a:blip r:embed="rId1"/>
          <a:srcRect r="3267" b="36263"/>
          <a:stretch>
            <a:fillRect/>
          </a:stretch>
        </p:blipFill>
        <p:spPr>
          <a:xfrm>
            <a:off x="9702800" y="279400"/>
            <a:ext cx="1879600" cy="147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609600" y="279400"/>
            <a:ext cx="91186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32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递归</a:t>
            </a:r>
            <a:endParaRPr lang="zh-CN" altLang="en-US" sz="32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609600" y="1854200"/>
            <a:ext cx="10972800" cy="427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355600" indent="-355600" algn="l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Char char="•"/>
              <a:defRPr/>
            </a:pPr>
            <a:r>
              <a:rPr lang="zh-CN" altLang="en-US" sz="24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递归是一种非常强大的编程思想，它的核心是把一个大问题分解成更小的、相似的子问题来解决。一个完整的递归函数必须包含三个要素：基线条件，也就是递归的终止条件；递归关系，描述如何将问题分解；以及收敛性，确保问题规模在不断缩小，最终能达到基线条件。</a:t>
            </a:r>
            <a:endParaRPr lang="zh-CN" altLang="en-US" sz="24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marL="355600" indent="-355600" algn="l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Char char="•"/>
              <a:defRPr/>
            </a:pPr>
            <a:endParaRPr lang="zh-CN" altLang="en-US" sz="24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</p:txBody>
      </p:sp>
      <p:pic>
        <p:nvPicPr>
          <p:cNvPr id="5" name="Picture 2"/>
          <p:cNvPicPr>
            <a:picLocks noChangeAspect="1"/>
          </p:cNvPicPr>
          <p:nvPr/>
        </p:nvPicPr>
        <p:blipFill>
          <a:blip r:embed="rId1"/>
          <a:srcRect r="3267" b="36263"/>
          <a:stretch>
            <a:fillRect/>
          </a:stretch>
        </p:blipFill>
        <p:spPr>
          <a:xfrm>
            <a:off x="9702800" y="279400"/>
            <a:ext cx="1879600" cy="147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279400"/>
            <a:ext cx="9118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递归三要素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609600" y="1270000"/>
            <a:ext cx="5334000" cy="508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0000"/>
                </a:solidFill>
                <a:latin typeface="Microsoft YaHei Regular" panose="020B0502040204020203" charset="-122"/>
                <a:ea typeface="Microsoft YaHei Regular" panose="020B0502040204020203" charset="-122"/>
                <a:cs typeface="Microsoft YaHei Regular" panose="020B0502040204020203" charset="-122"/>
                <a:sym typeface="Noto Sans SC"/>
              </a:rPr>
              <a:t>1. 基线条件 (Base Case)</a:t>
            </a:r>
            <a:endParaRPr lang="en-US">
              <a:latin typeface="Microsoft YaHei Regular" panose="020B0502040204020203" charset="-122"/>
              <a:ea typeface="Microsoft YaHei Regular" panose="020B0502040204020203" charset="-122"/>
              <a:cs typeface="Microsoft YaHei Regular" panose="020B0502040204020203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800" b="0" i="0" u="none" strike="noStrike">
                <a:solidFill>
                  <a:srgbClr val="1F2329"/>
                </a:solidFill>
                <a:latin typeface="Microsoft YaHei Regular" panose="020B0502040204020203" charset="-122"/>
                <a:ea typeface="Microsoft YaHei Regular" panose="020B0502040204020203" charset="-122"/>
                <a:cs typeface="Microsoft YaHei Regular" panose="020B0502040204020203" charset="-122"/>
                <a:sym typeface="Noto Sans SC"/>
              </a:rPr>
              <a:t>递归的终止条件，即问题可以被直接解决而不需要再递归的情况。例如，计算阶乘时，n=0 或 n=1 时，结果为 1。</a:t>
            </a:r>
            <a:endParaRPr lang="en-US" sz="1800" b="0" i="0" u="none" strike="noStrike">
              <a:solidFill>
                <a:srgbClr val="1F2329"/>
              </a:solidFill>
              <a:latin typeface="Microsoft YaHei Regular" panose="020B0502040204020203" charset="-122"/>
              <a:ea typeface="Microsoft YaHei Regular" panose="020B0502040204020203" charset="-122"/>
              <a:cs typeface="Microsoft YaHei Regular" panose="020B0502040204020203" charset="-122"/>
              <a:sym typeface="Noto Sans SC"/>
            </a:endParaRPr>
          </a:p>
          <a:p>
            <a:pPr indent="0" algn="l">
              <a:lnSpc>
                <a:spcPct val="125000"/>
              </a:lnSpc>
            </a:pPr>
            <a:endParaRPr sz="1800">
              <a:latin typeface="Microsoft YaHei Regular" panose="020B0502040204020203" charset="-122"/>
              <a:ea typeface="Microsoft YaHei Regular" panose="020B0502040204020203" charset="-122"/>
              <a:cs typeface="Microsoft YaHei Regular" panose="020B0502040204020203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2400" b="1" i="0" u="none" strike="noStrike">
                <a:solidFill>
                  <a:srgbClr val="000000"/>
                </a:solidFill>
                <a:latin typeface="Microsoft YaHei Regular" panose="020B0502040204020203" charset="-122"/>
                <a:ea typeface="Microsoft YaHei Regular" panose="020B0502040204020203" charset="-122"/>
                <a:cs typeface="Microsoft YaHei Regular" panose="020B0502040204020203" charset="-122"/>
                <a:sym typeface="Noto Sans SC"/>
              </a:rPr>
              <a:t>2. 递归关系 (Recursive Relation)</a:t>
            </a:r>
            <a:endParaRPr lang="en-US" sz="2400" b="1" i="0" u="none" strike="noStrike">
              <a:solidFill>
                <a:srgbClr val="000000"/>
              </a:solidFill>
              <a:latin typeface="Microsoft YaHei Regular" panose="020B0502040204020203" charset="-122"/>
              <a:ea typeface="Microsoft YaHei Regular" panose="020B0502040204020203" charset="-122"/>
              <a:cs typeface="Microsoft YaHei Regular" panose="020B0502040204020203" charset="-122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800" b="0" i="0" u="none" strike="noStrike">
                <a:solidFill>
                  <a:srgbClr val="1F2329"/>
                </a:solidFill>
                <a:latin typeface="Microsoft YaHei Regular" panose="020B0502040204020203" charset="-122"/>
                <a:ea typeface="Microsoft YaHei Regular" panose="020B0502040204020203" charset="-122"/>
                <a:cs typeface="Microsoft YaHei Regular" panose="020B0502040204020203" charset="-122"/>
                <a:sym typeface="Noto Sans SC"/>
              </a:rPr>
              <a:t>将一个大问题分解为一个或多个规模更小的子问题的过程。例如，n! = n * (n-1)!。</a:t>
            </a:r>
            <a:endParaRPr lang="en-US" sz="1800" b="0" i="0" u="none" strike="noStrike">
              <a:solidFill>
                <a:srgbClr val="1F2329"/>
              </a:solidFill>
              <a:latin typeface="Microsoft YaHei Regular" panose="020B0502040204020203" charset="-122"/>
              <a:ea typeface="Microsoft YaHei Regular" panose="020B0502040204020203" charset="-122"/>
              <a:cs typeface="Microsoft YaHei Regular" panose="020B0502040204020203" charset="-122"/>
              <a:sym typeface="Noto Sans SC"/>
            </a:endParaRPr>
          </a:p>
          <a:p>
            <a:pPr indent="0" algn="l">
              <a:lnSpc>
                <a:spcPct val="125000"/>
              </a:lnSpc>
            </a:pPr>
            <a:endParaRPr sz="1800">
              <a:latin typeface="Microsoft YaHei Regular" panose="020B0502040204020203" charset="-122"/>
              <a:ea typeface="Microsoft YaHei Regular" panose="020B0502040204020203" charset="-122"/>
              <a:cs typeface="Microsoft YaHei Regular" panose="020B0502040204020203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2400" b="1" i="0" u="none" strike="noStrike">
                <a:solidFill>
                  <a:srgbClr val="000000"/>
                </a:solidFill>
                <a:latin typeface="Microsoft YaHei Regular" panose="020B0502040204020203" charset="-122"/>
                <a:ea typeface="Microsoft YaHei Regular" panose="020B0502040204020203" charset="-122"/>
                <a:cs typeface="Microsoft YaHei Regular" panose="020B0502040204020203" charset="-122"/>
                <a:sym typeface="Noto Sans SC"/>
              </a:rPr>
              <a:t>3. 收敛性 (Convergence)</a:t>
            </a:r>
            <a:endParaRPr lang="en-US" sz="2400" b="1" i="0" u="none" strike="noStrike">
              <a:solidFill>
                <a:srgbClr val="000000"/>
              </a:solidFill>
              <a:latin typeface="Microsoft YaHei Regular" panose="020B0502040204020203" charset="-122"/>
              <a:ea typeface="Microsoft YaHei Regular" panose="020B0502040204020203" charset="-122"/>
              <a:cs typeface="Microsoft YaHei Regular" panose="020B0502040204020203" charset="-122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800" b="0" i="0" u="none" strike="noStrike">
                <a:solidFill>
                  <a:srgbClr val="1F2329"/>
                </a:solidFill>
                <a:latin typeface="Microsoft YaHei Regular" panose="020B0502040204020203" charset="-122"/>
                <a:ea typeface="Microsoft YaHei Regular" panose="020B0502040204020203" charset="-122"/>
                <a:cs typeface="Microsoft YaHei Regular" panose="020B0502040204020203" charset="-122"/>
                <a:sym typeface="Noto Sans SC"/>
              </a:rPr>
              <a:t>确保递归过程能够最终到达基线条件，而不会无限递归下去。每次递归调用都应使问题规模减小。</a:t>
            </a:r>
            <a:endParaRPr lang="en-US" sz="1800" b="0" i="0" u="none" strike="noStrike">
              <a:solidFill>
                <a:srgbClr val="1F2329"/>
              </a:solidFill>
              <a:latin typeface="Microsoft YaHei Regular" panose="020B0502040204020203" charset="-122"/>
              <a:ea typeface="Microsoft YaHei Regular" panose="020B0502040204020203" charset="-122"/>
              <a:cs typeface="Microsoft YaHei Regular" panose="020B0502040204020203" charset="-122"/>
              <a:sym typeface="Noto Sans SC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6350000" y="1270000"/>
            <a:ext cx="5334000" cy="4064000"/>
          </a:xfrm>
          <a:prstGeom prst="roundRect">
            <a:avLst>
              <a:gd name="adj" fmla="val 3125"/>
            </a:avLst>
          </a:prstGeom>
          <a:solidFill>
            <a:srgbClr val="F5F5F5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</a:ln>
        </p:spPr>
        <p:txBody>
          <a:bodyPr vert="horz" wrap="square" lIns="127000" tIns="127000" rIns="127000" bIns="127000" rtlCol="0" anchor="t" anchorCtr="0"/>
          <a:lstStyle/>
          <a:p>
            <a:pPr indent="0" algn="l">
              <a:lnSpc>
                <a:spcPts val="24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 </a:t>
            </a:r>
            <a:r>
              <a:rPr lang="en-US" sz="1400" b="1" i="0" u="none" strike="noStrik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fact</a:t>
            </a:r>
            <a:r>
              <a:rPr lang="en-US" sz="1400" b="0" i="0" u="none" strike="noStrik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(n):</a:t>
            </a:r>
            <a:endParaRPr lang="en-US" sz="1100"/>
          </a:p>
          <a:p>
            <a:pPr indent="0" algn="l">
              <a:lnSpc>
                <a:spcPts val="2400"/>
              </a:lnSpc>
            </a:pPr>
            <a:r>
              <a:rPr lang="en-US" sz="1400" b="0" i="0" u="none" strike="noStrike">
                <a:solidFill>
                  <a:srgbClr val="008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基线条件</a:t>
            </a:r>
            <a:endParaRPr lang="en-US" sz="1400" b="0" i="0" u="none" strike="noStrike">
              <a:solidFill>
                <a:srgbClr val="00800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algn="l">
              <a:lnSpc>
                <a:spcPts val="24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 n ==</a:t>
            </a:r>
            <a:r>
              <a:rPr lang="en-US" sz="1400" b="0" i="0" u="none" strike="noStrike">
                <a:solidFill>
                  <a:srgbClr val="0986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 </a:t>
            </a:r>
            <a:r>
              <a:rPr lang="en-US" sz="1400" b="0" i="0" u="none" strike="noStrik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or n ==</a:t>
            </a:r>
            <a:r>
              <a:rPr lang="en-US" sz="1400" b="0" i="0" u="none" strike="noStrike">
                <a:solidFill>
                  <a:srgbClr val="0986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r>
              <a:rPr lang="en-US" sz="1400" b="0" i="0" u="none" strike="noStrik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</a:t>
            </a:r>
            <a:endParaRPr lang="en-US" sz="1400" b="0" i="0" u="none" strike="noStrike">
              <a:solidFill>
                <a:srgbClr val="00000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algn="l">
              <a:lnSpc>
                <a:spcPts val="24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return</a:t>
            </a:r>
            <a:r>
              <a:rPr lang="en-US" sz="1400" b="0" i="0" u="none" strike="noStrike">
                <a:solidFill>
                  <a:srgbClr val="09865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endParaRPr lang="en-US" sz="1400" b="0" i="0" u="none" strike="noStrike">
              <a:solidFill>
                <a:srgbClr val="09865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algn="l">
              <a:lnSpc>
                <a:spcPts val="2400"/>
              </a:lnSpc>
            </a:pPr>
            <a:r>
              <a:rPr lang="en-US" sz="1400" b="0" i="0" u="none" strike="noStrike">
                <a:solidFill>
                  <a:srgbClr val="008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递归关系</a:t>
            </a:r>
            <a:endParaRPr lang="en-US" sz="1400" b="0" i="0" u="none" strike="noStrike">
              <a:solidFill>
                <a:srgbClr val="00800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algn="l">
              <a:lnSpc>
                <a:spcPts val="24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else:</a:t>
            </a:r>
            <a:endParaRPr lang="en-US" sz="1400" b="0" i="0" u="none" strike="noStrike">
              <a:solidFill>
                <a:srgbClr val="00000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algn="l">
              <a:lnSpc>
                <a:spcPts val="24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return n * fact(n-1)</a:t>
            </a:r>
            <a:endParaRPr lang="en-US" sz="1400" b="0" i="0" u="none" strike="noStrike">
              <a:solidFill>
                <a:srgbClr val="00000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609600" y="279400"/>
            <a:ext cx="91186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32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递归</a:t>
            </a:r>
            <a:endParaRPr lang="zh-CN" altLang="en-US" sz="32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609600" y="1854200"/>
            <a:ext cx="10972800" cy="427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355600" indent="-355600" algn="l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Char char="•"/>
              <a:defRPr/>
            </a:pPr>
            <a:r>
              <a:rPr lang="zh-CN" altLang="en-US" sz="20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阶乘</a:t>
            </a:r>
            <a:r>
              <a:rPr lang="en-US" altLang="zh-CN" sz="20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 (Factorial)</a:t>
            </a:r>
            <a:r>
              <a:rPr lang="zh-CN" altLang="en-US" sz="20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：利用</a:t>
            </a:r>
            <a:r>
              <a:rPr lang="en-US" altLang="zh-CN" sz="20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 n! = n * (n-1)! </a:t>
            </a:r>
            <a:r>
              <a:rPr lang="zh-CN" altLang="en-US" sz="20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的关系，将计算规模逐步缩小至基线条件</a:t>
            </a:r>
            <a:r>
              <a:rPr lang="en-US" altLang="zh-CN" sz="20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 0! = 1</a:t>
            </a:r>
            <a:r>
              <a:rPr lang="zh-CN" altLang="en-US" sz="20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。</a:t>
            </a:r>
            <a:endParaRPr lang="zh-CN" altLang="en-US" sz="20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marL="355600" indent="-355600" algn="l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Char char="•"/>
              <a:defRPr/>
            </a:pPr>
            <a:r>
              <a:rPr lang="zh-CN" altLang="en-US" sz="20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斐波那契数列</a:t>
            </a:r>
            <a:r>
              <a:rPr lang="en-US" altLang="zh-CN" sz="20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 (Fibonacci)</a:t>
            </a:r>
            <a:r>
              <a:rPr lang="zh-CN" altLang="en-US" sz="20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：通过</a:t>
            </a:r>
            <a:r>
              <a:rPr lang="en-US" altLang="zh-CN" sz="20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 F(n) = F(n-1) + F(n-2) </a:t>
            </a:r>
            <a:r>
              <a:rPr lang="zh-CN" altLang="en-US" sz="20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递归定义，分解问题直至</a:t>
            </a:r>
            <a:r>
              <a:rPr lang="en-US" altLang="zh-CN" sz="20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 F(0)=0 </a:t>
            </a:r>
            <a:r>
              <a:rPr lang="zh-CN" altLang="en-US" sz="20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和</a:t>
            </a:r>
            <a:r>
              <a:rPr lang="en-US" altLang="zh-CN" sz="20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 F(1)=1</a:t>
            </a:r>
            <a:r>
              <a:rPr lang="zh-CN" altLang="en-US" sz="20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。</a:t>
            </a:r>
            <a:endParaRPr lang="zh-CN" altLang="en-US" sz="20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marL="355600" indent="-355600" algn="l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Char char="•"/>
              <a:defRPr/>
            </a:pPr>
            <a:r>
              <a:rPr lang="zh-CN" altLang="en-US" sz="20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汉诺塔</a:t>
            </a:r>
            <a:r>
              <a:rPr lang="en-US" altLang="zh-CN" sz="20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 (Tower of Hanoi)</a:t>
            </a:r>
            <a:r>
              <a:rPr lang="zh-CN" altLang="en-US" sz="20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：将移动</a:t>
            </a:r>
            <a:r>
              <a:rPr lang="en-US" altLang="zh-CN" sz="20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 n </a:t>
            </a:r>
            <a:r>
              <a:rPr lang="zh-CN" altLang="en-US" sz="20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个盘子分解为移动</a:t>
            </a:r>
            <a:r>
              <a:rPr lang="en-US" altLang="zh-CN" sz="20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 n-1 </a:t>
            </a:r>
            <a:r>
              <a:rPr lang="zh-CN" altLang="en-US" sz="20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个盘子、移动第</a:t>
            </a:r>
            <a:r>
              <a:rPr lang="en-US" altLang="zh-CN" sz="20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 n </a:t>
            </a:r>
            <a:r>
              <a:rPr lang="zh-CN" altLang="en-US" sz="20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个盘子、再移动</a:t>
            </a:r>
            <a:r>
              <a:rPr lang="en-US" altLang="zh-CN" sz="20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 n-1 </a:t>
            </a:r>
            <a:r>
              <a:rPr lang="zh-CN" altLang="en-US" sz="20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个盘子三步。</a:t>
            </a:r>
            <a:endParaRPr lang="zh-CN" altLang="en-US" sz="20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marL="355600" indent="-355600" algn="l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Char char="•"/>
              <a:defRPr/>
            </a:pPr>
            <a:r>
              <a:rPr lang="zh-CN" altLang="en-US" sz="20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快速排序</a:t>
            </a:r>
            <a:r>
              <a:rPr lang="en-US" altLang="zh-CN" sz="20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 (Quick Sort)</a:t>
            </a:r>
            <a:r>
              <a:rPr lang="zh-CN" altLang="en-US" sz="20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：选择基准元素将数组分区，然后分别对分区后的子数组递归进行快速排序。</a:t>
            </a:r>
            <a:endParaRPr lang="zh-CN" altLang="en-US" sz="20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marL="355600" indent="-355600" algn="l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Char char="•"/>
              <a:defRPr/>
            </a:pPr>
            <a:r>
              <a:rPr lang="zh-CN" altLang="en-US" sz="20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树的遍历</a:t>
            </a:r>
            <a:r>
              <a:rPr lang="en-US" altLang="zh-CN" sz="20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 (Tree Traversal)</a:t>
            </a:r>
            <a:r>
              <a:rPr lang="zh-CN" altLang="en-US" sz="20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：二叉树的前序、中序、后序遍历均通过递归实现，依次处理当前节点和左右子树。</a:t>
            </a:r>
            <a:endParaRPr lang="zh-CN" altLang="en-US" sz="20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</p:txBody>
      </p:sp>
      <p:pic>
        <p:nvPicPr>
          <p:cNvPr id="5" name="Picture 2"/>
          <p:cNvPicPr>
            <a:picLocks noChangeAspect="1"/>
          </p:cNvPicPr>
          <p:nvPr/>
        </p:nvPicPr>
        <p:blipFill>
          <a:blip r:embed="rId1"/>
          <a:srcRect r="3267" b="36263"/>
          <a:stretch>
            <a:fillRect/>
          </a:stretch>
        </p:blipFill>
        <p:spPr>
          <a:xfrm>
            <a:off x="9702800" y="279400"/>
            <a:ext cx="1879600" cy="147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381000"/>
            <a:ext cx="635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递归底层：系统调用栈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609600" y="1143000"/>
            <a:ext cx="6350000" cy="381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1. 系统调用栈 (Call Stack)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33333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递归的底层实现依赖于操作系统维护的调用栈。每次函数调用都会在栈上创建一个新的栈帧。</a:t>
            </a:r>
            <a:endParaRPr lang="en-US" sz="1400" b="0" i="0" u="none" strike="noStrike">
              <a:solidFill>
                <a:srgbClr val="333333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indent="0" algn="l">
              <a:lnSpc>
                <a:spcPct val="125000"/>
              </a:lnSpc>
            </a:pPr>
          </a:p>
          <a:p>
            <a:pPr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333333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2. 栈帧 (Stack Frame)</a:t>
            </a:r>
            <a:endParaRPr lang="en-US" sz="1600" b="1" i="0" u="none" strike="noStrike">
              <a:solidFill>
                <a:srgbClr val="333333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33333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每个栈帧包含了函数的参数、局部变量以及返回地址，用于恢复上一层函数的执行状态。</a:t>
            </a:r>
            <a:endParaRPr lang="en-US" sz="1400" b="0" i="0" u="none" strike="noStrike">
              <a:solidFill>
                <a:srgbClr val="333333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indent="0" algn="l">
              <a:lnSpc>
                <a:spcPct val="125000"/>
              </a:lnSpc>
            </a:pPr>
          </a:p>
          <a:p>
            <a:pPr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333333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3. 递归过程</a:t>
            </a:r>
            <a:endParaRPr lang="en-US" sz="1600" b="1" i="0" u="none" strike="noStrike">
              <a:solidFill>
                <a:srgbClr val="333333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33333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递归调用时，新栈帧被压入栈中；当执行到基线条件返回时，栈帧被弹出，逐层回溯。</a:t>
            </a:r>
            <a:endParaRPr lang="en-US" sz="1400" b="0" i="0" u="none" strike="noStrike">
              <a:solidFill>
                <a:srgbClr val="333333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indent="0" algn="l">
              <a:lnSpc>
                <a:spcPct val="125000"/>
              </a:lnSpc>
            </a:pPr>
          </a:p>
          <a:p>
            <a:pPr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333333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4. 栈溢出风险</a:t>
            </a:r>
            <a:endParaRPr lang="en-US" sz="1600" b="1" i="0" u="none" strike="noStrike">
              <a:solidFill>
                <a:srgbClr val="333333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33333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若递归深度过大，调用栈空间耗尽，将导致栈溢出 (Stack Overflow) 错误。</a:t>
            </a:r>
            <a:endParaRPr lang="en-US" sz="1400" b="0" i="0" u="none" strike="noStrike">
              <a:solidFill>
                <a:srgbClr val="333333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0" y="1143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图示：递归栈帧变化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747000" y="1778000"/>
            <a:ext cx="3556000" cy="508000"/>
          </a:xfrm>
          <a:prstGeom prst="roundRect">
            <a:avLst>
              <a:gd name="adj" fmla="val 0"/>
            </a:avLst>
          </a:prstGeom>
          <a:solidFill>
            <a:srgbClr val="E6F0FF">
              <a:alpha val="100000"/>
            </a:srgbClr>
          </a:solidFill>
          <a:ln w="12700" cap="flat" cmpd="sng">
            <a:solidFill>
              <a:srgbClr val="6495ED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1F2329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栈底: main()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747000" y="2413000"/>
            <a:ext cx="3556000" cy="508000"/>
          </a:xfrm>
          <a:prstGeom prst="roundRect">
            <a:avLst>
              <a:gd name="adj" fmla="val 0"/>
            </a:avLst>
          </a:prstGeom>
          <a:solidFill>
            <a:srgbClr val="DBEAFE">
              <a:alpha val="100000"/>
            </a:srgbClr>
          </a:solidFill>
          <a:ln w="12700" cap="flat" cmpd="sng">
            <a:solidFill>
              <a:srgbClr val="3B82F6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1F2329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fact(3)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747000" y="3048000"/>
            <a:ext cx="3556000" cy="508000"/>
          </a:xfrm>
          <a:prstGeom prst="roundRect">
            <a:avLst>
              <a:gd name="adj" fmla="val 0"/>
            </a:avLst>
          </a:prstGeom>
          <a:solidFill>
            <a:srgbClr val="BFDBFE">
              <a:alpha val="10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1F2329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fact(2)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747000" y="3683000"/>
            <a:ext cx="3556000" cy="508000"/>
          </a:xfrm>
          <a:prstGeom prst="roundRect">
            <a:avLst>
              <a:gd name="adj" fmla="val 0"/>
            </a:avLst>
          </a:prstGeom>
          <a:solidFill>
            <a:srgbClr val="93C5FD">
              <a:alpha val="100000"/>
            </a:srgbClr>
          </a:solidFill>
          <a:ln w="12700" cap="flat" cmpd="sng">
            <a:solidFill>
              <a:srgbClr val="1D4ED8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fact(1) - 基线条件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747000" y="43180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EF4444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↑ 压栈方向 (调用)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747000" y="46990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10B981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↓ 弹栈方向 (返回)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r="3267" b="36263"/>
          <a:stretch>
            <a:fillRect/>
          </a:stretch>
        </p:blipFill>
        <p:spPr>
          <a:xfrm>
            <a:off x="9702800" y="279400"/>
            <a:ext cx="1879600" cy="147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609600" y="279400"/>
            <a:ext cx="91186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just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小结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09600" y="1854200"/>
            <a:ext cx="10972800" cy="427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355600" indent="-355600" algn="l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Char char="•"/>
              <a:defRPr/>
            </a:pPr>
            <a:r>
              <a:rPr lang="en-US" sz="28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队列：先进先出 (FIFO)，循环队列解决假溢出</a:t>
            </a:r>
            <a:endParaRPr lang="en-US" sz="1100"/>
          </a:p>
          <a:p>
            <a:pPr marL="355600" indent="-355600" algn="l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递归：基线条件、递归关系、收敛性</a:t>
            </a:r>
            <a:endParaRPr lang="en-US" sz="28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marL="355600" indent="-355600" algn="l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底层原理：递归调用依赖系统栈实现</a:t>
            </a:r>
            <a:endParaRPr lang="en-US" sz="28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r="3267" b="36263"/>
          <a:stretch>
            <a:fillRect/>
          </a:stretch>
        </p:blipFill>
        <p:spPr>
          <a:xfrm>
            <a:off x="9702800" y="279400"/>
            <a:ext cx="1879600" cy="147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609600" y="279400"/>
            <a:ext cx="91186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just">
              <a:lnSpc>
                <a:spcPct val="100000"/>
              </a:lnSpc>
              <a:defRPr/>
            </a:pPr>
            <a:r>
              <a:rPr lang="zh-CN" altLang="en-US" sz="32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作业</a:t>
            </a:r>
            <a:endParaRPr lang="zh-CN" altLang="en-US" sz="32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609600" y="1854200"/>
            <a:ext cx="10972800" cy="427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355600" indent="-355600" algn="l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Char char="•"/>
              <a:defRPr/>
            </a:pPr>
            <a:r>
              <a:rPr lang="zh-CN" altLang="en-US" sz="24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选取一种合适的数据结构解决以下场景</a:t>
            </a:r>
            <a:r>
              <a:rPr lang="zh-CN" altLang="en-US" sz="2400" b="1" i="0" u="none" strike="noStrike">
                <a:solidFill>
                  <a:srgbClr val="C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（任选其一）</a:t>
            </a:r>
            <a:endParaRPr lang="zh-CN" altLang="en-US" sz="2400" b="1" i="0" u="none" strike="noStrike">
              <a:solidFill>
                <a:srgbClr val="C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marL="355600" indent="-355600" algn="l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Char char="•"/>
              <a:defRPr/>
            </a:pPr>
            <a:r>
              <a:rPr lang="zh-CN" altLang="en-US" sz="20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场景</a:t>
            </a:r>
            <a:r>
              <a:rPr lang="en-US" altLang="zh-CN" sz="20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 1</a:t>
            </a:r>
            <a:r>
              <a:rPr lang="zh-CN" altLang="en-US" sz="20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：</a:t>
            </a:r>
            <a:r>
              <a:rPr lang="zh-CN" altLang="en-US" sz="2000" b="1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医院急诊分诊排队系统</a:t>
            </a:r>
            <a:r>
              <a:rPr lang="zh-CN" altLang="en-US" sz="20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，需求：普通患者</a:t>
            </a:r>
            <a:r>
              <a:rPr lang="en-US" altLang="zh-CN" sz="20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 / </a:t>
            </a:r>
            <a:r>
              <a:rPr lang="zh-CN" altLang="en-US" sz="20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急诊患者分级排队；急诊优先插队；按顺序叫号；超员拒绝；支持查看排队列表</a:t>
            </a:r>
            <a:endParaRPr lang="zh-CN" altLang="en-US" sz="20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marL="355600" indent="-355600" algn="l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Char char="•"/>
              <a:defRPr/>
            </a:pPr>
            <a:r>
              <a:rPr lang="zh-CN" altLang="en-US" sz="20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场景</a:t>
            </a:r>
            <a:r>
              <a:rPr lang="en-US" altLang="zh-CN" sz="20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 2</a:t>
            </a:r>
            <a:r>
              <a:rPr lang="zh-CN" altLang="en-US" sz="20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：</a:t>
            </a:r>
            <a:r>
              <a:rPr lang="zh-CN" altLang="en-US" sz="2000" b="1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电商订单峰值限流处理系统</a:t>
            </a:r>
            <a:r>
              <a:rPr lang="zh-CN" altLang="en-US" sz="20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，需求：限制每秒处理订单数；超出容量进入队列等待；超时订单自动丢弃；按入队顺序处理；统计处理</a:t>
            </a:r>
            <a:r>
              <a:rPr lang="en-US" altLang="zh-CN" sz="20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 / </a:t>
            </a:r>
            <a:r>
              <a:rPr lang="zh-CN" altLang="en-US" sz="20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丢弃数量</a:t>
            </a:r>
            <a:endParaRPr lang="zh-CN" altLang="en-US" sz="20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marL="355600" indent="-355600" algn="l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Char char="•"/>
              <a:defRPr/>
            </a:pPr>
            <a:r>
              <a:rPr lang="zh-CN" altLang="en-US" sz="20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场景</a:t>
            </a:r>
            <a:r>
              <a:rPr lang="en-US" altLang="zh-CN" sz="20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 3</a:t>
            </a:r>
            <a:r>
              <a:rPr lang="zh-CN" altLang="en-US" sz="20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：</a:t>
            </a:r>
            <a:r>
              <a:rPr lang="zh-CN" altLang="en-US" sz="2000" b="1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银行多窗口智能叫号系统</a:t>
            </a:r>
            <a:r>
              <a:rPr lang="zh-CN" altLang="en-US" sz="20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，需求：</a:t>
            </a:r>
            <a:r>
              <a:rPr lang="en-US" altLang="zh-CN" sz="20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3 </a:t>
            </a:r>
            <a:r>
              <a:rPr lang="zh-CN" altLang="en-US" sz="20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个服务窗口并行处理；队列统一排队；窗口空闲立即分配；实时显示窗口状态</a:t>
            </a:r>
            <a:r>
              <a:rPr lang="en-US" altLang="zh-CN" sz="20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 + </a:t>
            </a:r>
            <a:r>
              <a:rPr lang="zh-CN" altLang="en-US" sz="20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排队人数；支持暂停叫号</a:t>
            </a:r>
            <a:endParaRPr lang="zh-CN" altLang="en-US" sz="20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marL="355600" indent="-355600" algn="l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Char char="•"/>
              <a:defRPr/>
            </a:pPr>
            <a:endParaRPr lang="zh-CN" altLang="en-US" sz="20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r="3267" b="36263"/>
          <a:stretch>
            <a:fillRect/>
          </a:stretch>
        </p:blipFill>
        <p:spPr>
          <a:xfrm>
            <a:off x="9702800" y="279400"/>
            <a:ext cx="1879600" cy="147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914400" y="2133600"/>
            <a:ext cx="10363200" cy="147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44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第4周 线性表（二）H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sz="3200"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</a:rPr>
              <a:t>递归到迭代的转化、调用栈模拟</a:t>
            </a:r>
            <a:endParaRPr lang="en-US" sz="3200"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r="3267" b="36263"/>
          <a:stretch>
            <a:fillRect/>
          </a:stretch>
        </p:blipFill>
        <p:spPr>
          <a:xfrm>
            <a:off x="9702800" y="279400"/>
            <a:ext cx="1879600" cy="147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609600" y="279400"/>
            <a:ext cx="91186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课程目录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09600" y="1854200"/>
            <a:ext cx="10972800" cy="427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355600" indent="-355600" algn="l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Char char="•"/>
              <a:defRPr/>
            </a:pPr>
            <a:r>
              <a:rPr lang="en-US" sz="2800" b="1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普通课程（2课时）</a:t>
            </a:r>
            <a:endParaRPr lang="en-US" sz="1100"/>
          </a:p>
          <a:p>
            <a:pPr marL="762000" lvl="1" indent="-304800" algn="l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第1课时：栈（Stack）——结构、操作与应用</a:t>
            </a:r>
            <a:endParaRPr lang="en-US" sz="24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marL="762000" lvl="1" indent="-304800" algn="l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第2课时：队列（Queue）与递归模型</a:t>
            </a:r>
            <a:endParaRPr lang="en-US" sz="24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marL="355600" indent="-355600" algn="l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Char char="•"/>
            </a:pPr>
            <a:r>
              <a:rPr lang="en-US" sz="2800" b="1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荣誉课程（2课时）</a:t>
            </a:r>
            <a:endParaRPr lang="en-US" sz="2800" b="1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marL="762000" lvl="1" indent="-304800" algn="l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第3课时：递归到迭代的转化</a:t>
            </a:r>
            <a:endParaRPr lang="en-US" sz="24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marL="762000" lvl="1" indent="-304800" algn="l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第4课时：调用栈模拟与工程健壮性</a:t>
            </a:r>
            <a:endParaRPr lang="en-US" sz="24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r="3267" b="36263"/>
          <a:stretch>
            <a:fillRect/>
          </a:stretch>
        </p:blipFill>
        <p:spPr>
          <a:xfrm>
            <a:off x="9702800" y="279400"/>
            <a:ext cx="1879600" cy="147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609600" y="279400"/>
            <a:ext cx="91186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just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递归到迭代的转化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09600" y="1854200"/>
            <a:ext cx="10972800" cy="427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279400" indent="-279400" algn="l">
              <a:lnSpc>
                <a:spcPct val="125000"/>
              </a:lnSpc>
              <a:spcBef>
                <a:spcPct val="20000"/>
              </a:spcBef>
              <a:buClr>
                <a:srgbClr val="000000"/>
              </a:buClr>
              <a:buChar char="•"/>
              <a:defRPr/>
            </a:pPr>
            <a:r>
              <a:rPr lang="en-US" sz="22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递归的三大痛点</a:t>
            </a:r>
            <a:endParaRPr lang="en-US" sz="1100"/>
          </a:p>
          <a:p>
            <a:pPr marL="711200" lvl="1" indent="-254000" algn="l">
              <a:lnSpc>
                <a:spcPct val="125000"/>
              </a:lnSpc>
              <a:spcBef>
                <a:spcPct val="20000"/>
              </a:spcBef>
              <a:buClr>
                <a:srgbClr val="000000"/>
              </a:buClr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栈溢出：深度递归可能导致系统调用栈耗尽</a:t>
            </a:r>
            <a:endParaRPr lang="en-US" sz="20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marL="711200" lvl="1" indent="-254000" algn="l">
              <a:lnSpc>
                <a:spcPct val="125000"/>
              </a:lnSpc>
              <a:spcBef>
                <a:spcPct val="20000"/>
              </a:spcBef>
              <a:buClr>
                <a:srgbClr val="000000"/>
              </a:buClr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重复计算：如斐波那契数列递归实现中的大量重复计算</a:t>
            </a:r>
            <a:endParaRPr lang="en-US" sz="20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marL="711200" lvl="1" indent="-254000" algn="l">
              <a:lnSpc>
                <a:spcPct val="125000"/>
              </a:lnSpc>
              <a:spcBef>
                <a:spcPct val="20000"/>
              </a:spcBef>
              <a:buClr>
                <a:srgbClr val="000000"/>
              </a:buClr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难调试：递归调用栈深时，逻辑流追踪困难</a:t>
            </a:r>
            <a:endParaRPr lang="en-US" sz="20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marL="711200" lvl="1" indent="-254000" algn="l">
              <a:lnSpc>
                <a:spcPct val="125000"/>
              </a:lnSpc>
              <a:spcBef>
                <a:spcPct val="20000"/>
              </a:spcBef>
              <a:buClr>
                <a:srgbClr val="000000"/>
              </a:buClr>
              <a:buChar char="•"/>
            </a:pPr>
            <a:r>
              <a:rPr lang="zh-CN" altLang="en-US" sz="2000" b="1">
                <a:solidFill>
                  <a:srgbClr val="C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问题</a:t>
            </a:r>
            <a:r>
              <a:rPr lang="en-US" sz="2000" b="1">
                <a:solidFill>
                  <a:srgbClr val="C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演示</a:t>
            </a:r>
            <a:endParaRPr lang="en-US" sz="2000" b="1" i="0" u="none" strike="noStrike">
              <a:solidFill>
                <a:srgbClr val="C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marL="711200" lvl="1" indent="-254000" algn="l">
              <a:lnSpc>
                <a:spcPct val="125000"/>
              </a:lnSpc>
              <a:spcBef>
                <a:spcPct val="20000"/>
              </a:spcBef>
              <a:buClr>
                <a:srgbClr val="000000"/>
              </a:buClr>
              <a:buChar char="•"/>
            </a:pPr>
            <a:endParaRPr lang="en-US" sz="20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marL="279400" indent="-279400" algn="l">
              <a:lnSpc>
                <a:spcPct val="125000"/>
              </a:lnSpc>
              <a:spcBef>
                <a:spcPct val="20000"/>
              </a:spcBef>
              <a:buClr>
                <a:srgbClr val="000000"/>
              </a:buClr>
              <a:buChar char="•"/>
            </a:pPr>
            <a:r>
              <a:rPr lang="en-US" sz="22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工程实践思考</a:t>
            </a:r>
            <a:endParaRPr lang="en-US" sz="22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marL="711200" lvl="1" indent="-254000" algn="l">
              <a:lnSpc>
                <a:spcPct val="125000"/>
              </a:lnSpc>
              <a:spcBef>
                <a:spcPct val="20000"/>
              </a:spcBef>
              <a:buClr>
                <a:srgbClr val="000000"/>
              </a:buClr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工程实践中为什么要将递归转化为迭代？</a:t>
            </a:r>
            <a:endParaRPr lang="en-US" sz="20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279400"/>
            <a:ext cx="40259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递归→迭代通用方法</a:t>
            </a:r>
            <a:r>
              <a:rPr lang="zh-CN" altLang="en-US" sz="3200" b="1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论</a:t>
            </a:r>
            <a:endParaRPr lang="zh-CN" altLang="en-US" sz="3200" b="1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609600" y="1270000"/>
            <a:ext cx="10972800" cy="444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127000" rIns="88900" bIns="127000" rtlCol="0" anchor="t" anchorCtr="0"/>
          <a:lstStyle/>
          <a:p>
            <a:pPr marL="514350" indent="-514350" algn="l">
              <a:lnSpc>
                <a:spcPct val="100000"/>
              </a:lnSpc>
              <a:spcBef>
                <a:spcPct val="50000"/>
              </a:spcBef>
              <a:buClr>
                <a:srgbClr val="000000"/>
              </a:buClr>
              <a:buAutoNum type="arabicPeriod"/>
              <a:defRPr/>
            </a:pPr>
            <a:r>
              <a:rPr lang="en-US" sz="2800" b="1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找出基线条件</a:t>
            </a:r>
            <a:endParaRPr lang="en-US"/>
          </a:p>
          <a:p>
            <a:pPr marL="914400" lvl="1" indent="-457200" algn="l">
              <a:lnSpc>
                <a:spcPct val="100000"/>
              </a:lnSpc>
              <a:buClr>
                <a:srgbClr val="505050"/>
              </a:buClr>
              <a:buFont typeface="Arial" panose="020B0704020202020204" pitchFamily="34" charset="0"/>
              <a:buChar char="•"/>
            </a:pPr>
            <a:r>
              <a:rPr lang="en-US" sz="2400" b="0" i="0" u="none" strike="noStrike">
                <a:solidFill>
                  <a:srgbClr val="50505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确定递归的终止条件，即问题的最小规模解，作为循环的出口。</a:t>
            </a:r>
            <a:endParaRPr lang="en-US" sz="2400" b="0" i="0" u="none" strike="noStrike">
              <a:solidFill>
                <a:srgbClr val="50505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marL="514350" indent="-514350" algn="l">
              <a:lnSpc>
                <a:spcPct val="100000"/>
              </a:lnSpc>
              <a:spcBef>
                <a:spcPct val="50000"/>
              </a:spcBef>
              <a:buClr>
                <a:srgbClr val="000000"/>
              </a:buClr>
              <a:buAutoNum type="arabicPeriod"/>
            </a:pPr>
            <a:r>
              <a:rPr lang="en-US" sz="2800" b="1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用显式栈保存状态</a:t>
            </a:r>
            <a:endParaRPr lang="en-US" sz="2800" b="1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marL="914400" lvl="1" indent="-457200" algn="l">
              <a:lnSpc>
                <a:spcPct val="100000"/>
              </a:lnSpc>
              <a:buClr>
                <a:srgbClr val="505050"/>
              </a:buClr>
              <a:buFont typeface="Arial" panose="020B0704020202020204" pitchFamily="34" charset="0"/>
              <a:buChar char="•"/>
            </a:pPr>
            <a:r>
              <a:rPr lang="en-US" sz="2400" b="0" i="0" u="none" strike="noStrike">
                <a:solidFill>
                  <a:srgbClr val="50505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用一个栈（Stack）数据结构来手动模拟系统调用栈，保存每次递归调用的参数、局部变量和返回地址等状态信息。</a:t>
            </a:r>
            <a:endParaRPr lang="en-US" sz="2400" b="0" i="0" u="none" strike="noStrike">
              <a:solidFill>
                <a:srgbClr val="50505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marL="514350" indent="-514350" algn="l">
              <a:lnSpc>
                <a:spcPct val="100000"/>
              </a:lnSpc>
              <a:spcBef>
                <a:spcPct val="50000"/>
              </a:spcBef>
              <a:buClr>
                <a:srgbClr val="000000"/>
              </a:buClr>
              <a:buAutoNum type="arabicPeriod"/>
            </a:pPr>
            <a:r>
              <a:rPr lang="en-US" sz="2800" b="1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初始状态入栈</a:t>
            </a:r>
            <a:endParaRPr lang="en-US" sz="2800" b="1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marL="914400" lvl="1" indent="-457200" algn="l">
              <a:lnSpc>
                <a:spcPct val="100000"/>
              </a:lnSpc>
              <a:buClr>
                <a:srgbClr val="505050"/>
              </a:buClr>
              <a:buFont typeface="Arial" panose="020B0704020202020204" pitchFamily="34" charset="0"/>
              <a:buChar char="•"/>
            </a:pPr>
            <a:r>
              <a:rPr lang="en-US" sz="2400" b="0" i="0" u="none" strike="noStrike">
                <a:solidFill>
                  <a:srgbClr val="50505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将递归函数的初始调用参数和状态信息压入栈中，启动迭代过程。</a:t>
            </a:r>
            <a:endParaRPr lang="en-US" sz="2400" b="0" i="0" u="none" strike="noStrike">
              <a:solidFill>
                <a:srgbClr val="50505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marL="514350" indent="-514350" algn="l">
              <a:lnSpc>
                <a:spcPct val="100000"/>
              </a:lnSpc>
              <a:spcBef>
                <a:spcPct val="50000"/>
              </a:spcBef>
              <a:buClr>
                <a:srgbClr val="000000"/>
              </a:buClr>
              <a:buAutoNum type="arabicPeriod"/>
            </a:pPr>
            <a:r>
              <a:rPr lang="en-US" sz="2800" b="1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循环出栈执行</a:t>
            </a:r>
            <a:endParaRPr lang="en-US" sz="2800" b="1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marL="914400" lvl="1" indent="-457200" algn="l">
              <a:lnSpc>
                <a:spcPct val="100000"/>
              </a:lnSpc>
              <a:buClr>
                <a:srgbClr val="505050"/>
              </a:buClr>
              <a:buFont typeface="Arial" panose="020B0704020202020204" pitchFamily="34" charset="0"/>
              <a:buChar char="•"/>
            </a:pPr>
            <a:r>
              <a:rPr lang="en-US" sz="2400" b="0" i="0" u="none" strike="noStrike">
                <a:solidFill>
                  <a:srgbClr val="50505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循环从栈中弹出状态信息，执行相应的操作，并根据需要将新的状态信息压入栈中，直到栈为空。</a:t>
            </a:r>
            <a:endParaRPr lang="en-US" sz="2400" b="0" i="0" u="none" strike="noStrike">
              <a:solidFill>
                <a:srgbClr val="50505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r="3267" b="36263"/>
          <a:stretch>
            <a:fillRect/>
          </a:stretch>
        </p:blipFill>
        <p:spPr>
          <a:xfrm>
            <a:off x="9702800" y="279400"/>
            <a:ext cx="1879600" cy="147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609600" y="279400"/>
            <a:ext cx="58166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案例1：阶乘递归→迭代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09600" y="2286000"/>
            <a:ext cx="5080000" cy="2171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ts val="1800"/>
              </a:lnSpc>
              <a:defRPr/>
            </a:pPr>
            <a:r>
              <a:rPr lang="en-US" sz="1600" b="0" i="0" u="none" strike="noStrike">
                <a:solidFill>
                  <a:srgbClr val="A31515"/>
                </a:solidFill>
                <a:latin typeface="JetBrains Maple Mono" panose="02000009000000000000" charset="-122"/>
                <a:ea typeface="JetBrains Maple Mono" panose="02000009000000000000" charset="-122"/>
                <a:cs typeface="JetBrains Maple Mono" panose="02000009000000000000" charset="-122"/>
                <a:sym typeface="JetBrains Maple Mono" panose="02000009000000000000" charset="-122"/>
              </a:rPr>
              <a:t># 递归版本</a:t>
            </a:r>
            <a:endParaRPr lang="en-US" sz="1100"/>
          </a:p>
          <a:p>
            <a:pPr indent="0" algn="l">
              <a:lnSpc>
                <a:spcPts val="1800"/>
              </a:lnSpc>
            </a:pPr>
            <a:r>
              <a:rPr lang="en-US" sz="1600" b="0" i="0" u="none" strike="noStrike">
                <a:solidFill>
                  <a:srgbClr val="0000FF"/>
                </a:solidFill>
                <a:latin typeface="JetBrains Maple Mono" panose="02000009000000000000" charset="-122"/>
                <a:ea typeface="JetBrains Maple Mono" panose="02000009000000000000" charset="-122"/>
                <a:cs typeface="JetBrains Maple Mono" panose="02000009000000000000" charset="-122"/>
                <a:sym typeface="JetBrains Maple Mono" panose="02000009000000000000" charset="-122"/>
              </a:rPr>
              <a:t>def </a:t>
            </a:r>
            <a:r>
              <a:rPr lang="en-US" sz="1600" b="0" i="0" u="none" strike="noStrike">
                <a:solidFill>
                  <a:srgbClr val="000000"/>
                </a:solidFill>
                <a:latin typeface="JetBrains Maple Mono" panose="02000009000000000000" charset="-122"/>
                <a:ea typeface="JetBrains Maple Mono" panose="02000009000000000000" charset="-122"/>
                <a:cs typeface="JetBrains Maple Mono" panose="02000009000000000000" charset="-122"/>
                <a:sym typeface="JetBrains Maple Mono" panose="02000009000000000000" charset="-122"/>
              </a:rPr>
              <a:t>fact(n):</a:t>
            </a:r>
            <a:endParaRPr lang="en-US" sz="1600" b="0" i="0" u="none" strike="noStrike">
              <a:solidFill>
                <a:srgbClr val="000000"/>
              </a:solidFill>
              <a:latin typeface="JetBrains Maple Mono" panose="02000009000000000000" charset="-122"/>
              <a:ea typeface="JetBrains Maple Mono" panose="02000009000000000000" charset="-122"/>
              <a:cs typeface="JetBrains Maple Mono" panose="02000009000000000000" charset="-122"/>
              <a:sym typeface="JetBrains Maple Mono" panose="02000009000000000000" charset="-122"/>
            </a:endParaRPr>
          </a:p>
          <a:p>
            <a:pPr indent="457200" algn="l">
              <a:lnSpc>
                <a:spcPts val="1800"/>
              </a:lnSpc>
            </a:pPr>
            <a:r>
              <a:rPr lang="en-US" sz="1600" b="0" i="0" u="none" strike="noStrike">
                <a:solidFill>
                  <a:srgbClr val="0000FF"/>
                </a:solidFill>
                <a:latin typeface="JetBrains Maple Mono" panose="02000009000000000000" charset="-122"/>
                <a:ea typeface="JetBrains Maple Mono" panose="02000009000000000000" charset="-122"/>
                <a:cs typeface="JetBrains Maple Mono" panose="02000009000000000000" charset="-122"/>
                <a:sym typeface="JetBrains Maple Mono" panose="02000009000000000000" charset="-122"/>
              </a:rPr>
              <a:t>if </a:t>
            </a:r>
            <a:r>
              <a:rPr lang="en-US" sz="1600" b="0" i="0" u="none" strike="noStrike">
                <a:solidFill>
                  <a:srgbClr val="000000"/>
                </a:solidFill>
                <a:latin typeface="JetBrains Maple Mono" panose="02000009000000000000" charset="-122"/>
                <a:ea typeface="JetBrains Maple Mono" panose="02000009000000000000" charset="-122"/>
                <a:cs typeface="JetBrains Maple Mono" panose="02000009000000000000" charset="-122"/>
                <a:sym typeface="JetBrains Maple Mono" panose="02000009000000000000" charset="-122"/>
              </a:rPr>
              <a:t>n ==</a:t>
            </a:r>
            <a:r>
              <a:rPr lang="en-US" sz="1600" b="0" i="0" u="none" strike="noStrike">
                <a:solidFill>
                  <a:srgbClr val="098658"/>
                </a:solidFill>
                <a:latin typeface="JetBrains Maple Mono" panose="02000009000000000000" charset="-122"/>
                <a:ea typeface="JetBrains Maple Mono" panose="02000009000000000000" charset="-122"/>
                <a:cs typeface="JetBrains Maple Mono" panose="02000009000000000000" charset="-122"/>
                <a:sym typeface="JetBrains Maple Mono" panose="02000009000000000000" charset="-122"/>
              </a:rPr>
              <a:t>0</a:t>
            </a:r>
            <a:r>
              <a:rPr lang="en-US" sz="1600" b="0" i="0" u="none" strike="noStrike">
                <a:solidFill>
                  <a:srgbClr val="000000"/>
                </a:solidFill>
                <a:latin typeface="JetBrains Maple Mono" panose="02000009000000000000" charset="-122"/>
                <a:ea typeface="JetBrains Maple Mono" panose="02000009000000000000" charset="-122"/>
                <a:cs typeface="JetBrains Maple Mono" panose="02000009000000000000" charset="-122"/>
                <a:sym typeface="JetBrains Maple Mono" panose="02000009000000000000" charset="-122"/>
              </a:rPr>
              <a:t>:</a:t>
            </a:r>
            <a:endParaRPr lang="en-US" sz="1600" b="0" i="0" u="none" strike="noStrike">
              <a:solidFill>
                <a:srgbClr val="000000"/>
              </a:solidFill>
              <a:latin typeface="JetBrains Maple Mono" panose="02000009000000000000" charset="-122"/>
              <a:ea typeface="JetBrains Maple Mono" panose="02000009000000000000" charset="-122"/>
              <a:cs typeface="JetBrains Maple Mono" panose="02000009000000000000" charset="-122"/>
              <a:sym typeface="JetBrains Maple Mono" panose="02000009000000000000" charset="-122"/>
            </a:endParaRPr>
          </a:p>
          <a:p>
            <a:pPr marL="457200" lvl="1" indent="0" algn="l">
              <a:lnSpc>
                <a:spcPts val="1800"/>
              </a:lnSpc>
            </a:pPr>
            <a:r>
              <a:rPr lang="en-US" sz="1600" b="0" i="0" u="none" strike="noStrike">
                <a:solidFill>
                  <a:srgbClr val="0000FF"/>
                </a:solidFill>
                <a:latin typeface="JetBrains Maple Mono" panose="02000009000000000000" charset="-122"/>
                <a:ea typeface="JetBrains Maple Mono" panose="02000009000000000000" charset="-122"/>
                <a:cs typeface="JetBrains Maple Mono" panose="02000009000000000000" charset="-122"/>
                <a:sym typeface="JetBrains Maple Mono" panose="02000009000000000000" charset="-122"/>
              </a:rPr>
              <a:t>return </a:t>
            </a:r>
            <a:r>
              <a:rPr lang="en-US" sz="1600" b="0" i="0" u="none" strike="noStrike">
                <a:solidFill>
                  <a:srgbClr val="098658"/>
                </a:solidFill>
                <a:latin typeface="JetBrains Maple Mono" panose="02000009000000000000" charset="-122"/>
                <a:ea typeface="JetBrains Maple Mono" panose="02000009000000000000" charset="-122"/>
                <a:cs typeface="JetBrains Maple Mono" panose="02000009000000000000" charset="-122"/>
                <a:sym typeface="JetBrains Maple Mono" panose="02000009000000000000" charset="-122"/>
              </a:rPr>
              <a:t>1</a:t>
            </a:r>
            <a:endParaRPr lang="en-US" sz="1600" b="0" i="0" u="none" strike="noStrike">
              <a:solidFill>
                <a:srgbClr val="098658"/>
              </a:solidFill>
              <a:latin typeface="JetBrains Maple Mono" panose="02000009000000000000" charset="-122"/>
              <a:ea typeface="JetBrains Maple Mono" panose="02000009000000000000" charset="-122"/>
              <a:cs typeface="JetBrains Maple Mono" panose="02000009000000000000" charset="-122"/>
              <a:sym typeface="JetBrains Maple Mono" panose="02000009000000000000" charset="-122"/>
            </a:endParaRPr>
          </a:p>
          <a:p>
            <a:pPr indent="457200" algn="l">
              <a:lnSpc>
                <a:spcPts val="1800"/>
              </a:lnSpc>
            </a:pPr>
            <a:r>
              <a:rPr lang="en-US" sz="1600" b="0" i="0" u="none" strike="noStrike">
                <a:solidFill>
                  <a:srgbClr val="0000FF"/>
                </a:solidFill>
                <a:latin typeface="JetBrains Maple Mono" panose="02000009000000000000" charset="-122"/>
                <a:ea typeface="JetBrains Maple Mono" panose="02000009000000000000" charset="-122"/>
                <a:cs typeface="JetBrains Maple Mono" panose="02000009000000000000" charset="-122"/>
                <a:sym typeface="JetBrains Maple Mono" panose="02000009000000000000" charset="-122"/>
              </a:rPr>
              <a:t>return </a:t>
            </a:r>
            <a:r>
              <a:rPr lang="en-US" sz="1600" b="0" i="0" u="none" strike="noStrike">
                <a:solidFill>
                  <a:srgbClr val="000000"/>
                </a:solidFill>
                <a:latin typeface="JetBrains Maple Mono" panose="02000009000000000000" charset="-122"/>
                <a:ea typeface="JetBrains Maple Mono" panose="02000009000000000000" charset="-122"/>
                <a:cs typeface="JetBrains Maple Mono" panose="02000009000000000000" charset="-122"/>
                <a:sym typeface="JetBrains Maple Mono" panose="02000009000000000000" charset="-122"/>
              </a:rPr>
              <a:t>n * fact(n-1)</a:t>
            </a:r>
            <a:endParaRPr lang="en-US" sz="1600" b="0" i="0" u="none" strike="noStrike">
              <a:solidFill>
                <a:srgbClr val="000000"/>
              </a:solidFill>
              <a:latin typeface="JetBrains Maple Mono" panose="02000009000000000000" charset="-122"/>
              <a:ea typeface="JetBrains Maple Mono" panose="02000009000000000000" charset="-122"/>
              <a:cs typeface="JetBrains Maple Mono" panose="02000009000000000000" charset="-122"/>
              <a:sym typeface="JetBrains Maple Mono" panose="02000009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6096000" y="2286000"/>
            <a:ext cx="5080000" cy="2171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ts val="1800"/>
              </a:lnSpc>
              <a:defRPr/>
            </a:pPr>
            <a:r>
              <a:rPr lang="en-US" sz="1600" b="0" i="0" u="none" strike="noStrike">
                <a:solidFill>
                  <a:srgbClr val="A31515"/>
                </a:solidFill>
                <a:latin typeface="JetBrains Maple Mono" panose="02000009000000000000" charset="-122"/>
                <a:ea typeface="JetBrains Maple Mono" panose="02000009000000000000" charset="-122"/>
                <a:cs typeface="JetBrains Maple Mono" panose="02000009000000000000" charset="-122"/>
                <a:sym typeface="JetBrains Maple Mono" panose="02000009000000000000" charset="-122"/>
              </a:rPr>
              <a:t># 迭代版本</a:t>
            </a:r>
            <a:endParaRPr lang="en-US" sz="1100"/>
          </a:p>
          <a:p>
            <a:pPr indent="0" algn="l">
              <a:lnSpc>
                <a:spcPts val="1800"/>
              </a:lnSpc>
            </a:pPr>
            <a:r>
              <a:rPr lang="en-US" sz="1600" b="0" i="0" u="none" strike="noStrike">
                <a:solidFill>
                  <a:srgbClr val="0000FF"/>
                </a:solidFill>
                <a:latin typeface="JetBrains Maple Mono" panose="02000009000000000000" charset="-122"/>
                <a:ea typeface="JetBrains Maple Mono" panose="02000009000000000000" charset="-122"/>
                <a:cs typeface="JetBrains Maple Mono" panose="02000009000000000000" charset="-122"/>
                <a:sym typeface="JetBrains Maple Mono" panose="02000009000000000000" charset="-122"/>
              </a:rPr>
              <a:t>def </a:t>
            </a:r>
            <a:r>
              <a:rPr lang="en-US" sz="1600" b="0" i="0" u="none" strike="noStrike">
                <a:solidFill>
                  <a:srgbClr val="000000"/>
                </a:solidFill>
                <a:latin typeface="JetBrains Maple Mono" panose="02000009000000000000" charset="-122"/>
                <a:ea typeface="JetBrains Maple Mono" panose="02000009000000000000" charset="-122"/>
                <a:cs typeface="JetBrains Maple Mono" panose="02000009000000000000" charset="-122"/>
                <a:sym typeface="JetBrains Maple Mono" panose="02000009000000000000" charset="-122"/>
              </a:rPr>
              <a:t>fact_iter(n):</a:t>
            </a:r>
            <a:endParaRPr lang="en-US" sz="1600" b="0" i="0" u="none" strike="noStrike">
              <a:solidFill>
                <a:srgbClr val="000000"/>
              </a:solidFill>
              <a:latin typeface="JetBrains Maple Mono" panose="02000009000000000000" charset="-122"/>
              <a:ea typeface="JetBrains Maple Mono" panose="02000009000000000000" charset="-122"/>
              <a:cs typeface="JetBrains Maple Mono" panose="02000009000000000000" charset="-122"/>
              <a:sym typeface="JetBrains Maple Mono" panose="02000009000000000000" charset="-122"/>
            </a:endParaRPr>
          </a:p>
          <a:p>
            <a:pPr indent="457200" algn="l">
              <a:lnSpc>
                <a:spcPts val="18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JetBrains Maple Mono" panose="02000009000000000000" charset="-122"/>
                <a:ea typeface="JetBrains Maple Mono" panose="02000009000000000000" charset="-122"/>
                <a:cs typeface="JetBrains Maple Mono" panose="02000009000000000000" charset="-122"/>
                <a:sym typeface="JetBrains Maple Mono" panose="02000009000000000000" charset="-122"/>
              </a:rPr>
              <a:t>res =</a:t>
            </a:r>
            <a:r>
              <a:rPr lang="en-US" sz="1600" b="0" i="0" u="none" strike="noStrike">
                <a:solidFill>
                  <a:srgbClr val="098658"/>
                </a:solidFill>
                <a:latin typeface="JetBrains Maple Mono" panose="02000009000000000000" charset="-122"/>
                <a:ea typeface="JetBrains Maple Mono" panose="02000009000000000000" charset="-122"/>
                <a:cs typeface="JetBrains Maple Mono" panose="02000009000000000000" charset="-122"/>
                <a:sym typeface="JetBrains Maple Mono" panose="02000009000000000000" charset="-122"/>
              </a:rPr>
              <a:t>1</a:t>
            </a:r>
            <a:endParaRPr lang="en-US" sz="1600" b="0" i="0" u="none" strike="noStrike">
              <a:solidFill>
                <a:srgbClr val="098658"/>
              </a:solidFill>
              <a:latin typeface="JetBrains Maple Mono" panose="02000009000000000000" charset="-122"/>
              <a:ea typeface="JetBrains Maple Mono" panose="02000009000000000000" charset="-122"/>
              <a:cs typeface="JetBrains Maple Mono" panose="02000009000000000000" charset="-122"/>
              <a:sym typeface="JetBrains Maple Mono" panose="02000009000000000000" charset="-122"/>
            </a:endParaRPr>
          </a:p>
          <a:p>
            <a:pPr indent="457200" algn="l">
              <a:lnSpc>
                <a:spcPts val="1800"/>
              </a:lnSpc>
            </a:pPr>
            <a:r>
              <a:rPr lang="en-US" sz="1600" b="0" i="0" u="none" strike="noStrike">
                <a:solidFill>
                  <a:srgbClr val="0000FF"/>
                </a:solidFill>
                <a:latin typeface="JetBrains Maple Mono" panose="02000009000000000000" charset="-122"/>
                <a:ea typeface="JetBrains Maple Mono" panose="02000009000000000000" charset="-122"/>
                <a:cs typeface="JetBrains Maple Mono" panose="02000009000000000000" charset="-122"/>
                <a:sym typeface="JetBrains Maple Mono" panose="02000009000000000000" charset="-122"/>
              </a:rPr>
              <a:t>for </a:t>
            </a:r>
            <a:r>
              <a:rPr lang="en-US" sz="1600" b="0" i="0" u="none" strike="noStrike">
                <a:solidFill>
                  <a:srgbClr val="000000"/>
                </a:solidFill>
                <a:latin typeface="JetBrains Maple Mono" panose="02000009000000000000" charset="-122"/>
                <a:ea typeface="JetBrains Maple Mono" panose="02000009000000000000" charset="-122"/>
                <a:cs typeface="JetBrains Maple Mono" panose="02000009000000000000" charset="-122"/>
                <a:sym typeface="JetBrains Maple Mono" panose="02000009000000000000" charset="-122"/>
              </a:rPr>
              <a:t>i </a:t>
            </a:r>
            <a:r>
              <a:rPr lang="en-US" sz="1600" b="0" i="0" u="none" strike="noStrike">
                <a:solidFill>
                  <a:srgbClr val="0000FF"/>
                </a:solidFill>
                <a:latin typeface="JetBrains Maple Mono" panose="02000009000000000000" charset="-122"/>
                <a:ea typeface="JetBrains Maple Mono" panose="02000009000000000000" charset="-122"/>
                <a:cs typeface="JetBrains Maple Mono" panose="02000009000000000000" charset="-122"/>
                <a:sym typeface="JetBrains Maple Mono" panose="02000009000000000000" charset="-122"/>
              </a:rPr>
              <a:t>in </a:t>
            </a:r>
            <a:r>
              <a:rPr lang="en-US" sz="1600" b="0" i="0" u="none" strike="noStrike">
                <a:solidFill>
                  <a:srgbClr val="000000"/>
                </a:solidFill>
                <a:latin typeface="JetBrains Maple Mono" panose="02000009000000000000" charset="-122"/>
                <a:ea typeface="JetBrains Maple Mono" panose="02000009000000000000" charset="-122"/>
                <a:cs typeface="JetBrains Maple Mono" panose="02000009000000000000" charset="-122"/>
                <a:sym typeface="JetBrains Maple Mono" panose="02000009000000000000" charset="-122"/>
              </a:rPr>
              <a:t>range(1, n+1):</a:t>
            </a:r>
            <a:endParaRPr lang="en-US" sz="1600" b="0" i="0" u="none" strike="noStrike">
              <a:solidFill>
                <a:srgbClr val="000000"/>
              </a:solidFill>
              <a:latin typeface="JetBrains Maple Mono" panose="02000009000000000000" charset="-122"/>
              <a:ea typeface="JetBrains Maple Mono" panose="02000009000000000000" charset="-122"/>
              <a:cs typeface="JetBrains Maple Mono" panose="02000009000000000000" charset="-122"/>
              <a:sym typeface="JetBrains Maple Mono" panose="02000009000000000000" charset="-122"/>
            </a:endParaRPr>
          </a:p>
          <a:p>
            <a:pPr marL="457200" lvl="1" indent="0" algn="l">
              <a:lnSpc>
                <a:spcPts val="18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JetBrains Maple Mono" panose="02000009000000000000" charset="-122"/>
                <a:ea typeface="JetBrains Maple Mono" panose="02000009000000000000" charset="-122"/>
                <a:cs typeface="JetBrains Maple Mono" panose="02000009000000000000" charset="-122"/>
                <a:sym typeface="JetBrains Maple Mono" panose="02000009000000000000" charset="-122"/>
              </a:rPr>
              <a:t>    res *= i</a:t>
            </a:r>
            <a:endParaRPr lang="en-US" sz="1600" b="0" i="0" u="none" strike="noStrike">
              <a:solidFill>
                <a:srgbClr val="000000"/>
              </a:solidFill>
              <a:latin typeface="JetBrains Maple Mono" panose="02000009000000000000" charset="-122"/>
              <a:ea typeface="JetBrains Maple Mono" panose="02000009000000000000" charset="-122"/>
              <a:cs typeface="JetBrains Maple Mono" panose="02000009000000000000" charset="-122"/>
              <a:sym typeface="JetBrains Maple Mono" panose="02000009000000000000" charset="-122"/>
            </a:endParaRPr>
          </a:p>
          <a:p>
            <a:pPr indent="457200" algn="l">
              <a:lnSpc>
                <a:spcPts val="1800"/>
              </a:lnSpc>
            </a:pPr>
            <a:r>
              <a:rPr lang="en-US" sz="1600" b="0" i="0" u="none" strike="noStrike">
                <a:solidFill>
                  <a:srgbClr val="0000FF"/>
                </a:solidFill>
                <a:latin typeface="JetBrains Maple Mono" panose="02000009000000000000" charset="-122"/>
                <a:ea typeface="JetBrains Maple Mono" panose="02000009000000000000" charset="-122"/>
                <a:cs typeface="JetBrains Maple Mono" panose="02000009000000000000" charset="-122"/>
                <a:sym typeface="JetBrains Maple Mono" panose="02000009000000000000" charset="-122"/>
              </a:rPr>
              <a:t>return </a:t>
            </a:r>
            <a:r>
              <a:rPr lang="en-US" sz="1600" b="0" i="0" u="none" strike="noStrike">
                <a:solidFill>
                  <a:srgbClr val="000000"/>
                </a:solidFill>
                <a:latin typeface="JetBrains Maple Mono" panose="02000009000000000000" charset="-122"/>
                <a:ea typeface="JetBrains Maple Mono" panose="02000009000000000000" charset="-122"/>
                <a:cs typeface="JetBrains Maple Mono" panose="02000009000000000000" charset="-122"/>
                <a:sym typeface="JetBrains Maple Mono" panose="02000009000000000000" charset="-122"/>
              </a:rPr>
              <a:t>res</a:t>
            </a:r>
            <a:endParaRPr lang="en-US" sz="1600" b="0" i="0" u="none" strike="noStrike">
              <a:solidFill>
                <a:srgbClr val="000000"/>
              </a:solidFill>
              <a:latin typeface="JetBrains Maple Mono" panose="02000009000000000000" charset="-122"/>
              <a:ea typeface="JetBrains Maple Mono" panose="02000009000000000000" charset="-122"/>
              <a:cs typeface="JetBrains Maple Mono" panose="02000009000000000000" charset="-122"/>
              <a:sym typeface="JetBrains Maple Mono" panose="02000009000000000000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r="3267" b="36263"/>
          <a:stretch>
            <a:fillRect/>
          </a:stretch>
        </p:blipFill>
        <p:spPr>
          <a:xfrm>
            <a:off x="9702800" y="279400"/>
            <a:ext cx="1879600" cy="147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609600" y="279400"/>
            <a:ext cx="91186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just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案例2：链表反转递归→迭代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09600" y="1854200"/>
            <a:ext cx="5080000" cy="381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ts val="1800"/>
              </a:lnSpc>
              <a:defRPr/>
            </a:pPr>
            <a:r>
              <a:rPr lang="en-US" sz="1600" b="0" i="0" u="none" strike="noStrike">
                <a:solidFill>
                  <a:srgbClr val="008000"/>
                </a:solidFill>
                <a:latin typeface="JetBrains Maple Mono" panose="02000009000000000000" charset="-122"/>
                <a:ea typeface="JetBrains Maple Mono" panose="02000009000000000000" charset="-122"/>
                <a:cs typeface="JetBrains Maple Mono" panose="02000009000000000000" charset="-122"/>
                <a:sym typeface="JetBrains Maple Mono" panose="02000009000000000000" charset="-122"/>
              </a:rPr>
              <a:t># 递归版本 (Recursion)</a:t>
            </a:r>
            <a:endParaRPr lang="en-US" sz="1100"/>
          </a:p>
          <a:p>
            <a:pPr indent="0" algn="l">
              <a:lnSpc>
                <a:spcPts val="18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JetBrains Maple Mono" panose="02000009000000000000" charset="-122"/>
                <a:ea typeface="JetBrains Maple Mono" panose="02000009000000000000" charset="-122"/>
                <a:cs typeface="JetBrains Maple Mono" panose="02000009000000000000" charset="-122"/>
                <a:sym typeface="JetBrains Maple Mono" panose="02000009000000000000" charset="-122"/>
              </a:rPr>
              <a:t>def reverse_rec(head):</a:t>
            </a:r>
            <a:endParaRPr lang="en-US" sz="1600" b="0" i="0" u="none" strike="noStrike">
              <a:solidFill>
                <a:srgbClr val="000000"/>
              </a:solidFill>
              <a:latin typeface="JetBrains Maple Mono" panose="02000009000000000000" charset="-122"/>
              <a:ea typeface="JetBrains Maple Mono" panose="02000009000000000000" charset="-122"/>
              <a:cs typeface="JetBrains Maple Mono" panose="02000009000000000000" charset="-122"/>
              <a:sym typeface="JetBrains Maple Mono" panose="02000009000000000000" charset="-122"/>
            </a:endParaRPr>
          </a:p>
          <a:p>
            <a:pPr indent="0" algn="l">
              <a:lnSpc>
                <a:spcPts val="18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JetBrains Maple Mono" panose="02000009000000000000" charset="-122"/>
                <a:ea typeface="JetBrains Maple Mono" panose="02000009000000000000" charset="-122"/>
                <a:cs typeface="JetBrains Maple Mono" panose="02000009000000000000" charset="-122"/>
                <a:sym typeface="JetBrains Maple Mono" panose="02000009000000000000" charset="-122"/>
              </a:rPr>
              <a:t>  if not head or not head.next:</a:t>
            </a:r>
            <a:endParaRPr lang="en-US" sz="1600" b="0" i="0" u="none" strike="noStrike">
              <a:solidFill>
                <a:srgbClr val="000000"/>
              </a:solidFill>
              <a:latin typeface="JetBrains Maple Mono" panose="02000009000000000000" charset="-122"/>
              <a:ea typeface="JetBrains Maple Mono" panose="02000009000000000000" charset="-122"/>
              <a:cs typeface="JetBrains Maple Mono" panose="02000009000000000000" charset="-122"/>
              <a:sym typeface="JetBrains Maple Mono" panose="02000009000000000000" charset="-122"/>
            </a:endParaRPr>
          </a:p>
          <a:p>
            <a:pPr indent="0" algn="l">
              <a:lnSpc>
                <a:spcPts val="18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JetBrains Maple Mono" panose="02000009000000000000" charset="-122"/>
                <a:ea typeface="JetBrains Maple Mono" panose="02000009000000000000" charset="-122"/>
                <a:cs typeface="JetBrains Maple Mono" panose="02000009000000000000" charset="-122"/>
                <a:sym typeface="JetBrains Maple Mono" panose="02000009000000000000" charset="-122"/>
              </a:rPr>
              <a:t>    return head</a:t>
            </a:r>
            <a:endParaRPr lang="en-US" sz="1600" b="0" i="0" u="none" strike="noStrike">
              <a:solidFill>
                <a:srgbClr val="000000"/>
              </a:solidFill>
              <a:latin typeface="JetBrains Maple Mono" panose="02000009000000000000" charset="-122"/>
              <a:ea typeface="JetBrains Maple Mono" panose="02000009000000000000" charset="-122"/>
              <a:cs typeface="JetBrains Maple Mono" panose="02000009000000000000" charset="-122"/>
              <a:sym typeface="JetBrains Maple Mono" panose="02000009000000000000" charset="-122"/>
            </a:endParaRPr>
          </a:p>
          <a:p>
            <a:pPr indent="0" algn="l">
              <a:lnSpc>
                <a:spcPts val="18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JetBrains Maple Mono" panose="02000009000000000000" charset="-122"/>
                <a:ea typeface="JetBrains Maple Mono" panose="02000009000000000000" charset="-122"/>
                <a:cs typeface="JetBrains Maple Mono" panose="02000009000000000000" charset="-122"/>
                <a:sym typeface="JetBrains Maple Mono" panose="02000009000000000000" charset="-122"/>
              </a:rPr>
              <a:t>  new_head = reverse_rec(head.next)</a:t>
            </a:r>
            <a:endParaRPr lang="en-US" sz="1600" b="0" i="0" u="none" strike="noStrike">
              <a:solidFill>
                <a:srgbClr val="000000"/>
              </a:solidFill>
              <a:latin typeface="JetBrains Maple Mono" panose="02000009000000000000" charset="-122"/>
              <a:ea typeface="JetBrains Maple Mono" panose="02000009000000000000" charset="-122"/>
              <a:cs typeface="JetBrains Maple Mono" panose="02000009000000000000" charset="-122"/>
              <a:sym typeface="JetBrains Maple Mono" panose="02000009000000000000" charset="-122"/>
            </a:endParaRPr>
          </a:p>
          <a:p>
            <a:pPr indent="0" algn="l">
              <a:lnSpc>
                <a:spcPts val="18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JetBrains Maple Mono" panose="02000009000000000000" charset="-122"/>
                <a:ea typeface="JetBrains Maple Mono" panose="02000009000000000000" charset="-122"/>
                <a:cs typeface="JetBrains Maple Mono" panose="02000009000000000000" charset="-122"/>
                <a:sym typeface="JetBrains Maple Mono" panose="02000009000000000000" charset="-122"/>
              </a:rPr>
              <a:t>  head.next.next = head</a:t>
            </a:r>
            <a:endParaRPr lang="en-US" sz="1600" b="0" i="0" u="none" strike="noStrike">
              <a:solidFill>
                <a:srgbClr val="000000"/>
              </a:solidFill>
              <a:latin typeface="JetBrains Maple Mono" panose="02000009000000000000" charset="-122"/>
              <a:ea typeface="JetBrains Maple Mono" panose="02000009000000000000" charset="-122"/>
              <a:cs typeface="JetBrains Maple Mono" panose="02000009000000000000" charset="-122"/>
              <a:sym typeface="JetBrains Maple Mono" panose="02000009000000000000" charset="-122"/>
            </a:endParaRPr>
          </a:p>
          <a:p>
            <a:pPr indent="0" algn="l">
              <a:lnSpc>
                <a:spcPts val="18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JetBrains Maple Mono" panose="02000009000000000000" charset="-122"/>
                <a:ea typeface="JetBrains Maple Mono" panose="02000009000000000000" charset="-122"/>
                <a:cs typeface="JetBrains Maple Mono" panose="02000009000000000000" charset="-122"/>
                <a:sym typeface="JetBrains Maple Mono" panose="02000009000000000000" charset="-122"/>
              </a:rPr>
              <a:t>  head.next = None</a:t>
            </a:r>
            <a:endParaRPr lang="en-US" sz="1600" b="0" i="0" u="none" strike="noStrike">
              <a:solidFill>
                <a:srgbClr val="000000"/>
              </a:solidFill>
              <a:latin typeface="JetBrains Maple Mono" panose="02000009000000000000" charset="-122"/>
              <a:ea typeface="JetBrains Maple Mono" panose="02000009000000000000" charset="-122"/>
              <a:cs typeface="JetBrains Maple Mono" panose="02000009000000000000" charset="-122"/>
              <a:sym typeface="JetBrains Maple Mono" panose="02000009000000000000" charset="-122"/>
            </a:endParaRPr>
          </a:p>
          <a:p>
            <a:pPr indent="0" algn="l">
              <a:lnSpc>
                <a:spcPts val="18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JetBrains Maple Mono" panose="02000009000000000000" charset="-122"/>
                <a:ea typeface="JetBrains Maple Mono" panose="02000009000000000000" charset="-122"/>
                <a:cs typeface="JetBrains Maple Mono" panose="02000009000000000000" charset="-122"/>
                <a:sym typeface="JetBrains Maple Mono" panose="02000009000000000000" charset="-122"/>
              </a:rPr>
              <a:t>  return new_head</a:t>
            </a:r>
            <a:endParaRPr lang="en-US" sz="1600" b="0" i="0" u="none" strike="noStrike">
              <a:solidFill>
                <a:srgbClr val="000000"/>
              </a:solidFill>
              <a:latin typeface="JetBrains Maple Mono" panose="02000009000000000000" charset="-122"/>
              <a:ea typeface="JetBrains Maple Mono" panose="02000009000000000000" charset="-122"/>
              <a:cs typeface="JetBrains Maple Mono" panose="02000009000000000000" charset="-122"/>
              <a:sym typeface="JetBrains Maple Mono" panose="02000009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6096000" y="1854200"/>
            <a:ext cx="5080000" cy="381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ts val="1800"/>
              </a:lnSpc>
              <a:defRPr/>
            </a:pPr>
            <a:r>
              <a:rPr lang="en-US" sz="1600" b="0" i="0" u="none" strike="noStrike">
                <a:solidFill>
                  <a:srgbClr val="008000"/>
                </a:solidFill>
                <a:latin typeface="JetBrains Maple Mono" panose="02000009000000000000" charset="-122"/>
                <a:ea typeface="JetBrains Maple Mono" panose="02000009000000000000" charset="-122"/>
                <a:cs typeface="JetBrains Maple Mono" panose="02000009000000000000" charset="-122"/>
                <a:sym typeface="JetBrains Maple Mono" panose="02000009000000000000" charset="-122"/>
              </a:rPr>
              <a:t># 迭代版本 (Iteration)</a:t>
            </a:r>
            <a:endParaRPr lang="en-US" sz="1100"/>
          </a:p>
          <a:p>
            <a:pPr indent="0" algn="l">
              <a:lnSpc>
                <a:spcPts val="18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JetBrains Maple Mono" panose="02000009000000000000" charset="-122"/>
                <a:ea typeface="JetBrains Maple Mono" panose="02000009000000000000" charset="-122"/>
                <a:cs typeface="JetBrains Maple Mono" panose="02000009000000000000" charset="-122"/>
                <a:sym typeface="JetBrains Maple Mono" panose="02000009000000000000" charset="-122"/>
              </a:rPr>
              <a:t>def reverse_iter(head):</a:t>
            </a:r>
            <a:endParaRPr lang="en-US" sz="1600" b="0" i="0" u="none" strike="noStrike">
              <a:solidFill>
                <a:srgbClr val="000000"/>
              </a:solidFill>
              <a:latin typeface="JetBrains Maple Mono" panose="02000009000000000000" charset="-122"/>
              <a:ea typeface="JetBrains Maple Mono" panose="02000009000000000000" charset="-122"/>
              <a:cs typeface="JetBrains Maple Mono" panose="02000009000000000000" charset="-122"/>
              <a:sym typeface="JetBrains Maple Mono" panose="02000009000000000000" charset="-122"/>
            </a:endParaRPr>
          </a:p>
          <a:p>
            <a:pPr indent="0" algn="l">
              <a:lnSpc>
                <a:spcPts val="18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JetBrains Maple Mono" panose="02000009000000000000" charset="-122"/>
                <a:ea typeface="JetBrains Maple Mono" panose="02000009000000000000" charset="-122"/>
                <a:cs typeface="JetBrains Maple Mono" panose="02000009000000000000" charset="-122"/>
                <a:sym typeface="JetBrains Maple Mono" panose="02000009000000000000" charset="-122"/>
              </a:rPr>
              <a:t>  prev = None</a:t>
            </a:r>
            <a:endParaRPr lang="en-US" sz="1600" b="0" i="0" u="none" strike="noStrike">
              <a:solidFill>
                <a:srgbClr val="000000"/>
              </a:solidFill>
              <a:latin typeface="JetBrains Maple Mono" panose="02000009000000000000" charset="-122"/>
              <a:ea typeface="JetBrains Maple Mono" panose="02000009000000000000" charset="-122"/>
              <a:cs typeface="JetBrains Maple Mono" panose="02000009000000000000" charset="-122"/>
              <a:sym typeface="JetBrains Maple Mono" panose="02000009000000000000" charset="-122"/>
            </a:endParaRPr>
          </a:p>
          <a:p>
            <a:pPr indent="0" algn="l">
              <a:lnSpc>
                <a:spcPts val="18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JetBrains Maple Mono" panose="02000009000000000000" charset="-122"/>
                <a:ea typeface="JetBrains Maple Mono" panose="02000009000000000000" charset="-122"/>
                <a:cs typeface="JetBrains Maple Mono" panose="02000009000000000000" charset="-122"/>
                <a:sym typeface="JetBrains Maple Mono" panose="02000009000000000000" charset="-122"/>
              </a:rPr>
              <a:t>  cur = head</a:t>
            </a:r>
            <a:endParaRPr lang="en-US" sz="1600" b="0" i="0" u="none" strike="noStrike">
              <a:solidFill>
                <a:srgbClr val="000000"/>
              </a:solidFill>
              <a:latin typeface="JetBrains Maple Mono" panose="02000009000000000000" charset="-122"/>
              <a:ea typeface="JetBrains Maple Mono" panose="02000009000000000000" charset="-122"/>
              <a:cs typeface="JetBrains Maple Mono" panose="02000009000000000000" charset="-122"/>
              <a:sym typeface="JetBrains Maple Mono" panose="02000009000000000000" charset="-122"/>
            </a:endParaRPr>
          </a:p>
          <a:p>
            <a:pPr indent="0" algn="l">
              <a:lnSpc>
                <a:spcPts val="18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JetBrains Maple Mono" panose="02000009000000000000" charset="-122"/>
                <a:ea typeface="JetBrains Maple Mono" panose="02000009000000000000" charset="-122"/>
                <a:cs typeface="JetBrains Maple Mono" panose="02000009000000000000" charset="-122"/>
                <a:sym typeface="JetBrains Maple Mono" panose="02000009000000000000" charset="-122"/>
              </a:rPr>
              <a:t>  while cur:</a:t>
            </a:r>
            <a:endParaRPr lang="en-US" sz="1600" b="0" i="0" u="none" strike="noStrike">
              <a:solidFill>
                <a:srgbClr val="000000"/>
              </a:solidFill>
              <a:latin typeface="JetBrains Maple Mono" panose="02000009000000000000" charset="-122"/>
              <a:ea typeface="JetBrains Maple Mono" panose="02000009000000000000" charset="-122"/>
              <a:cs typeface="JetBrains Maple Mono" panose="02000009000000000000" charset="-122"/>
              <a:sym typeface="JetBrains Maple Mono" panose="02000009000000000000" charset="-122"/>
            </a:endParaRPr>
          </a:p>
          <a:p>
            <a:pPr indent="0" algn="l">
              <a:lnSpc>
                <a:spcPts val="18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JetBrains Maple Mono" panose="02000009000000000000" charset="-122"/>
                <a:ea typeface="JetBrains Maple Mono" panose="02000009000000000000" charset="-122"/>
                <a:cs typeface="JetBrains Maple Mono" panose="02000009000000000000" charset="-122"/>
                <a:sym typeface="JetBrains Maple Mono" panose="02000009000000000000" charset="-122"/>
              </a:rPr>
              <a:t>    next_node = cur.next</a:t>
            </a:r>
            <a:endParaRPr lang="en-US" sz="1600" b="0" i="0" u="none" strike="noStrike">
              <a:solidFill>
                <a:srgbClr val="000000"/>
              </a:solidFill>
              <a:latin typeface="JetBrains Maple Mono" panose="02000009000000000000" charset="-122"/>
              <a:ea typeface="JetBrains Maple Mono" panose="02000009000000000000" charset="-122"/>
              <a:cs typeface="JetBrains Maple Mono" panose="02000009000000000000" charset="-122"/>
              <a:sym typeface="JetBrains Maple Mono" panose="02000009000000000000" charset="-122"/>
            </a:endParaRPr>
          </a:p>
          <a:p>
            <a:pPr indent="0" algn="l">
              <a:lnSpc>
                <a:spcPts val="18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JetBrains Maple Mono" panose="02000009000000000000" charset="-122"/>
                <a:ea typeface="JetBrains Maple Mono" panose="02000009000000000000" charset="-122"/>
                <a:cs typeface="JetBrains Maple Mono" panose="02000009000000000000" charset="-122"/>
                <a:sym typeface="JetBrains Maple Mono" panose="02000009000000000000" charset="-122"/>
              </a:rPr>
              <a:t>  cur.next = prev</a:t>
            </a:r>
            <a:endParaRPr lang="en-US" sz="1600" b="0" i="0" u="none" strike="noStrike">
              <a:solidFill>
                <a:srgbClr val="000000"/>
              </a:solidFill>
              <a:latin typeface="JetBrains Maple Mono" panose="02000009000000000000" charset="-122"/>
              <a:ea typeface="JetBrains Maple Mono" panose="02000009000000000000" charset="-122"/>
              <a:cs typeface="JetBrains Maple Mono" panose="02000009000000000000" charset="-122"/>
              <a:sym typeface="JetBrains Maple Mono" panose="02000009000000000000" charset="-122"/>
            </a:endParaRPr>
          </a:p>
          <a:p>
            <a:pPr indent="0" algn="l">
              <a:lnSpc>
                <a:spcPts val="18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JetBrains Maple Mono" panose="02000009000000000000" charset="-122"/>
                <a:ea typeface="JetBrains Maple Mono" panose="02000009000000000000" charset="-122"/>
                <a:cs typeface="JetBrains Maple Mono" panose="02000009000000000000" charset="-122"/>
                <a:sym typeface="JetBrains Maple Mono" panose="02000009000000000000" charset="-122"/>
              </a:rPr>
              <a:t>  prev = cur</a:t>
            </a:r>
            <a:endParaRPr lang="en-US" sz="1600" b="0" i="0" u="none" strike="noStrike">
              <a:solidFill>
                <a:srgbClr val="000000"/>
              </a:solidFill>
              <a:latin typeface="JetBrains Maple Mono" panose="02000009000000000000" charset="-122"/>
              <a:ea typeface="JetBrains Maple Mono" panose="02000009000000000000" charset="-122"/>
              <a:cs typeface="JetBrains Maple Mono" panose="02000009000000000000" charset="-122"/>
              <a:sym typeface="JetBrains Maple Mono" panose="02000009000000000000" charset="-122"/>
            </a:endParaRPr>
          </a:p>
          <a:p>
            <a:pPr indent="0" algn="l">
              <a:lnSpc>
                <a:spcPts val="18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JetBrains Maple Mono" panose="02000009000000000000" charset="-122"/>
                <a:ea typeface="JetBrains Maple Mono" panose="02000009000000000000" charset="-122"/>
                <a:cs typeface="JetBrains Maple Mono" panose="02000009000000000000" charset="-122"/>
                <a:sym typeface="JetBrains Maple Mono" panose="02000009000000000000" charset="-122"/>
              </a:rPr>
              <a:t>  cur = next_node</a:t>
            </a:r>
            <a:endParaRPr lang="en-US" sz="1600" b="0" i="0" u="none" strike="noStrike">
              <a:solidFill>
                <a:srgbClr val="000000"/>
              </a:solidFill>
              <a:latin typeface="JetBrains Maple Mono" panose="02000009000000000000" charset="-122"/>
              <a:ea typeface="JetBrains Maple Mono" panose="02000009000000000000" charset="-122"/>
              <a:cs typeface="JetBrains Maple Mono" panose="02000009000000000000" charset="-122"/>
              <a:sym typeface="JetBrains Maple Mono" panose="02000009000000000000" charset="-122"/>
            </a:endParaRPr>
          </a:p>
          <a:p>
            <a:pPr indent="0" algn="l">
              <a:lnSpc>
                <a:spcPts val="18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JetBrains Maple Mono" panose="02000009000000000000" charset="-122"/>
                <a:ea typeface="JetBrains Maple Mono" panose="02000009000000000000" charset="-122"/>
                <a:cs typeface="JetBrains Maple Mono" panose="02000009000000000000" charset="-122"/>
                <a:sym typeface="JetBrains Maple Mono" panose="02000009000000000000" charset="-122"/>
              </a:rPr>
              <a:t>  return prev</a:t>
            </a:r>
            <a:endParaRPr lang="en-US" sz="1600" b="0" i="0" u="none" strike="noStrike">
              <a:solidFill>
                <a:srgbClr val="000000"/>
              </a:solidFill>
              <a:latin typeface="JetBrains Maple Mono" panose="02000009000000000000" charset="-122"/>
              <a:ea typeface="JetBrains Maple Mono" panose="02000009000000000000" charset="-122"/>
              <a:cs typeface="JetBrains Maple Mono" panose="02000009000000000000" charset="-122"/>
              <a:sym typeface="JetBrains Maple Mono" panose="02000009000000000000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r="3267" b="36263"/>
          <a:stretch>
            <a:fillRect/>
          </a:stretch>
        </p:blipFill>
        <p:spPr>
          <a:xfrm>
            <a:off x="9702800" y="279400"/>
            <a:ext cx="1879600" cy="147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609600" y="279400"/>
            <a:ext cx="71628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ctr" anchorCtr="0"/>
          <a:lstStyle/>
          <a:p>
            <a:pPr indent="0" algn="just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案例3：前序遍历递归→迭代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09600" y="1854200"/>
            <a:ext cx="5334000" cy="482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ts val="1800"/>
              </a:lnSpc>
              <a:defRPr/>
            </a:pPr>
            <a:r>
              <a:rPr lang="en-US" altLang="zh-CN" sz="1400" b="0" i="0" u="none" strike="noStrike">
                <a:solidFill>
                  <a:srgbClr val="000000"/>
                </a:solidFill>
                <a:latin typeface="JetBrains Maple Mono" panose="02000009000000000000" charset="-122"/>
                <a:ea typeface="JetBrains Maple Mono" panose="02000009000000000000" charset="-122"/>
                <a:cs typeface="JetBrains Maple Mono" panose="02000009000000000000" charset="-122"/>
                <a:sym typeface="JetBrains Maple Mono" panose="02000009000000000000" charset="-122"/>
              </a:rPr>
              <a:t># </a:t>
            </a:r>
            <a:r>
              <a:rPr lang="zh-CN" altLang="en-US" sz="1400" b="0" i="0" u="none" strike="noStrike">
                <a:solidFill>
                  <a:srgbClr val="000000"/>
                </a:solidFill>
                <a:latin typeface="JetBrains Maple Mono" panose="02000009000000000000" charset="-122"/>
                <a:ea typeface="JetBrains Maple Mono" panose="02000009000000000000" charset="-122"/>
                <a:cs typeface="JetBrains Maple Mono" panose="02000009000000000000" charset="-122"/>
                <a:sym typeface="JetBrains Maple Mono" panose="02000009000000000000" charset="-122"/>
              </a:rPr>
              <a:t>二叉树前序遍历递归实现</a:t>
            </a:r>
            <a:endParaRPr lang="zh-CN" altLang="en-US" sz="1400" b="0" i="0" u="none" strike="noStrike">
              <a:solidFill>
                <a:srgbClr val="000000"/>
              </a:solidFill>
              <a:latin typeface="JetBrains Maple Mono" panose="02000009000000000000" charset="-122"/>
              <a:ea typeface="JetBrains Maple Mono" panose="02000009000000000000" charset="-122"/>
              <a:cs typeface="JetBrains Maple Mono" panose="02000009000000000000" charset="-122"/>
              <a:sym typeface="JetBrains Maple Mono" panose="02000009000000000000" charset="-122"/>
            </a:endParaRPr>
          </a:p>
          <a:p>
            <a:pPr indent="0" algn="l">
              <a:lnSpc>
                <a:spcPts val="1800"/>
              </a:lnSpc>
              <a:defRPr/>
            </a:pPr>
            <a:r>
              <a:rPr lang="en-US" altLang="zh-CN" sz="1400" b="0" i="0" u="none" strike="noStrike">
                <a:solidFill>
                  <a:srgbClr val="000000"/>
                </a:solidFill>
                <a:latin typeface="JetBrains Maple Mono" panose="02000009000000000000" charset="-122"/>
                <a:ea typeface="JetBrains Maple Mono" panose="02000009000000000000" charset="-122"/>
                <a:cs typeface="JetBrains Maple Mono" panose="02000009000000000000" charset="-122"/>
                <a:sym typeface="JetBrains Maple Mono" panose="02000009000000000000" charset="-122"/>
              </a:rPr>
              <a:t>def preorderTraversal_rec(root):</a:t>
            </a:r>
            <a:endParaRPr lang="en-US" altLang="zh-CN" sz="1400" b="0" i="0" u="none" strike="noStrike">
              <a:solidFill>
                <a:srgbClr val="000000"/>
              </a:solidFill>
              <a:latin typeface="JetBrains Maple Mono" panose="02000009000000000000" charset="-122"/>
              <a:ea typeface="JetBrains Maple Mono" panose="02000009000000000000" charset="-122"/>
              <a:cs typeface="JetBrains Maple Mono" panose="02000009000000000000" charset="-122"/>
              <a:sym typeface="JetBrains Maple Mono" panose="02000009000000000000" charset="-122"/>
            </a:endParaRPr>
          </a:p>
          <a:p>
            <a:pPr indent="0" algn="l">
              <a:lnSpc>
                <a:spcPts val="1800"/>
              </a:lnSpc>
              <a:defRPr/>
            </a:pPr>
            <a:r>
              <a:rPr lang="en-US" altLang="zh-CN" sz="1400" b="0" i="0" u="none" strike="noStrike">
                <a:solidFill>
                  <a:srgbClr val="000000"/>
                </a:solidFill>
                <a:latin typeface="JetBrains Maple Mono" panose="02000009000000000000" charset="-122"/>
                <a:ea typeface="JetBrains Maple Mono" panose="02000009000000000000" charset="-122"/>
                <a:cs typeface="JetBrains Maple Mono" panose="02000009000000000000" charset="-122"/>
                <a:sym typeface="JetBrains Maple Mono" panose="02000009000000000000" charset="-122"/>
              </a:rPr>
              <a:t>    res = []</a:t>
            </a:r>
            <a:endParaRPr lang="en-US" altLang="zh-CN" sz="1400" b="0" i="0" u="none" strike="noStrike">
              <a:solidFill>
                <a:srgbClr val="000000"/>
              </a:solidFill>
              <a:latin typeface="JetBrains Maple Mono" panose="02000009000000000000" charset="-122"/>
              <a:ea typeface="JetBrains Maple Mono" panose="02000009000000000000" charset="-122"/>
              <a:cs typeface="JetBrains Maple Mono" panose="02000009000000000000" charset="-122"/>
              <a:sym typeface="JetBrains Maple Mono" panose="02000009000000000000" charset="-122"/>
            </a:endParaRPr>
          </a:p>
          <a:p>
            <a:pPr indent="0" algn="l">
              <a:lnSpc>
                <a:spcPts val="1800"/>
              </a:lnSpc>
              <a:defRPr/>
            </a:pPr>
            <a:r>
              <a:rPr lang="en-US" altLang="zh-CN" sz="1400" b="0" i="0" u="none" strike="noStrike">
                <a:solidFill>
                  <a:srgbClr val="000000"/>
                </a:solidFill>
                <a:latin typeface="JetBrains Maple Mono" panose="02000009000000000000" charset="-122"/>
                <a:ea typeface="JetBrains Maple Mono" panose="02000009000000000000" charset="-122"/>
                <a:cs typeface="JetBrains Maple Mono" panose="02000009000000000000" charset="-122"/>
                <a:sym typeface="JetBrains Maple Mono" panose="02000009000000000000" charset="-122"/>
              </a:rPr>
              <a:t>    def helper(node):</a:t>
            </a:r>
            <a:endParaRPr lang="en-US" altLang="zh-CN" sz="1400" b="0" i="0" u="none" strike="noStrike">
              <a:solidFill>
                <a:srgbClr val="000000"/>
              </a:solidFill>
              <a:latin typeface="JetBrains Maple Mono" panose="02000009000000000000" charset="-122"/>
              <a:ea typeface="JetBrains Maple Mono" panose="02000009000000000000" charset="-122"/>
              <a:cs typeface="JetBrains Maple Mono" panose="02000009000000000000" charset="-122"/>
              <a:sym typeface="JetBrains Maple Mono" panose="02000009000000000000" charset="-122"/>
            </a:endParaRPr>
          </a:p>
          <a:p>
            <a:pPr indent="0" algn="l">
              <a:lnSpc>
                <a:spcPts val="1800"/>
              </a:lnSpc>
              <a:defRPr/>
            </a:pPr>
            <a:r>
              <a:rPr lang="en-US" altLang="zh-CN" sz="1400" b="0" i="0" u="none" strike="noStrike">
                <a:solidFill>
                  <a:srgbClr val="000000"/>
                </a:solidFill>
                <a:latin typeface="JetBrains Maple Mono" panose="02000009000000000000" charset="-122"/>
                <a:ea typeface="JetBrains Maple Mono" panose="02000009000000000000" charset="-122"/>
                <a:cs typeface="JetBrains Maple Mono" panose="02000009000000000000" charset="-122"/>
                <a:sym typeface="JetBrains Maple Mono" panose="02000009000000000000" charset="-122"/>
              </a:rPr>
              <a:t>        if not node:</a:t>
            </a:r>
            <a:endParaRPr lang="en-US" altLang="zh-CN" sz="1400" b="0" i="0" u="none" strike="noStrike">
              <a:solidFill>
                <a:srgbClr val="000000"/>
              </a:solidFill>
              <a:latin typeface="JetBrains Maple Mono" panose="02000009000000000000" charset="-122"/>
              <a:ea typeface="JetBrains Maple Mono" panose="02000009000000000000" charset="-122"/>
              <a:cs typeface="JetBrains Maple Mono" panose="02000009000000000000" charset="-122"/>
              <a:sym typeface="JetBrains Maple Mono" panose="02000009000000000000" charset="-122"/>
            </a:endParaRPr>
          </a:p>
          <a:p>
            <a:pPr indent="0" algn="l">
              <a:lnSpc>
                <a:spcPts val="1800"/>
              </a:lnSpc>
              <a:defRPr/>
            </a:pPr>
            <a:r>
              <a:rPr lang="en-US" altLang="zh-CN" sz="1400" b="0" i="0" u="none" strike="noStrike">
                <a:solidFill>
                  <a:srgbClr val="000000"/>
                </a:solidFill>
                <a:latin typeface="JetBrains Maple Mono" panose="02000009000000000000" charset="-122"/>
                <a:ea typeface="JetBrains Maple Mono" panose="02000009000000000000" charset="-122"/>
                <a:cs typeface="JetBrains Maple Mono" panose="02000009000000000000" charset="-122"/>
                <a:sym typeface="JetBrains Maple Mono" panose="02000009000000000000" charset="-122"/>
              </a:rPr>
              <a:t>            return</a:t>
            </a:r>
            <a:endParaRPr lang="en-US" altLang="zh-CN" sz="1400" b="0" i="0" u="none" strike="noStrike">
              <a:solidFill>
                <a:srgbClr val="000000"/>
              </a:solidFill>
              <a:latin typeface="JetBrains Maple Mono" panose="02000009000000000000" charset="-122"/>
              <a:ea typeface="JetBrains Maple Mono" panose="02000009000000000000" charset="-122"/>
              <a:cs typeface="JetBrains Maple Mono" panose="02000009000000000000" charset="-122"/>
              <a:sym typeface="JetBrains Maple Mono" panose="02000009000000000000" charset="-122"/>
            </a:endParaRPr>
          </a:p>
          <a:p>
            <a:pPr indent="0" algn="l">
              <a:lnSpc>
                <a:spcPts val="1800"/>
              </a:lnSpc>
              <a:defRPr/>
            </a:pPr>
            <a:r>
              <a:rPr lang="en-US" altLang="zh-CN" sz="1400" b="0" i="0" u="none" strike="noStrike">
                <a:solidFill>
                  <a:srgbClr val="000000"/>
                </a:solidFill>
                <a:latin typeface="JetBrains Maple Mono" panose="02000009000000000000" charset="-122"/>
                <a:ea typeface="JetBrains Maple Mono" panose="02000009000000000000" charset="-122"/>
                <a:cs typeface="JetBrains Maple Mono" panose="02000009000000000000" charset="-122"/>
                <a:sym typeface="JetBrains Maple Mono" panose="02000009000000000000" charset="-122"/>
              </a:rPr>
              <a:t>        res.append(node.val)</a:t>
            </a:r>
            <a:endParaRPr lang="en-US" altLang="zh-CN" sz="1400" b="0" i="0" u="none" strike="noStrike">
              <a:solidFill>
                <a:srgbClr val="000000"/>
              </a:solidFill>
              <a:latin typeface="JetBrains Maple Mono" panose="02000009000000000000" charset="-122"/>
              <a:ea typeface="JetBrains Maple Mono" panose="02000009000000000000" charset="-122"/>
              <a:cs typeface="JetBrains Maple Mono" panose="02000009000000000000" charset="-122"/>
              <a:sym typeface="JetBrains Maple Mono" panose="02000009000000000000" charset="-122"/>
            </a:endParaRPr>
          </a:p>
          <a:p>
            <a:pPr indent="0" algn="l">
              <a:lnSpc>
                <a:spcPts val="1800"/>
              </a:lnSpc>
              <a:defRPr/>
            </a:pPr>
            <a:r>
              <a:rPr lang="en-US" altLang="zh-CN" sz="1400" b="0" i="0" u="none" strike="noStrike">
                <a:solidFill>
                  <a:srgbClr val="000000"/>
                </a:solidFill>
                <a:latin typeface="JetBrains Maple Mono" panose="02000009000000000000" charset="-122"/>
                <a:ea typeface="JetBrains Maple Mono" panose="02000009000000000000" charset="-122"/>
                <a:cs typeface="JetBrains Maple Mono" panose="02000009000000000000" charset="-122"/>
                <a:sym typeface="JetBrains Maple Mono" panose="02000009000000000000" charset="-122"/>
              </a:rPr>
              <a:t>        helper(node.left)</a:t>
            </a:r>
            <a:endParaRPr lang="en-US" altLang="zh-CN" sz="1400" b="0" i="0" u="none" strike="noStrike">
              <a:solidFill>
                <a:srgbClr val="000000"/>
              </a:solidFill>
              <a:latin typeface="JetBrains Maple Mono" panose="02000009000000000000" charset="-122"/>
              <a:ea typeface="JetBrains Maple Mono" panose="02000009000000000000" charset="-122"/>
              <a:cs typeface="JetBrains Maple Mono" panose="02000009000000000000" charset="-122"/>
              <a:sym typeface="JetBrains Maple Mono" panose="02000009000000000000" charset="-122"/>
            </a:endParaRPr>
          </a:p>
          <a:p>
            <a:pPr indent="0" algn="l">
              <a:lnSpc>
                <a:spcPts val="1800"/>
              </a:lnSpc>
              <a:defRPr/>
            </a:pPr>
            <a:r>
              <a:rPr lang="en-US" altLang="zh-CN" sz="1400" b="0" i="0" u="none" strike="noStrike">
                <a:solidFill>
                  <a:srgbClr val="000000"/>
                </a:solidFill>
                <a:latin typeface="JetBrains Maple Mono" panose="02000009000000000000" charset="-122"/>
                <a:ea typeface="JetBrains Maple Mono" panose="02000009000000000000" charset="-122"/>
                <a:cs typeface="JetBrains Maple Mono" panose="02000009000000000000" charset="-122"/>
                <a:sym typeface="JetBrains Maple Mono" panose="02000009000000000000" charset="-122"/>
              </a:rPr>
              <a:t>        helper(node.right)</a:t>
            </a:r>
            <a:endParaRPr lang="en-US" altLang="zh-CN" sz="1400" b="0" i="0" u="none" strike="noStrike">
              <a:solidFill>
                <a:srgbClr val="000000"/>
              </a:solidFill>
              <a:latin typeface="JetBrains Maple Mono" panose="02000009000000000000" charset="-122"/>
              <a:ea typeface="JetBrains Maple Mono" panose="02000009000000000000" charset="-122"/>
              <a:cs typeface="JetBrains Maple Mono" panose="02000009000000000000" charset="-122"/>
              <a:sym typeface="JetBrains Maple Mono" panose="02000009000000000000" charset="-122"/>
            </a:endParaRPr>
          </a:p>
          <a:p>
            <a:pPr indent="0" algn="l">
              <a:lnSpc>
                <a:spcPts val="1800"/>
              </a:lnSpc>
              <a:defRPr/>
            </a:pPr>
            <a:r>
              <a:rPr lang="en-US" altLang="zh-CN" sz="1400" b="0" i="0" u="none" strike="noStrike">
                <a:solidFill>
                  <a:srgbClr val="000000"/>
                </a:solidFill>
                <a:latin typeface="JetBrains Maple Mono" panose="02000009000000000000" charset="-122"/>
                <a:ea typeface="JetBrains Maple Mono" panose="02000009000000000000" charset="-122"/>
                <a:cs typeface="JetBrains Maple Mono" panose="02000009000000000000" charset="-122"/>
                <a:sym typeface="JetBrains Maple Mono" panose="02000009000000000000" charset="-122"/>
              </a:rPr>
              <a:t>    helper(root)</a:t>
            </a:r>
            <a:endParaRPr lang="en-US" altLang="zh-CN" sz="1400" b="0" i="0" u="none" strike="noStrike">
              <a:solidFill>
                <a:srgbClr val="000000"/>
              </a:solidFill>
              <a:latin typeface="JetBrains Maple Mono" panose="02000009000000000000" charset="-122"/>
              <a:ea typeface="JetBrains Maple Mono" panose="02000009000000000000" charset="-122"/>
              <a:cs typeface="JetBrains Maple Mono" panose="02000009000000000000" charset="-122"/>
              <a:sym typeface="JetBrains Maple Mono" panose="02000009000000000000" charset="-122"/>
            </a:endParaRPr>
          </a:p>
          <a:p>
            <a:pPr indent="0" algn="l">
              <a:lnSpc>
                <a:spcPts val="1800"/>
              </a:lnSpc>
              <a:defRPr/>
            </a:pPr>
            <a:r>
              <a:rPr lang="en-US" altLang="zh-CN" sz="1400" b="0" i="0" u="none" strike="noStrike">
                <a:solidFill>
                  <a:srgbClr val="000000"/>
                </a:solidFill>
                <a:latin typeface="JetBrains Maple Mono" panose="02000009000000000000" charset="-122"/>
                <a:ea typeface="JetBrains Maple Mono" panose="02000009000000000000" charset="-122"/>
                <a:cs typeface="JetBrains Maple Mono" panose="02000009000000000000" charset="-122"/>
                <a:sym typeface="JetBrains Maple Mono" panose="02000009000000000000" charset="-122"/>
              </a:rPr>
              <a:t>    return res</a:t>
            </a:r>
            <a:endParaRPr lang="en-US" altLang="zh-CN" sz="1400" b="0" i="0" u="none" strike="noStrike">
              <a:solidFill>
                <a:srgbClr val="000000"/>
              </a:solidFill>
              <a:latin typeface="JetBrains Maple Mono" panose="02000009000000000000" charset="-122"/>
              <a:ea typeface="JetBrains Maple Mono" panose="02000009000000000000" charset="-122"/>
              <a:cs typeface="JetBrains Maple Mono" panose="02000009000000000000" charset="-122"/>
              <a:sym typeface="JetBrains Maple Mono" panose="02000009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6248400" y="1854200"/>
            <a:ext cx="5334000" cy="482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ts val="1800"/>
              </a:lnSpc>
              <a:defRPr/>
            </a:pPr>
            <a:r>
              <a:rPr lang="en-US" altLang="zh-CN" sz="1400" b="0" i="0" u="none" strike="noStrike">
                <a:solidFill>
                  <a:srgbClr val="000000"/>
                </a:solidFill>
                <a:latin typeface="JetBrains Maple Mono" panose="02000009000000000000" charset="-122"/>
                <a:ea typeface="JetBrains Maple Mono" panose="02000009000000000000" charset="-122"/>
                <a:cs typeface="JetBrains Maple Mono" panose="02000009000000000000" charset="-122"/>
                <a:sym typeface="JetBrains Maple Mono" panose="02000009000000000000" charset="-122"/>
              </a:rPr>
              <a:t># </a:t>
            </a:r>
            <a:r>
              <a:rPr lang="zh-CN" altLang="en-US" sz="1400" b="0" i="0" u="none" strike="noStrike">
                <a:solidFill>
                  <a:srgbClr val="000000"/>
                </a:solidFill>
                <a:latin typeface="JetBrains Maple Mono" panose="02000009000000000000" charset="-122"/>
                <a:ea typeface="JetBrains Maple Mono" panose="02000009000000000000" charset="-122"/>
                <a:cs typeface="JetBrains Maple Mono" panose="02000009000000000000" charset="-122"/>
                <a:sym typeface="JetBrains Maple Mono" panose="02000009000000000000" charset="-122"/>
              </a:rPr>
              <a:t>二叉树前序遍历迭代实现</a:t>
            </a:r>
            <a:endParaRPr lang="zh-CN" altLang="en-US" sz="1400" b="0" i="0" u="none" strike="noStrike">
              <a:solidFill>
                <a:srgbClr val="000000"/>
              </a:solidFill>
              <a:latin typeface="JetBrains Maple Mono" panose="02000009000000000000" charset="-122"/>
              <a:ea typeface="JetBrains Maple Mono" panose="02000009000000000000" charset="-122"/>
              <a:cs typeface="JetBrains Maple Mono" panose="02000009000000000000" charset="-122"/>
              <a:sym typeface="JetBrains Maple Mono" panose="02000009000000000000" charset="-122"/>
            </a:endParaRPr>
          </a:p>
          <a:p>
            <a:pPr indent="0" algn="l">
              <a:lnSpc>
                <a:spcPts val="1800"/>
              </a:lnSpc>
              <a:defRPr/>
            </a:pPr>
            <a:r>
              <a:rPr lang="en-US" altLang="zh-CN" sz="1400" b="0" i="0" u="none" strike="noStrike">
                <a:solidFill>
                  <a:srgbClr val="000000"/>
                </a:solidFill>
                <a:latin typeface="JetBrains Maple Mono" panose="02000009000000000000" charset="-122"/>
                <a:ea typeface="JetBrains Maple Mono" panose="02000009000000000000" charset="-122"/>
                <a:cs typeface="JetBrains Maple Mono" panose="02000009000000000000" charset="-122"/>
                <a:sym typeface="JetBrains Maple Mono" panose="02000009000000000000" charset="-122"/>
              </a:rPr>
              <a:t>def preorderTraversal(root):</a:t>
            </a:r>
            <a:endParaRPr lang="en-US" altLang="zh-CN" sz="1400" b="0" i="0" u="none" strike="noStrike">
              <a:solidFill>
                <a:srgbClr val="000000"/>
              </a:solidFill>
              <a:latin typeface="JetBrains Maple Mono" panose="02000009000000000000" charset="-122"/>
              <a:ea typeface="JetBrains Maple Mono" panose="02000009000000000000" charset="-122"/>
              <a:cs typeface="JetBrains Maple Mono" panose="02000009000000000000" charset="-122"/>
              <a:sym typeface="JetBrains Maple Mono" panose="02000009000000000000" charset="-122"/>
            </a:endParaRPr>
          </a:p>
          <a:p>
            <a:pPr indent="0" algn="l">
              <a:lnSpc>
                <a:spcPts val="1800"/>
              </a:lnSpc>
              <a:defRPr/>
            </a:pPr>
            <a:r>
              <a:rPr lang="en-US" altLang="zh-CN" sz="1400" b="0" i="0" u="none" strike="noStrike">
                <a:solidFill>
                  <a:srgbClr val="000000"/>
                </a:solidFill>
                <a:latin typeface="JetBrains Maple Mono" panose="02000009000000000000" charset="-122"/>
                <a:ea typeface="JetBrains Maple Mono" panose="02000009000000000000" charset="-122"/>
                <a:cs typeface="JetBrains Maple Mono" panose="02000009000000000000" charset="-122"/>
                <a:sym typeface="JetBrains Maple Mono" panose="02000009000000000000" charset="-122"/>
              </a:rPr>
              <a:t>    if not root:</a:t>
            </a:r>
            <a:endParaRPr lang="en-US" altLang="zh-CN" sz="1400" b="0" i="0" u="none" strike="noStrike">
              <a:solidFill>
                <a:srgbClr val="000000"/>
              </a:solidFill>
              <a:latin typeface="JetBrains Maple Mono" panose="02000009000000000000" charset="-122"/>
              <a:ea typeface="JetBrains Maple Mono" panose="02000009000000000000" charset="-122"/>
              <a:cs typeface="JetBrains Maple Mono" panose="02000009000000000000" charset="-122"/>
              <a:sym typeface="JetBrains Maple Mono" panose="02000009000000000000" charset="-122"/>
            </a:endParaRPr>
          </a:p>
          <a:p>
            <a:pPr indent="0" algn="l">
              <a:lnSpc>
                <a:spcPts val="1800"/>
              </a:lnSpc>
              <a:defRPr/>
            </a:pPr>
            <a:r>
              <a:rPr lang="en-US" altLang="zh-CN" sz="1400" b="0" i="0" u="none" strike="noStrike">
                <a:solidFill>
                  <a:srgbClr val="000000"/>
                </a:solidFill>
                <a:latin typeface="JetBrains Maple Mono" panose="02000009000000000000" charset="-122"/>
                <a:ea typeface="JetBrains Maple Mono" panose="02000009000000000000" charset="-122"/>
                <a:cs typeface="JetBrains Maple Mono" panose="02000009000000000000" charset="-122"/>
                <a:sym typeface="JetBrains Maple Mono" panose="02000009000000000000" charset="-122"/>
              </a:rPr>
              <a:t>        return []</a:t>
            </a:r>
            <a:endParaRPr lang="en-US" altLang="zh-CN" sz="1400" b="0" i="0" u="none" strike="noStrike">
              <a:solidFill>
                <a:srgbClr val="000000"/>
              </a:solidFill>
              <a:latin typeface="JetBrains Maple Mono" panose="02000009000000000000" charset="-122"/>
              <a:ea typeface="JetBrains Maple Mono" panose="02000009000000000000" charset="-122"/>
              <a:cs typeface="JetBrains Maple Mono" panose="02000009000000000000" charset="-122"/>
              <a:sym typeface="JetBrains Maple Mono" panose="02000009000000000000" charset="-122"/>
            </a:endParaRPr>
          </a:p>
          <a:p>
            <a:pPr indent="0" algn="l">
              <a:lnSpc>
                <a:spcPts val="1800"/>
              </a:lnSpc>
              <a:defRPr/>
            </a:pPr>
            <a:r>
              <a:rPr lang="en-US" altLang="zh-CN" sz="1400" b="0" i="0" u="none" strike="noStrike">
                <a:solidFill>
                  <a:srgbClr val="000000"/>
                </a:solidFill>
                <a:latin typeface="JetBrains Maple Mono" panose="02000009000000000000" charset="-122"/>
                <a:ea typeface="JetBrains Maple Mono" panose="02000009000000000000" charset="-122"/>
                <a:cs typeface="JetBrains Maple Mono" panose="02000009000000000000" charset="-122"/>
                <a:sym typeface="JetBrains Maple Mono" panose="02000009000000000000" charset="-122"/>
              </a:rPr>
              <a:t>    stack, res = [root], []</a:t>
            </a:r>
            <a:endParaRPr lang="en-US" altLang="zh-CN" sz="1400" b="0" i="0" u="none" strike="noStrike">
              <a:solidFill>
                <a:srgbClr val="000000"/>
              </a:solidFill>
              <a:latin typeface="JetBrains Maple Mono" panose="02000009000000000000" charset="-122"/>
              <a:ea typeface="JetBrains Maple Mono" panose="02000009000000000000" charset="-122"/>
              <a:cs typeface="JetBrains Maple Mono" panose="02000009000000000000" charset="-122"/>
              <a:sym typeface="JetBrains Maple Mono" panose="02000009000000000000" charset="-122"/>
            </a:endParaRPr>
          </a:p>
          <a:p>
            <a:pPr indent="0" algn="l">
              <a:lnSpc>
                <a:spcPts val="1800"/>
              </a:lnSpc>
              <a:defRPr/>
            </a:pPr>
            <a:r>
              <a:rPr lang="en-US" altLang="zh-CN" sz="1400" b="0" i="0" u="none" strike="noStrike">
                <a:solidFill>
                  <a:srgbClr val="000000"/>
                </a:solidFill>
                <a:latin typeface="JetBrains Maple Mono" panose="02000009000000000000" charset="-122"/>
                <a:ea typeface="JetBrains Maple Mono" panose="02000009000000000000" charset="-122"/>
                <a:cs typeface="JetBrains Maple Mono" panose="02000009000000000000" charset="-122"/>
                <a:sym typeface="JetBrains Maple Mono" panose="02000009000000000000" charset="-122"/>
              </a:rPr>
              <a:t>    while stack:</a:t>
            </a:r>
            <a:endParaRPr lang="en-US" altLang="zh-CN" sz="1400" b="0" i="0" u="none" strike="noStrike">
              <a:solidFill>
                <a:srgbClr val="000000"/>
              </a:solidFill>
              <a:latin typeface="JetBrains Maple Mono" panose="02000009000000000000" charset="-122"/>
              <a:ea typeface="JetBrains Maple Mono" panose="02000009000000000000" charset="-122"/>
              <a:cs typeface="JetBrains Maple Mono" panose="02000009000000000000" charset="-122"/>
              <a:sym typeface="JetBrains Maple Mono" panose="02000009000000000000" charset="-122"/>
            </a:endParaRPr>
          </a:p>
          <a:p>
            <a:pPr indent="0" algn="l">
              <a:lnSpc>
                <a:spcPts val="1800"/>
              </a:lnSpc>
              <a:defRPr/>
            </a:pPr>
            <a:r>
              <a:rPr lang="en-US" altLang="zh-CN" sz="1400" b="0" i="0" u="none" strike="noStrike">
                <a:solidFill>
                  <a:srgbClr val="000000"/>
                </a:solidFill>
                <a:latin typeface="JetBrains Maple Mono" panose="02000009000000000000" charset="-122"/>
                <a:ea typeface="JetBrains Maple Mono" panose="02000009000000000000" charset="-122"/>
                <a:cs typeface="JetBrains Maple Mono" panose="02000009000000000000" charset="-122"/>
                <a:sym typeface="JetBrains Maple Mono" panose="02000009000000000000" charset="-122"/>
              </a:rPr>
              <a:t>        node = stack.pop()</a:t>
            </a:r>
            <a:endParaRPr lang="en-US" altLang="zh-CN" sz="1400" b="0" i="0" u="none" strike="noStrike">
              <a:solidFill>
                <a:srgbClr val="000000"/>
              </a:solidFill>
              <a:latin typeface="JetBrains Maple Mono" panose="02000009000000000000" charset="-122"/>
              <a:ea typeface="JetBrains Maple Mono" panose="02000009000000000000" charset="-122"/>
              <a:cs typeface="JetBrains Maple Mono" panose="02000009000000000000" charset="-122"/>
              <a:sym typeface="JetBrains Maple Mono" panose="02000009000000000000" charset="-122"/>
            </a:endParaRPr>
          </a:p>
          <a:p>
            <a:pPr indent="0" algn="l">
              <a:lnSpc>
                <a:spcPts val="1800"/>
              </a:lnSpc>
              <a:defRPr/>
            </a:pPr>
            <a:r>
              <a:rPr lang="en-US" altLang="zh-CN" sz="1400" b="0" i="0" u="none" strike="noStrike">
                <a:solidFill>
                  <a:srgbClr val="000000"/>
                </a:solidFill>
                <a:latin typeface="JetBrains Maple Mono" panose="02000009000000000000" charset="-122"/>
                <a:ea typeface="JetBrains Maple Mono" panose="02000009000000000000" charset="-122"/>
                <a:cs typeface="JetBrains Maple Mono" panose="02000009000000000000" charset="-122"/>
                <a:sym typeface="JetBrains Maple Mono" panose="02000009000000000000" charset="-122"/>
              </a:rPr>
              <a:t>        res.append(node.val)</a:t>
            </a:r>
            <a:endParaRPr lang="en-US" altLang="zh-CN" sz="1400" b="0" i="0" u="none" strike="noStrike">
              <a:solidFill>
                <a:srgbClr val="000000"/>
              </a:solidFill>
              <a:latin typeface="JetBrains Maple Mono" panose="02000009000000000000" charset="-122"/>
              <a:ea typeface="JetBrains Maple Mono" panose="02000009000000000000" charset="-122"/>
              <a:cs typeface="JetBrains Maple Mono" panose="02000009000000000000" charset="-122"/>
              <a:sym typeface="JetBrains Maple Mono" panose="02000009000000000000" charset="-122"/>
            </a:endParaRPr>
          </a:p>
          <a:p>
            <a:pPr indent="0" algn="l">
              <a:lnSpc>
                <a:spcPts val="1800"/>
              </a:lnSpc>
              <a:defRPr/>
            </a:pPr>
            <a:r>
              <a:rPr lang="en-US" altLang="zh-CN" sz="1400" b="0" i="0" u="none" strike="noStrike">
                <a:solidFill>
                  <a:srgbClr val="000000"/>
                </a:solidFill>
                <a:latin typeface="JetBrains Maple Mono" panose="02000009000000000000" charset="-122"/>
                <a:ea typeface="JetBrains Maple Mono" panose="02000009000000000000" charset="-122"/>
                <a:cs typeface="JetBrains Maple Mono" panose="02000009000000000000" charset="-122"/>
                <a:sym typeface="JetBrains Maple Mono" panose="02000009000000000000" charset="-122"/>
              </a:rPr>
              <a:t>        if node.right:</a:t>
            </a:r>
            <a:endParaRPr lang="en-US" altLang="zh-CN" sz="1400" b="0" i="0" u="none" strike="noStrike">
              <a:solidFill>
                <a:srgbClr val="000000"/>
              </a:solidFill>
              <a:latin typeface="JetBrains Maple Mono" panose="02000009000000000000" charset="-122"/>
              <a:ea typeface="JetBrains Maple Mono" panose="02000009000000000000" charset="-122"/>
              <a:cs typeface="JetBrains Maple Mono" panose="02000009000000000000" charset="-122"/>
              <a:sym typeface="JetBrains Maple Mono" panose="02000009000000000000" charset="-122"/>
            </a:endParaRPr>
          </a:p>
          <a:p>
            <a:pPr indent="0" algn="l">
              <a:lnSpc>
                <a:spcPts val="1800"/>
              </a:lnSpc>
              <a:defRPr/>
            </a:pPr>
            <a:r>
              <a:rPr lang="en-US" altLang="zh-CN" sz="1400" b="0" i="0" u="none" strike="noStrike">
                <a:solidFill>
                  <a:srgbClr val="000000"/>
                </a:solidFill>
                <a:latin typeface="JetBrains Maple Mono" panose="02000009000000000000" charset="-122"/>
                <a:ea typeface="JetBrains Maple Mono" panose="02000009000000000000" charset="-122"/>
                <a:cs typeface="JetBrains Maple Mono" panose="02000009000000000000" charset="-122"/>
                <a:sym typeface="JetBrains Maple Mono" panose="02000009000000000000" charset="-122"/>
              </a:rPr>
              <a:t>            stack.append(node.right)</a:t>
            </a:r>
            <a:endParaRPr lang="en-US" altLang="zh-CN" sz="1400" b="0" i="0" u="none" strike="noStrike">
              <a:solidFill>
                <a:srgbClr val="000000"/>
              </a:solidFill>
              <a:latin typeface="JetBrains Maple Mono" panose="02000009000000000000" charset="-122"/>
              <a:ea typeface="JetBrains Maple Mono" panose="02000009000000000000" charset="-122"/>
              <a:cs typeface="JetBrains Maple Mono" panose="02000009000000000000" charset="-122"/>
              <a:sym typeface="JetBrains Maple Mono" panose="02000009000000000000" charset="-122"/>
            </a:endParaRPr>
          </a:p>
          <a:p>
            <a:pPr indent="0" algn="l">
              <a:lnSpc>
                <a:spcPts val="1800"/>
              </a:lnSpc>
              <a:defRPr/>
            </a:pPr>
            <a:r>
              <a:rPr lang="en-US" altLang="zh-CN" sz="1400" b="0" i="0" u="none" strike="noStrike">
                <a:solidFill>
                  <a:srgbClr val="000000"/>
                </a:solidFill>
                <a:latin typeface="JetBrains Maple Mono" panose="02000009000000000000" charset="-122"/>
                <a:ea typeface="JetBrains Maple Mono" panose="02000009000000000000" charset="-122"/>
                <a:cs typeface="JetBrains Maple Mono" panose="02000009000000000000" charset="-122"/>
                <a:sym typeface="JetBrains Maple Mono" panose="02000009000000000000" charset="-122"/>
              </a:rPr>
              <a:t>        if node.left:</a:t>
            </a:r>
            <a:endParaRPr lang="en-US" altLang="zh-CN" sz="1400" b="0" i="0" u="none" strike="noStrike">
              <a:solidFill>
                <a:srgbClr val="000000"/>
              </a:solidFill>
              <a:latin typeface="JetBrains Maple Mono" panose="02000009000000000000" charset="-122"/>
              <a:ea typeface="JetBrains Maple Mono" panose="02000009000000000000" charset="-122"/>
              <a:cs typeface="JetBrains Maple Mono" panose="02000009000000000000" charset="-122"/>
              <a:sym typeface="JetBrains Maple Mono" panose="02000009000000000000" charset="-122"/>
            </a:endParaRPr>
          </a:p>
          <a:p>
            <a:pPr indent="0" algn="l">
              <a:lnSpc>
                <a:spcPts val="1800"/>
              </a:lnSpc>
              <a:defRPr/>
            </a:pPr>
            <a:r>
              <a:rPr lang="en-US" altLang="zh-CN" sz="1400" b="0" i="0" u="none" strike="noStrike">
                <a:solidFill>
                  <a:srgbClr val="000000"/>
                </a:solidFill>
                <a:latin typeface="JetBrains Maple Mono" panose="02000009000000000000" charset="-122"/>
                <a:ea typeface="JetBrains Maple Mono" panose="02000009000000000000" charset="-122"/>
                <a:cs typeface="JetBrains Maple Mono" panose="02000009000000000000" charset="-122"/>
                <a:sym typeface="JetBrains Maple Mono" panose="02000009000000000000" charset="-122"/>
              </a:rPr>
              <a:t>            stack.append(node.left)</a:t>
            </a:r>
            <a:endParaRPr lang="en-US" altLang="zh-CN" sz="1400" b="0" i="0" u="none" strike="noStrike">
              <a:solidFill>
                <a:srgbClr val="000000"/>
              </a:solidFill>
              <a:latin typeface="JetBrains Maple Mono" panose="02000009000000000000" charset="-122"/>
              <a:ea typeface="JetBrains Maple Mono" panose="02000009000000000000" charset="-122"/>
              <a:cs typeface="JetBrains Maple Mono" panose="02000009000000000000" charset="-122"/>
              <a:sym typeface="JetBrains Maple Mono" panose="02000009000000000000" charset="-122"/>
            </a:endParaRPr>
          </a:p>
          <a:p>
            <a:pPr indent="0" algn="l">
              <a:lnSpc>
                <a:spcPts val="1800"/>
              </a:lnSpc>
              <a:defRPr/>
            </a:pPr>
            <a:r>
              <a:rPr lang="en-US" altLang="zh-CN" sz="1400" b="0" i="0" u="none" strike="noStrike">
                <a:solidFill>
                  <a:srgbClr val="000000"/>
                </a:solidFill>
                <a:latin typeface="JetBrains Maple Mono" panose="02000009000000000000" charset="-122"/>
                <a:ea typeface="JetBrains Maple Mono" panose="02000009000000000000" charset="-122"/>
                <a:cs typeface="JetBrains Maple Mono" panose="02000009000000000000" charset="-122"/>
                <a:sym typeface="JetBrains Maple Mono" panose="02000009000000000000" charset="-122"/>
              </a:rPr>
              <a:t>    return res</a:t>
            </a:r>
            <a:endParaRPr lang="en-US" altLang="zh-CN" sz="1400" b="0" i="0" u="none" strike="noStrike">
              <a:solidFill>
                <a:srgbClr val="000000"/>
              </a:solidFill>
              <a:latin typeface="JetBrains Maple Mono" panose="02000009000000000000" charset="-122"/>
              <a:ea typeface="JetBrains Maple Mono" panose="02000009000000000000" charset="-122"/>
              <a:cs typeface="JetBrains Maple Mono" panose="02000009000000000000" charset="-122"/>
              <a:sym typeface="JetBrains Maple Mono" panose="02000009000000000000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248400" y="539115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1800">
                <a:solidFill>
                  <a:srgbClr val="C00000"/>
                </a:solidFill>
                <a:latin typeface="Microsoft YaHei" panose="020B0502040204020203" charset="-122"/>
                <a:ea typeface="Microsoft YaHei" panose="020B0502040204020203" charset="-122"/>
                <a:sym typeface="+mn-ea"/>
              </a:rPr>
              <a:t>为什么要右先入栈？</a:t>
            </a:r>
            <a:endParaRPr lang="en-US" altLang="en-US" sz="1800">
              <a:solidFill>
                <a:srgbClr val="C00000"/>
              </a:solidFill>
              <a:latin typeface="Microsoft YaHei" panose="020B0502040204020203" charset="-122"/>
              <a:ea typeface="Microsoft YaHei" panose="020B0502040204020203" charset="-122"/>
              <a:sym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r="3267" b="36263"/>
          <a:stretch>
            <a:fillRect/>
          </a:stretch>
        </p:blipFill>
        <p:spPr>
          <a:xfrm>
            <a:off x="9702800" y="279400"/>
            <a:ext cx="1879600" cy="147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609600" y="279400"/>
            <a:ext cx="26924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第3课时小结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09600" y="1854200"/>
            <a:ext cx="10972800" cy="427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355600" indent="-355600" algn="l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Char char="•"/>
              <a:defRPr/>
            </a:pPr>
            <a:r>
              <a:rPr lang="en-US" sz="2800" b="1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核心知识点：</a:t>
            </a:r>
            <a:r>
              <a:rPr lang="en-US" sz="28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时间复杂度基本不变，空间复杂度更可控</a:t>
            </a:r>
            <a:endParaRPr lang="en-US" sz="1100"/>
          </a:p>
          <a:p>
            <a:pPr marL="355600" indent="-355600" algn="l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Char char="•"/>
            </a:pPr>
            <a:r>
              <a:rPr lang="en-US" sz="2800" b="1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转化</a:t>
            </a:r>
            <a:r>
              <a:rPr lang="zh-CN" altLang="en-US" sz="2800" b="1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方法论</a:t>
            </a:r>
            <a:r>
              <a:rPr lang="en-US" sz="2800" b="1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：</a:t>
            </a:r>
            <a:r>
              <a:rPr lang="en-US" sz="28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找基线→建栈→循环→收敛</a:t>
            </a:r>
            <a:endParaRPr lang="en-US" sz="28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r="3267" b="36263"/>
          <a:stretch>
            <a:fillRect/>
          </a:stretch>
        </p:blipFill>
        <p:spPr>
          <a:xfrm>
            <a:off x="9702800" y="279400"/>
            <a:ext cx="1879600" cy="147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609600" y="279400"/>
            <a:ext cx="91186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just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第4课时：调用栈模拟与工程健壮性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09600" y="1854200"/>
            <a:ext cx="10972800" cy="427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355600" indent="-355600" algn="l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Char char="•"/>
              <a:defRPr/>
            </a:pPr>
            <a:r>
              <a:rPr lang="en-US" sz="28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深入理解栈帧存储内容：参数、局部变量及返回地址</a:t>
            </a:r>
            <a:endParaRPr lang="en-US" sz="1100"/>
          </a:p>
          <a:p>
            <a:pPr marL="355600" indent="-355600" algn="l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直观解析栈帧结构与调用过程</a:t>
            </a:r>
            <a:endParaRPr lang="en-US" sz="28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marL="355600" indent="-355600" algn="l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探讨函数调用在底层的具体操作细节</a:t>
            </a:r>
            <a:endParaRPr lang="en-US" sz="28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2794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手动模拟：fact(3) 栈过程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609600" y="1270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1. 调用 fact(3) 压栈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556000" y="1143000"/>
            <a:ext cx="1524000" cy="508000"/>
          </a:xfrm>
          <a:prstGeom prst="roundRect">
            <a:avLst>
              <a:gd name="adj" fmla="val 0"/>
            </a:avLst>
          </a:prstGeom>
          <a:solidFill>
            <a:srgbClr val="E6E6FA">
              <a:alpha val="100000"/>
            </a:srgbClr>
          </a:solidFill>
          <a:ln w="12700" cap="flat" cmpd="sng">
            <a:solidFill>
              <a:srgbClr val="8A2BE2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8A2BE2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fact(3)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09600" y="18415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2. 调用 fact(2) 压栈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556000" y="1905000"/>
            <a:ext cx="1524000" cy="508000"/>
          </a:xfrm>
          <a:prstGeom prst="roundRect">
            <a:avLst>
              <a:gd name="adj" fmla="val 0"/>
            </a:avLst>
          </a:prstGeom>
          <a:solidFill>
            <a:srgbClr val="E6E6FA">
              <a:alpha val="100000"/>
            </a:srgbClr>
          </a:solidFill>
          <a:ln w="12700" cap="flat" cmpd="sng">
            <a:solidFill>
              <a:srgbClr val="8A2BE2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8A2BE2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fact(2)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09600" y="2413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3. 调用 fact(1) 压栈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556000" y="2667000"/>
            <a:ext cx="1524000" cy="508000"/>
          </a:xfrm>
          <a:prstGeom prst="roundRect">
            <a:avLst>
              <a:gd name="adj" fmla="val 0"/>
            </a:avLst>
          </a:prstGeom>
          <a:solidFill>
            <a:srgbClr val="E6E6FA">
              <a:alpha val="100000"/>
            </a:srgbClr>
          </a:solidFill>
          <a:ln w="12700" cap="flat" cmpd="sng">
            <a:solidFill>
              <a:srgbClr val="8A2BE2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8A2BE2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fact(1)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09600" y="29845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4. 调用 fact(0) 压栈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556000" y="3429000"/>
            <a:ext cx="1524000" cy="508000"/>
          </a:xfrm>
          <a:prstGeom prst="roundRect">
            <a:avLst>
              <a:gd name="adj" fmla="val 0"/>
            </a:avLst>
          </a:prstGeom>
          <a:solidFill>
            <a:srgbClr val="FFE4E1">
              <a:alpha val="100000"/>
            </a:srgbClr>
          </a:solidFill>
          <a:ln w="12700" cap="flat" cmpd="sng">
            <a:solidFill>
              <a:srgbClr val="DC143C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DC143C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fact(0) [基线]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09600" y="3556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5. fact(0) 返回 1 弹栈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207000" y="3556000"/>
            <a:ext cx="508000" cy="254000"/>
          </a:xfrm>
          <a:prstGeom prst="rightArrow">
            <a:avLst/>
          </a:prstGeom>
          <a:solidFill>
            <a:srgbClr val="DC143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5842000" y="3492500"/>
            <a:ext cx="127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C143C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返回: 1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09600" y="41275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6. fact(1) = 1*1=1 弹栈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207000" y="2794000"/>
            <a:ext cx="508000" cy="254000"/>
          </a:xfrm>
          <a:prstGeom prst="rightArrow">
            <a:avLst/>
          </a:prstGeom>
          <a:solidFill>
            <a:srgbClr val="8A2B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5842000" y="2730500"/>
            <a:ext cx="127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8A2BE2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返回: 1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09600" y="4699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7. fact(2) = 2*1=2 弹栈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5207000" y="2032000"/>
            <a:ext cx="508000" cy="254000"/>
          </a:xfrm>
          <a:prstGeom prst="rightArrow">
            <a:avLst/>
          </a:prstGeom>
          <a:solidFill>
            <a:srgbClr val="8A2B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5842000" y="1968500"/>
            <a:ext cx="127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8A2BE2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返回: 2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09600" y="52705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8. fact(3) = 3*2=6 弹栈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5207000" y="1270000"/>
            <a:ext cx="508000" cy="254000"/>
          </a:xfrm>
          <a:prstGeom prst="rightArrow">
            <a:avLst/>
          </a:prstGeom>
          <a:solidFill>
            <a:srgbClr val="228B2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5842000" y="1143000"/>
            <a:ext cx="1270000" cy="4889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28B22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结果: 6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518400" y="2222500"/>
            <a:ext cx="3810000" cy="508000"/>
          </a:xfrm>
          <a:prstGeom prst="roundRect">
            <a:avLst>
              <a:gd name="adj" fmla="val 40000"/>
            </a:avLst>
          </a:prstGeom>
          <a:solidFill>
            <a:srgbClr val="F0FFF0">
              <a:alpha val="100000"/>
            </a:srgbClr>
          </a:solidFill>
          <a:ln w="25400" cap="flat" cmpd="sng">
            <a:solidFill>
              <a:srgbClr val="228B22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8B22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最终结果：fact(3) = 6</a:t>
            </a:r>
            <a:endParaRPr lang="en-US" sz="11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r="3267" b="36263"/>
          <a:stretch>
            <a:fillRect/>
          </a:stretch>
        </p:blipFill>
        <p:spPr>
          <a:xfrm>
            <a:off x="9702800" y="279400"/>
            <a:ext cx="1879600" cy="147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609600" y="279400"/>
            <a:ext cx="91186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just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Python</a:t>
            </a:r>
            <a:r>
              <a:rPr lang="zh-CN" altLang="en-US" sz="32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的函数调用</a:t>
            </a:r>
            <a:r>
              <a:rPr lang="zh-CN" altLang="en-US" sz="32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机制</a:t>
            </a:r>
            <a:endParaRPr lang="zh-CN" altLang="en-US" sz="32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609600" y="1854200"/>
            <a:ext cx="10972800" cy="427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355600" indent="-355600" algn="l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Char char="•"/>
              <a:defRPr/>
            </a:pPr>
            <a:r>
              <a:rPr lang="zh-CN" altLang="en-US" sz="28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每调用一个函数，就创建一个栈帧，压入调用栈</a:t>
            </a:r>
            <a:endParaRPr lang="zh-CN" altLang="en-US" sz="28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marL="355600" indent="-355600" algn="l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Char char="•"/>
              <a:defRPr/>
            </a:pPr>
            <a:r>
              <a:rPr lang="zh-CN" altLang="en-US" sz="28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栈帧里存：</a:t>
            </a:r>
            <a:r>
              <a:rPr lang="zh-CN" altLang="en-US" sz="2800" b="1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参数</a:t>
            </a:r>
            <a:r>
              <a:rPr lang="zh-CN" altLang="en-US" sz="28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、</a:t>
            </a:r>
            <a:r>
              <a:rPr lang="zh-CN" altLang="en-US" sz="2800" b="1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局部变量</a:t>
            </a:r>
            <a:r>
              <a:rPr lang="zh-CN" altLang="en-US" sz="28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、</a:t>
            </a:r>
            <a:r>
              <a:rPr lang="zh-CN" altLang="en-US" sz="2800" b="1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返回地址</a:t>
            </a:r>
            <a:r>
              <a:rPr lang="zh-CN" altLang="en-US" sz="28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（回到哪里）</a:t>
            </a:r>
            <a:endParaRPr lang="zh-CN" altLang="en-US" sz="28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marL="355600" indent="-355600" algn="l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Char char="•"/>
              <a:defRPr/>
            </a:pPr>
            <a:r>
              <a:rPr lang="zh-CN" altLang="en-US" sz="28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函数之间完全隔离，一个函数的变量不会污染另一个</a:t>
            </a:r>
            <a:endParaRPr lang="zh-CN" altLang="en-US" sz="28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marL="355600" indent="-355600" algn="l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Char char="•"/>
              <a:defRPr/>
            </a:pPr>
            <a:r>
              <a:rPr lang="zh-CN" altLang="en-US" sz="28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函数返回</a:t>
            </a:r>
            <a:r>
              <a:rPr lang="en-US" altLang="zh-CN" sz="28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 = </a:t>
            </a:r>
            <a:r>
              <a:rPr lang="zh-CN" altLang="en-US" sz="28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栈帧弹出</a:t>
            </a:r>
            <a:r>
              <a:rPr lang="en-US" altLang="zh-CN" sz="28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 + </a:t>
            </a:r>
            <a:r>
              <a:rPr lang="zh-CN" altLang="en-US" sz="28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销毁局部变量</a:t>
            </a:r>
            <a:r>
              <a:rPr lang="en-US" altLang="zh-CN" sz="28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 + </a:t>
            </a:r>
            <a:r>
              <a:rPr lang="zh-CN" altLang="en-US" sz="28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跳回调用方</a:t>
            </a:r>
            <a:endParaRPr lang="zh-CN" altLang="en-US" sz="28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marL="355600" indent="-355600" algn="l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Char char="•"/>
              <a:defRPr/>
            </a:pPr>
            <a:r>
              <a:rPr lang="zh-CN" altLang="en-US" sz="28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调用栈是</a:t>
            </a:r>
            <a:r>
              <a:rPr lang="en-US" altLang="zh-CN" sz="28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 “</a:t>
            </a:r>
            <a:r>
              <a:rPr lang="zh-CN" altLang="en-US" sz="28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先进后出</a:t>
            </a:r>
            <a:r>
              <a:rPr lang="en-US" altLang="zh-CN" sz="28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”</a:t>
            </a:r>
            <a:r>
              <a:rPr lang="zh-CN" altLang="en-US" sz="28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：最后调用的函数最先返回</a:t>
            </a:r>
            <a:endParaRPr lang="zh-CN" altLang="en-US" sz="28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2794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手动模拟：链表反转递归栈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609600" y="1270000"/>
            <a:ext cx="5334000" cy="482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1. 递归深入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33333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调用 reverse(head)。若 head 或 head.next 为空，则返回 head（基线条件）。否则，递归调用 reverse(head.next)。</a:t>
            </a:r>
            <a:endParaRPr lang="en-US" sz="1400" b="0" i="0" u="none" strike="noStrike">
              <a:solidFill>
                <a:srgbClr val="333333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indent="0" algn="l">
              <a:lnSpc>
                <a:spcPct val="125000"/>
              </a:lnSpc>
            </a:pPr>
          </a:p>
          <a:p>
            <a:pPr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333333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2. 到达基线</a:t>
            </a:r>
            <a:endParaRPr lang="en-US" sz="1400" b="1" i="0" u="none" strike="noStrike">
              <a:solidFill>
                <a:srgbClr val="333333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33333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递归一直深入到链表的最后一个节点，该节点成为新的头节点（new_head）。</a:t>
            </a:r>
            <a:endParaRPr lang="en-US" sz="1400" b="0" i="0" u="none" strike="noStrike">
              <a:solidFill>
                <a:srgbClr val="333333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indent="0" algn="l">
              <a:lnSpc>
                <a:spcPct val="125000"/>
              </a:lnSpc>
            </a:pPr>
          </a:p>
          <a:p>
            <a:pPr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333333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3. 回溯反转</a:t>
            </a:r>
            <a:endParaRPr lang="en-US" sz="1400" b="1" i="0" u="none" strike="noStrike">
              <a:solidFill>
                <a:srgbClr val="333333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33333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在递归返回过程中，执行：</a:t>
            </a:r>
            <a:endParaRPr lang="en-US" sz="1400" b="0" i="0" u="none" strike="noStrike">
              <a:solidFill>
                <a:srgbClr val="333333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33333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• head.next.next = head</a:t>
            </a:r>
            <a:endParaRPr lang="en-US" sz="1400" b="0" i="0" u="none" strike="noStrike">
              <a:solidFill>
                <a:srgbClr val="333333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33333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• head.next = None</a:t>
            </a:r>
            <a:endParaRPr lang="en-US" sz="1400" b="0" i="0" u="none" strike="noStrike">
              <a:solidFill>
                <a:srgbClr val="333333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33333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将当前节点的下一个节点的指针指向自己，实现局部反转。</a:t>
            </a:r>
            <a:endParaRPr lang="en-US" sz="1400" b="0" i="0" u="none" strike="noStrike">
              <a:solidFill>
                <a:srgbClr val="333333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indent="0" algn="l">
              <a:lnSpc>
                <a:spcPct val="125000"/>
              </a:lnSpc>
            </a:pPr>
          </a:p>
          <a:p>
            <a:pPr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333333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4. 返回结果</a:t>
            </a:r>
            <a:endParaRPr lang="en-US" sz="1400" b="1" i="0" u="none" strike="noStrike">
              <a:solidFill>
                <a:srgbClr val="333333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33333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最终，new_head 作为反转后链表的头节点被返回。</a:t>
            </a:r>
            <a:endParaRPr lang="en-US" sz="1400" b="0" i="0" u="none" strike="noStrike">
              <a:solidFill>
                <a:srgbClr val="333333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6350000" y="1270000"/>
            <a:ext cx="5080000" cy="4826000"/>
          </a:xfrm>
          <a:prstGeom prst="roundRect">
            <a:avLst>
              <a:gd name="adj" fmla="val 0"/>
            </a:avLst>
          </a:prstGeom>
          <a:solidFill>
            <a:srgbClr val="F5F5F5">
              <a:alpha val="100000"/>
            </a:srgbClr>
          </a:solidFill>
          <a:ln w="12700" cap="flat" cmpd="sng">
            <a:solidFill>
              <a:srgbClr val="C8C8C8">
                <a:alpha val="100000"/>
              </a:srgbClr>
            </a:solidFill>
            <a:prstDash val="solid"/>
            <a:round/>
          </a:ln>
        </p:spPr>
        <p:txBody>
          <a:bodyPr vert="horz" wrap="square" lIns="0" tIns="25400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链表示意图</a:t>
            </a:r>
            <a:endParaRPr lang="en-US" sz="1100"/>
          </a:p>
          <a:p>
            <a:pPr indent="0" algn="ctr">
              <a:lnSpc>
                <a:spcPct val="125000"/>
              </a:lnSpc>
            </a:pPr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初始链表: 1 → 2 → 3 → 4 → None</a:t>
            </a:r>
            <a:endParaRPr lang="en-US" sz="14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indent="0" algn="ctr">
              <a:lnSpc>
                <a:spcPct val="125000"/>
              </a:lnSpc>
            </a:pPr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递归栈:</a:t>
            </a:r>
            <a:endParaRPr lang="en-US" sz="14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reverse(1)</a:t>
            </a:r>
            <a:endParaRPr lang="en-US" sz="14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reverse(2)</a:t>
            </a:r>
            <a:endParaRPr lang="en-US" sz="14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reverse(3)</a:t>
            </a:r>
            <a:endParaRPr lang="en-US" sz="14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reverse(4) → 返回 4 (new_head)</a:t>
            </a:r>
            <a:endParaRPr lang="en-US" sz="14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indent="0" algn="ctr">
              <a:lnSpc>
                <a:spcPct val="125000"/>
              </a:lnSpc>
            </a:pPr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回溯反转:</a:t>
            </a:r>
            <a:endParaRPr lang="en-US" sz="14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reverse(3): 4 → 3, 3 → None</a:t>
            </a:r>
            <a:endParaRPr lang="en-US" sz="14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reverse(2): 3 → 2, 2 → None</a:t>
            </a:r>
            <a:endParaRPr lang="en-US" sz="14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reverse(1): 2 → 1, 1 → None</a:t>
            </a:r>
            <a:endParaRPr lang="en-US" sz="14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indent="0" algn="ctr">
              <a:lnSpc>
                <a:spcPct val="125000"/>
              </a:lnSpc>
            </a:pPr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结果: 4 → 3 → 2 → 1 → None</a:t>
            </a:r>
            <a:endParaRPr lang="en-US" sz="14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r="3267" b="36263"/>
          <a:stretch>
            <a:fillRect/>
          </a:stretch>
        </p:blipFill>
        <p:spPr>
          <a:xfrm>
            <a:off x="9702800" y="279400"/>
            <a:ext cx="1879600" cy="147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609600" y="279400"/>
            <a:ext cx="44704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just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栈/队列健壮性加固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09600" y="1854200"/>
            <a:ext cx="4826000" cy="427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355600" indent="-355600" algn="l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Char char="•"/>
              <a:defRPr/>
            </a:pPr>
            <a:r>
              <a:rPr lang="zh-CN" altLang="en-US" sz="2800">
                <a:solidFill>
                  <a:srgbClr val="C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空出入栈、越界、类型错误</a:t>
            </a:r>
            <a:endParaRPr lang="en-US" sz="2800" b="0" i="0" u="none" strike="noStrike">
              <a:solidFill>
                <a:srgbClr val="C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marL="355600" indent="-355600" algn="l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Char char="•"/>
              <a:defRPr/>
            </a:pPr>
            <a:r>
              <a:rPr lang="en-US" sz="2800" b="0" i="0" u="none" strike="noStrike">
                <a:solidFill>
                  <a:srgbClr val="0070C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空操作</a:t>
            </a:r>
            <a:r>
              <a:rPr lang="zh-CN" altLang="en-US" sz="2800" b="0" i="0" u="none" strike="noStrike">
                <a:solidFill>
                  <a:srgbClr val="0070C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检查</a:t>
            </a:r>
            <a:r>
              <a:rPr lang="en-US" sz="2800" b="0" i="0" u="none" strike="noStrike">
                <a:solidFill>
                  <a:srgbClr val="0070C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、越界</a:t>
            </a:r>
            <a:r>
              <a:rPr lang="zh-CN" altLang="en-US" sz="2800" b="0" i="0" u="none" strike="noStrike">
                <a:solidFill>
                  <a:srgbClr val="0070C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检查</a:t>
            </a:r>
            <a:r>
              <a:rPr lang="en-US" sz="2800" b="0" i="0" u="none" strike="noStrike">
                <a:solidFill>
                  <a:srgbClr val="0070C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、参数校验</a:t>
            </a:r>
            <a:endParaRPr lang="en-US" sz="1100">
              <a:solidFill>
                <a:srgbClr val="0070C0"/>
              </a:solidFill>
            </a:endParaRPr>
          </a:p>
          <a:p>
            <a:pPr marL="355600" indent="-355600" algn="l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Char char="•"/>
            </a:pPr>
            <a:r>
              <a:rPr lang="zh-CN" altLang="en-US" sz="28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针对可能出现的异常场景，使用</a:t>
            </a:r>
            <a:r>
              <a:rPr lang="en-US" altLang="zh-CN" sz="28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try-except</a:t>
            </a:r>
            <a:r>
              <a:rPr lang="zh-CN" altLang="en-US" sz="28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语句捕获异常，避免程序直接崩溃</a:t>
            </a:r>
            <a:endParaRPr lang="zh-CN" altLang="en-US" sz="28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6096000" y="2794000"/>
            <a:ext cx="5080000" cy="2400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ts val="1800"/>
              </a:lnSpc>
              <a:defRPr/>
            </a:pPr>
            <a:r>
              <a:rPr lang="en-US" sz="1600" b="0" i="0" u="none" strike="noStrike">
                <a:solidFill>
                  <a:srgbClr val="008000"/>
                </a:solidFill>
                <a:latin typeface="JetBrains Maple Mono" panose="02000009000000000000" charset="-122"/>
                <a:ea typeface="JetBrains Maple Mono" panose="02000009000000000000" charset="-122"/>
                <a:cs typeface="JetBrains Maple Mono" panose="02000009000000000000" charset="-122"/>
                <a:sym typeface="JetBrains Maple Mono" panose="02000009000000000000" charset="-122"/>
              </a:rPr>
              <a:t># 加固版栈 pop 方法示例</a:t>
            </a:r>
            <a:endParaRPr lang="en-US" sz="1100"/>
          </a:p>
          <a:p>
            <a:pPr indent="0" algn="l">
              <a:lnSpc>
                <a:spcPts val="18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JetBrains Maple Mono" panose="02000009000000000000" charset="-122"/>
                <a:ea typeface="JetBrains Maple Mono" panose="02000009000000000000" charset="-122"/>
                <a:cs typeface="JetBrains Maple Mono" panose="02000009000000000000" charset="-122"/>
                <a:sym typeface="JetBrains Maple Mono" panose="02000009000000000000" charset="-122"/>
              </a:rPr>
              <a:t>def pop(self):</a:t>
            </a:r>
            <a:endParaRPr lang="en-US" sz="1600" b="0" i="0" u="none" strike="noStrike">
              <a:solidFill>
                <a:srgbClr val="000000"/>
              </a:solidFill>
              <a:latin typeface="JetBrains Maple Mono" panose="02000009000000000000" charset="-122"/>
              <a:ea typeface="JetBrains Maple Mono" panose="02000009000000000000" charset="-122"/>
              <a:cs typeface="JetBrains Maple Mono" panose="02000009000000000000" charset="-122"/>
              <a:sym typeface="JetBrains Maple Mono" panose="02000009000000000000" charset="-122"/>
            </a:endParaRPr>
          </a:p>
          <a:p>
            <a:pPr indent="0" algn="l">
              <a:lnSpc>
                <a:spcPts val="18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JetBrains Maple Mono" panose="02000009000000000000" charset="-122"/>
                <a:ea typeface="JetBrains Maple Mono" panose="02000009000000000000" charset="-122"/>
                <a:cs typeface="JetBrains Maple Mono" panose="02000009000000000000" charset="-122"/>
                <a:sym typeface="JetBrains Maple Mono" panose="02000009000000000000" charset="-122"/>
              </a:rPr>
              <a:t>  if self.is_empty():</a:t>
            </a:r>
            <a:endParaRPr lang="en-US" sz="1600" b="0" i="0" u="none" strike="noStrike">
              <a:solidFill>
                <a:srgbClr val="000000"/>
              </a:solidFill>
              <a:latin typeface="JetBrains Maple Mono" panose="02000009000000000000" charset="-122"/>
              <a:ea typeface="JetBrains Maple Mono" panose="02000009000000000000" charset="-122"/>
              <a:cs typeface="JetBrains Maple Mono" panose="02000009000000000000" charset="-122"/>
              <a:sym typeface="JetBrains Maple Mono" panose="02000009000000000000" charset="-122"/>
            </a:endParaRPr>
          </a:p>
          <a:p>
            <a:pPr indent="0" algn="l">
              <a:lnSpc>
                <a:spcPts val="18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JetBrains Maple Mono" panose="02000009000000000000" charset="-122"/>
                <a:ea typeface="JetBrains Maple Mono" panose="02000009000000000000" charset="-122"/>
                <a:cs typeface="JetBrains Maple Mono" panose="02000009000000000000" charset="-122"/>
                <a:sym typeface="JetBrains Maple Mono" panose="02000009000000000000" charset="-122"/>
              </a:rPr>
              <a:t>    raise </a:t>
            </a:r>
            <a:r>
              <a:rPr lang="en-US" sz="1600" b="0" i="0" u="none" strike="noStrike">
                <a:solidFill>
                  <a:srgbClr val="098658"/>
                </a:solidFill>
                <a:latin typeface="JetBrains Maple Mono" panose="02000009000000000000" charset="-122"/>
                <a:ea typeface="JetBrains Maple Mono" panose="02000009000000000000" charset="-122"/>
                <a:cs typeface="JetBrains Maple Mono" panose="02000009000000000000" charset="-122"/>
                <a:sym typeface="JetBrains Maple Mono" panose="02000009000000000000" charset="-122"/>
              </a:rPr>
              <a:t>ValueError</a:t>
            </a:r>
            <a:r>
              <a:rPr lang="en-US" sz="1600" b="0" i="0" u="none" strike="noStrike">
                <a:solidFill>
                  <a:srgbClr val="000000"/>
                </a:solidFill>
                <a:latin typeface="JetBrains Maple Mono" panose="02000009000000000000" charset="-122"/>
                <a:ea typeface="JetBrains Maple Mono" panose="02000009000000000000" charset="-122"/>
                <a:cs typeface="JetBrains Maple Mono" panose="02000009000000000000" charset="-122"/>
                <a:sym typeface="JetBrains Maple Mono" panose="02000009000000000000" charset="-122"/>
              </a:rPr>
              <a:t>(</a:t>
            </a:r>
            <a:r>
              <a:rPr lang="en-US" sz="1600" b="0" i="0" u="none" strike="noStrike">
                <a:solidFill>
                  <a:srgbClr val="098658"/>
                </a:solidFill>
                <a:latin typeface="JetBrains Maple Mono" panose="02000009000000000000" charset="-122"/>
                <a:ea typeface="JetBrains Maple Mono" panose="02000009000000000000" charset="-122"/>
                <a:cs typeface="JetBrains Maple Mono" panose="02000009000000000000" charset="-122"/>
                <a:sym typeface="JetBrains Maple Mono" panose="02000009000000000000" charset="-122"/>
              </a:rPr>
              <a:t>"栈为空，操作非法"</a:t>
            </a:r>
            <a:r>
              <a:rPr lang="en-US" sz="1600" b="0" i="0" u="none" strike="noStrike">
                <a:solidFill>
                  <a:srgbClr val="000000"/>
                </a:solidFill>
                <a:latin typeface="JetBrains Maple Mono" panose="02000009000000000000" charset="-122"/>
                <a:ea typeface="JetBrains Maple Mono" panose="02000009000000000000" charset="-122"/>
                <a:cs typeface="JetBrains Maple Mono" panose="02000009000000000000" charset="-122"/>
                <a:sym typeface="JetBrains Maple Mono" panose="02000009000000000000" charset="-122"/>
              </a:rPr>
              <a:t>)</a:t>
            </a:r>
            <a:endParaRPr lang="en-US" sz="1600" b="0" i="0" u="none" strike="noStrike">
              <a:solidFill>
                <a:srgbClr val="000000"/>
              </a:solidFill>
              <a:latin typeface="JetBrains Maple Mono" panose="02000009000000000000" charset="-122"/>
              <a:ea typeface="JetBrains Maple Mono" panose="02000009000000000000" charset="-122"/>
              <a:cs typeface="JetBrains Maple Mono" panose="02000009000000000000" charset="-122"/>
              <a:sym typeface="JetBrains Maple Mono" panose="02000009000000000000" charset="-122"/>
            </a:endParaRPr>
          </a:p>
          <a:p>
            <a:pPr indent="0" algn="l">
              <a:lnSpc>
                <a:spcPts val="18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JetBrains Maple Mono" panose="02000009000000000000" charset="-122"/>
                <a:ea typeface="JetBrains Maple Mono" panose="02000009000000000000" charset="-122"/>
                <a:cs typeface="JetBrains Maple Mono" panose="02000009000000000000" charset="-122"/>
                <a:sym typeface="JetBrains Maple Mono" panose="02000009000000000000" charset="-122"/>
              </a:rPr>
              <a:t>  return self.items.pop()</a:t>
            </a:r>
            <a:endParaRPr lang="en-US" sz="1600" b="0" i="0" u="none" strike="noStrike">
              <a:solidFill>
                <a:srgbClr val="000000"/>
              </a:solidFill>
              <a:latin typeface="JetBrains Maple Mono" panose="02000009000000000000" charset="-122"/>
              <a:ea typeface="JetBrains Maple Mono" panose="02000009000000000000" charset="-122"/>
              <a:cs typeface="JetBrains Maple Mono" panose="02000009000000000000" charset="-122"/>
              <a:sym typeface="JetBrains Maple Mono" panose="02000009000000000000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r="3267" b="36263"/>
          <a:stretch>
            <a:fillRect/>
          </a:stretch>
        </p:blipFill>
        <p:spPr>
          <a:xfrm>
            <a:off x="9702800" y="279400"/>
            <a:ext cx="1879600" cy="147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609600" y="279400"/>
            <a:ext cx="44704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just">
              <a:lnSpc>
                <a:spcPct val="100000"/>
              </a:lnSpc>
              <a:defRPr/>
            </a:pPr>
            <a:r>
              <a:rPr lang="en-US" sz="3200"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</a:rPr>
              <a:t>Fail Fast 原则</a:t>
            </a:r>
            <a:endParaRPr lang="en-US" sz="3200"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609600" y="1854200"/>
            <a:ext cx="4826000" cy="427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355600" indent="-355600" algn="l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Char char="•"/>
              <a:defRPr/>
            </a:pPr>
            <a:r>
              <a:rPr lang="zh-CN" altLang="en-US" sz="28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程序在检测到非法操作或异常状态时，立即停止执行，抛出异常，而不是继续运行并产生更严重的后果（如数据错乱、内存泄漏）</a:t>
            </a:r>
            <a:endParaRPr lang="zh-CN" altLang="en-US" sz="28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6096000" y="2228850"/>
            <a:ext cx="5080000" cy="2400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200000"/>
              </a:lnSpc>
              <a:defRPr/>
            </a:pPr>
            <a:r>
              <a:rPr lang="zh-CN" altLang="en-US" sz="24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JetBrains Maple Mono" panose="02000009000000000000" charset="-122"/>
                <a:sym typeface="JetBrains Maple Mono" panose="02000009000000000000" charset="-122"/>
              </a:rPr>
              <a:t>快速定位问题，减少异常扩散，降低排查成本；避免错误数据进入容器，保证数据一致性。</a:t>
            </a:r>
            <a:endParaRPr lang="zh-CN" altLang="en-US" sz="24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JetBrains Maple Mono" panose="02000009000000000000" charset="-122"/>
              <a:sym typeface="JetBrains Maple Mono" panose="02000009000000000000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r="3267" b="36263"/>
          <a:stretch>
            <a:fillRect/>
          </a:stretch>
        </p:blipFill>
        <p:spPr>
          <a:xfrm>
            <a:off x="9702800" y="279400"/>
            <a:ext cx="1879600" cy="147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609600" y="279400"/>
            <a:ext cx="91186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just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工程最佳实践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09600" y="1854200"/>
            <a:ext cx="10972800" cy="427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304800" indent="-304800" algn="l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Char char="•"/>
              <a:defRPr/>
            </a:pPr>
            <a:r>
              <a:rPr lang="en-US" sz="24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算法用递归，生产用迭代</a:t>
            </a:r>
            <a:endParaRPr lang="en-US" sz="1100"/>
          </a:p>
          <a:p>
            <a:pPr marL="304800" indent="-304800" algn="l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工程使用</a:t>
            </a:r>
            <a:r>
              <a:rPr lang="zh-CN" altLang="en-US" sz="24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内置数据结构（例如</a:t>
            </a:r>
            <a:r>
              <a:rPr lang="en-US" altLang="zh-CN" sz="24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deque</a:t>
            </a:r>
            <a:r>
              <a:rPr lang="zh-CN" altLang="en-US" sz="24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（双向队列）</a:t>
            </a:r>
            <a:r>
              <a:rPr lang="zh-CN" altLang="en-US" sz="24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）</a:t>
            </a:r>
            <a:endParaRPr lang="zh-CN" altLang="en-US" sz="24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marL="762000" lvl="1" indent="-304800" algn="l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Char char="•"/>
            </a:pPr>
            <a:r>
              <a:rPr lang="zh-CN" altLang="en-US" sz="24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性能示例</a:t>
            </a:r>
            <a:endParaRPr lang="en-US" sz="24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marL="304800" indent="-304800" algn="l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Char char="•"/>
            </a:pPr>
            <a:r>
              <a:rPr lang="zh-CN" altLang="en-US" sz="24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在实际项目中，你会如何选择使用递归还是迭代</a:t>
            </a:r>
            <a:r>
              <a:rPr lang="en-US" sz="24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？</a:t>
            </a:r>
            <a:endParaRPr lang="en-US" sz="24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r="3267" b="36263"/>
          <a:stretch>
            <a:fillRect/>
          </a:stretch>
        </p:blipFill>
        <p:spPr>
          <a:xfrm>
            <a:off x="9702800" y="279400"/>
            <a:ext cx="1879600" cy="147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609600" y="279400"/>
            <a:ext cx="91186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just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工程最佳实践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09600" y="1854200"/>
            <a:ext cx="10972800" cy="427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304800" indent="-304800" algn="l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Char char="•"/>
              <a:defRPr/>
            </a:pPr>
            <a:r>
              <a:rPr lang="en-US" sz="24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算法用递归，生产用迭代</a:t>
            </a:r>
            <a:endParaRPr lang="en-US" sz="24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marL="304800" indent="-304800" algn="l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Char char="•"/>
              <a:defRPr/>
            </a:pPr>
            <a:endParaRPr lang="en-US" sz="1100"/>
          </a:p>
          <a:p>
            <a:pPr marL="304800" indent="-304800" algn="l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工程deque使用</a:t>
            </a:r>
            <a:endParaRPr lang="en-US" sz="24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marL="304800" indent="-304800" algn="l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Char char="•"/>
            </a:pPr>
            <a:r>
              <a:rPr lang="zh-CN" altLang="en-US" sz="24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在实际项目中，你会如何选择使用递归还是迭代</a:t>
            </a:r>
            <a:r>
              <a:rPr lang="en-US" sz="24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？</a:t>
            </a:r>
            <a:endParaRPr lang="en-US" sz="24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r="3267" b="36263"/>
          <a:stretch>
            <a:fillRect/>
          </a:stretch>
        </p:blipFill>
        <p:spPr>
          <a:xfrm>
            <a:off x="9702800" y="279400"/>
            <a:ext cx="1879600" cy="147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609600" y="279400"/>
            <a:ext cx="91186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just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工程最佳实践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09600" y="1854200"/>
            <a:ext cx="10972800" cy="427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304800" indent="-304800" algn="l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Char char="•"/>
              <a:defRPr/>
            </a:pPr>
            <a:r>
              <a:rPr lang="en-US" sz="24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算法用递归，生产用迭代</a:t>
            </a:r>
            <a:endParaRPr lang="en-US" sz="24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marL="304800" indent="-304800" algn="l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Char char="•"/>
              <a:defRPr/>
            </a:pPr>
            <a:r>
              <a:rPr lang="zh-CN" altLang="en-US" sz="24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健壮性是基础，工程实践则是提升开发效率、代码可维护性的关</a:t>
            </a:r>
            <a:r>
              <a:rPr lang="zh-CN" altLang="en-US" sz="24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键</a:t>
            </a:r>
            <a:endParaRPr lang="zh-CN" altLang="en-US" sz="24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marL="762000" lvl="1" indent="-304800" algn="l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Char char="•"/>
              <a:defRPr/>
            </a:pPr>
            <a:r>
              <a:rPr lang="zh-CN" altLang="en-US" sz="24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高频场景用迭代</a:t>
            </a:r>
            <a:r>
              <a:rPr lang="en-US" altLang="zh-CN" sz="24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 + </a:t>
            </a:r>
            <a:r>
              <a:rPr lang="zh-CN" altLang="en-US" sz="24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显式栈，避免递归深度过大导致的栈溢出，提升执行效率（减少函数调用开销）</a:t>
            </a:r>
            <a:endParaRPr lang="zh-CN" altLang="en-US" sz="24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marL="762000" lvl="1" indent="-304800" algn="l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Char char="•"/>
              <a:defRPr/>
            </a:pPr>
            <a:r>
              <a:rPr lang="zh-CN" altLang="en-US" sz="24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逻辑清晰用递归，加深度限制，使用递归，提升代码可读性（递归逻辑更贴近人类思维）</a:t>
            </a:r>
            <a:endParaRPr lang="zh-CN" altLang="en-US" sz="24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r="3267" b="36263"/>
          <a:stretch>
            <a:fillRect/>
          </a:stretch>
        </p:blipFill>
        <p:spPr>
          <a:xfrm>
            <a:off x="9702800" y="279400"/>
            <a:ext cx="1879600" cy="147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609600" y="279400"/>
            <a:ext cx="91186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just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工程最佳实践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09600" y="1854200"/>
            <a:ext cx="10972800" cy="427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304800" indent="-304800" algn="l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Char char="•"/>
              <a:defRPr/>
            </a:pPr>
            <a:r>
              <a:rPr lang="zh-CN" altLang="en-US" sz="24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统一接口，提升复用性</a:t>
            </a:r>
            <a:endParaRPr lang="zh-CN" altLang="en-US" sz="24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marL="304800" indent="-304800" algn="l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Char char="•"/>
              <a:defRPr/>
            </a:pPr>
            <a:r>
              <a:rPr lang="en-US" altLang="zh-CN" sz="24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push/</a:t>
            </a:r>
            <a:r>
              <a:rPr lang="en-US" altLang="zh-CN" sz="2400"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pop</a:t>
            </a:r>
            <a:endParaRPr lang="en-US" altLang="zh-CN" sz="2400"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marL="304800" indent="-304800" algn="l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Char char="•"/>
              <a:defRPr/>
            </a:pPr>
            <a:r>
              <a:rPr lang="en-US" altLang="zh-CN" sz="24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append/</a:t>
            </a:r>
            <a:r>
              <a:rPr lang="en-US" altLang="zh-CN" sz="24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pop</a:t>
            </a:r>
            <a:endParaRPr lang="en-US" altLang="zh-CN" sz="24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marL="304800" indent="-304800" algn="l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Char char="•"/>
              <a:defRPr/>
            </a:pPr>
            <a:r>
              <a:rPr lang="en-US" altLang="zh-CN" sz="24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put/get</a:t>
            </a:r>
            <a:endParaRPr lang="en-US" altLang="zh-CN" sz="24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marL="304800" indent="-304800" algn="l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Char char="•"/>
              <a:defRPr/>
            </a:pPr>
            <a:r>
              <a:rPr lang="en-US" altLang="zh-CN" sz="24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is_empt</a:t>
            </a:r>
            <a:r>
              <a:rPr lang="en-US" altLang="zh-CN" sz="24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y/len</a:t>
            </a:r>
            <a:endParaRPr lang="en-US" altLang="zh-CN" sz="24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marL="304800" indent="-304800" algn="l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Char char="•"/>
              <a:defRPr/>
            </a:pPr>
            <a:endParaRPr lang="en-US" altLang="zh-CN" sz="24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marL="304800" indent="-304800" algn="l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Char char="•"/>
              <a:defRPr/>
            </a:pPr>
            <a:r>
              <a:rPr lang="zh-CN" altLang="en-US" sz="24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试着自己定义基础类（不做</a:t>
            </a:r>
            <a:r>
              <a:rPr lang="zh-CN" altLang="en-US" sz="24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要求）</a:t>
            </a:r>
            <a:endParaRPr lang="zh-CN" altLang="en-US" sz="24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r="3267" b="36263"/>
          <a:stretch>
            <a:fillRect/>
          </a:stretch>
        </p:blipFill>
        <p:spPr>
          <a:xfrm>
            <a:off x="9702800" y="279400"/>
            <a:ext cx="1879600" cy="147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609600" y="279400"/>
            <a:ext cx="91186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just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工程最佳实践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09600" y="1854200"/>
            <a:ext cx="10972800" cy="427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304800" indent="-304800" algn="l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Char char="•"/>
            </a:pPr>
            <a:r>
              <a:rPr lang="zh-CN" altLang="en-US" sz="24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在实际项目中，你会如何选择使用递归还是迭代</a:t>
            </a:r>
            <a:r>
              <a:rPr lang="en-US" sz="24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？</a:t>
            </a:r>
            <a:endParaRPr lang="en-US" sz="24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r="3267" b="36263"/>
          <a:stretch>
            <a:fillRect/>
          </a:stretch>
        </p:blipFill>
        <p:spPr>
          <a:xfrm>
            <a:off x="9702800" y="279400"/>
            <a:ext cx="1879600" cy="147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609600" y="279400"/>
            <a:ext cx="91186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32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第4周全周总结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09600" y="1854200"/>
            <a:ext cx="10972800" cy="427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355600" indent="-355600" algn="l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Char char="•"/>
              <a:defRPr/>
            </a:pPr>
            <a:r>
              <a:rPr lang="en-US" sz="28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核心内容总结：</a:t>
            </a:r>
            <a:endParaRPr lang="en-US" sz="28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marL="812800" lvl="1" indent="-355600" algn="l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Char char="•"/>
              <a:defRPr/>
            </a:pPr>
            <a:r>
              <a:rPr lang="en-US" sz="28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栈LIFO、队列FIFO、</a:t>
            </a:r>
            <a:endParaRPr lang="en-US" sz="28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marL="812800" lvl="1" indent="-355600" algn="l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Char char="•"/>
              <a:defRPr/>
            </a:pPr>
            <a:r>
              <a:rPr lang="en-US" sz="28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递归=系统栈、迭代=手动栈</a:t>
            </a:r>
            <a:endParaRPr lang="en-US" sz="28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  <a:p>
            <a:pPr marL="812800" lvl="1" indent="-355600" algn="l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Char char="•"/>
              <a:defRPr/>
            </a:pPr>
            <a:r>
              <a:rPr lang="en-US" sz="2800" b="0" i="0" u="none" strike="noStrike">
                <a:solidFill>
                  <a:srgbClr val="000000"/>
                </a:solidFill>
                <a:latin typeface="Microsoft YaHei" panose="020B0502040204020203" charset="-122"/>
                <a:ea typeface="Microsoft YaHei" panose="020B0502040204020203" charset="-122"/>
                <a:cs typeface="Microsoft YaHei" panose="020B0502040204020203" charset="-122"/>
                <a:sym typeface="Microsoft YaHei" panose="020B0502040204020203" charset="-122"/>
              </a:rPr>
              <a:t>注重工程健壮性</a:t>
            </a:r>
            <a:endParaRPr lang="en-US" sz="1100"/>
          </a:p>
          <a:p>
            <a:pPr marL="355600" indent="-355600" algn="l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Char char="•"/>
            </a:pPr>
            <a:endParaRPr lang="en-US" sz="2800" b="0" i="0" u="none" strike="noStrike">
              <a:solidFill>
                <a:srgbClr val="000000"/>
              </a:solidFill>
              <a:latin typeface="Microsoft YaHei" panose="020B0502040204020203" charset="-122"/>
              <a:ea typeface="Microsoft YaHei" panose="020B0502040204020203" charset="-122"/>
              <a:cs typeface="Microsoft YaHei" panose="020B0502040204020203" charset="-122"/>
              <a:sym typeface="Microsoft YaHei" panose="020B0502040204020203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作业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完成以下场景的递归实现并转换为迭代实现</a:t>
            </a:r>
            <a:r>
              <a:rPr lang="zh-CN" altLang="en-US" b="1">
                <a:solidFill>
                  <a:srgbClr val="C00000"/>
                </a:solidFill>
              </a:rPr>
              <a:t>（任选其一）</a:t>
            </a:r>
            <a:endParaRPr lang="zh-CN" altLang="en-US" b="1">
              <a:solidFill>
                <a:srgbClr val="C00000"/>
              </a:solidFill>
            </a:endParaRPr>
          </a:p>
          <a:p>
            <a:r>
              <a:rPr lang="zh-CN" altLang="en-US" sz="2000">
                <a:solidFill>
                  <a:schemeClr val="tx1"/>
                </a:solidFill>
              </a:rPr>
              <a:t>场景</a:t>
            </a:r>
            <a:r>
              <a:rPr lang="en-US" altLang="zh-CN" sz="2000">
                <a:solidFill>
                  <a:schemeClr val="tx1"/>
                </a:solidFill>
              </a:rPr>
              <a:t> 1</a:t>
            </a:r>
            <a:r>
              <a:rPr lang="zh-CN" altLang="en-US" sz="2000">
                <a:solidFill>
                  <a:schemeClr val="tx1"/>
                </a:solidFill>
              </a:rPr>
              <a:t>：二叉树路径求和（寻找所有根到叶子和为目标</a:t>
            </a:r>
            <a:r>
              <a:rPr lang="zh-CN" altLang="en-US" sz="2000">
                <a:solidFill>
                  <a:schemeClr val="tx1"/>
                </a:solidFill>
              </a:rPr>
              <a:t>值的路径）</a:t>
            </a:r>
            <a:endParaRPr lang="zh-CN" altLang="en-US" sz="2000">
              <a:solidFill>
                <a:schemeClr val="tx1"/>
              </a:solidFill>
            </a:endParaRPr>
          </a:p>
          <a:p>
            <a:pPr lvl="1"/>
            <a:r>
              <a:rPr lang="zh-CN" altLang="en-US" sz="1710">
                <a:solidFill>
                  <a:schemeClr val="tx1"/>
                </a:solidFill>
              </a:rPr>
              <a:t>递归：天然深度优先，用系统栈保存路径</a:t>
            </a:r>
            <a:endParaRPr lang="zh-CN" altLang="en-US" sz="1710">
              <a:solidFill>
                <a:schemeClr val="tx1"/>
              </a:solidFill>
            </a:endParaRPr>
          </a:p>
          <a:p>
            <a:pPr lvl="1"/>
            <a:r>
              <a:rPr lang="zh-CN" altLang="en-US" sz="1710">
                <a:solidFill>
                  <a:schemeClr val="tx1"/>
                </a:solidFill>
              </a:rPr>
              <a:t>迭代：手动用栈模拟递归栈帧（存节点</a:t>
            </a:r>
            <a:r>
              <a:rPr lang="en-US" altLang="zh-CN" sz="1710">
                <a:solidFill>
                  <a:schemeClr val="tx1"/>
                </a:solidFill>
              </a:rPr>
              <a:t> + </a:t>
            </a:r>
            <a:r>
              <a:rPr lang="zh-CN" altLang="en-US" sz="1710">
                <a:solidFill>
                  <a:schemeClr val="tx1"/>
                </a:solidFill>
              </a:rPr>
              <a:t>当前路径</a:t>
            </a:r>
            <a:r>
              <a:rPr lang="en-US" altLang="zh-CN" sz="1710">
                <a:solidFill>
                  <a:schemeClr val="tx1"/>
                </a:solidFill>
              </a:rPr>
              <a:t> + </a:t>
            </a:r>
            <a:r>
              <a:rPr lang="zh-CN" altLang="en-US" sz="1710">
                <a:solidFill>
                  <a:schemeClr val="tx1"/>
                </a:solidFill>
              </a:rPr>
              <a:t>当前和）</a:t>
            </a:r>
            <a:endParaRPr lang="zh-CN" altLang="en-US" sz="1710">
              <a:solidFill>
                <a:schemeClr val="tx1"/>
              </a:solidFill>
            </a:endParaRPr>
          </a:p>
          <a:p>
            <a:r>
              <a:rPr lang="zh-CN" altLang="en-US" sz="2000">
                <a:solidFill>
                  <a:schemeClr val="tx1"/>
                </a:solidFill>
              </a:rPr>
              <a:t>场景</a:t>
            </a:r>
            <a:r>
              <a:rPr lang="en-US" altLang="zh-CN" sz="2000">
                <a:solidFill>
                  <a:schemeClr val="tx1"/>
                </a:solidFill>
              </a:rPr>
              <a:t> 2</a:t>
            </a:r>
            <a:r>
              <a:rPr lang="zh-CN" altLang="en-US" sz="2000">
                <a:solidFill>
                  <a:schemeClr val="tx1"/>
                </a:solidFill>
              </a:rPr>
              <a:t>：表达式求值（带括号</a:t>
            </a:r>
            <a:r>
              <a:rPr lang="en-US" altLang="zh-CN" sz="2000">
                <a:solidFill>
                  <a:schemeClr val="tx1"/>
                </a:solidFill>
              </a:rPr>
              <a:t> + </a:t>
            </a:r>
            <a:r>
              <a:rPr lang="zh-CN" altLang="en-US" sz="2000">
                <a:solidFill>
                  <a:schemeClr val="tx1"/>
                </a:solidFill>
              </a:rPr>
              <a:t>加减乘除）</a:t>
            </a:r>
            <a:endParaRPr lang="zh-CN" altLang="en-US" sz="2000">
              <a:solidFill>
                <a:schemeClr val="tx1"/>
              </a:solidFill>
            </a:endParaRPr>
          </a:p>
          <a:p>
            <a:pPr lvl="1"/>
            <a:r>
              <a:rPr lang="zh-CN" altLang="en-US" sz="1710">
                <a:solidFill>
                  <a:schemeClr val="tx1"/>
                </a:solidFill>
              </a:rPr>
              <a:t>递归：按运算符优先级分治拆解表达式</a:t>
            </a:r>
            <a:endParaRPr lang="zh-CN" altLang="en-US" sz="1710">
              <a:solidFill>
                <a:schemeClr val="tx1"/>
              </a:solidFill>
            </a:endParaRPr>
          </a:p>
          <a:p>
            <a:pPr lvl="1"/>
            <a:r>
              <a:rPr lang="zh-CN" altLang="en-US" sz="1710">
                <a:solidFill>
                  <a:schemeClr val="tx1"/>
                </a:solidFill>
              </a:rPr>
              <a:t>迭代：双栈（数字栈</a:t>
            </a:r>
            <a:r>
              <a:rPr lang="en-US" altLang="zh-CN" sz="1710">
                <a:solidFill>
                  <a:schemeClr val="tx1"/>
                </a:solidFill>
              </a:rPr>
              <a:t> + </a:t>
            </a:r>
            <a:r>
              <a:rPr lang="zh-CN" altLang="en-US" sz="1710">
                <a:solidFill>
                  <a:schemeClr val="tx1"/>
                </a:solidFill>
              </a:rPr>
              <a:t>符号栈）模拟递归过程</a:t>
            </a:r>
            <a:endParaRPr lang="zh-CN" altLang="en-US" sz="1710">
              <a:solidFill>
                <a:schemeClr val="tx1"/>
              </a:solidFill>
            </a:endParaRPr>
          </a:p>
          <a:p>
            <a:r>
              <a:rPr lang="zh-CN" altLang="en-US" sz="2000">
                <a:solidFill>
                  <a:schemeClr val="tx1"/>
                </a:solidFill>
              </a:rPr>
              <a:t>场景</a:t>
            </a:r>
            <a:r>
              <a:rPr lang="en-US" altLang="zh-CN" sz="2000">
                <a:solidFill>
                  <a:schemeClr val="tx1"/>
                </a:solidFill>
              </a:rPr>
              <a:t> 3</a:t>
            </a:r>
            <a:r>
              <a:rPr lang="zh-CN" altLang="en-US" sz="2000">
                <a:solidFill>
                  <a:schemeClr val="tx1"/>
                </a:solidFill>
              </a:rPr>
              <a:t>：子集生成（所有不重复子集，</a:t>
            </a:r>
            <a:r>
              <a:rPr lang="zh-CN" altLang="en-US" sz="2000">
                <a:solidFill>
                  <a:schemeClr val="tx1"/>
                </a:solidFill>
              </a:rPr>
              <a:t>需要去重）</a:t>
            </a:r>
            <a:endParaRPr lang="zh-CN" altLang="en-US" sz="2000">
              <a:solidFill>
                <a:schemeClr val="tx1"/>
              </a:solidFill>
            </a:endParaRPr>
          </a:p>
          <a:p>
            <a:pPr lvl="1"/>
            <a:r>
              <a:rPr lang="zh-CN" altLang="en-US" sz="1710">
                <a:solidFill>
                  <a:schemeClr val="tx1"/>
                </a:solidFill>
              </a:rPr>
              <a:t>递归：回溯法枚举所有选择</a:t>
            </a:r>
            <a:endParaRPr lang="zh-CN" altLang="en-US" sz="1710">
              <a:solidFill>
                <a:schemeClr val="tx1"/>
              </a:solidFill>
            </a:endParaRPr>
          </a:p>
          <a:p>
            <a:pPr lvl="1"/>
            <a:r>
              <a:rPr lang="zh-CN" altLang="en-US" sz="1710">
                <a:solidFill>
                  <a:schemeClr val="tx1"/>
                </a:solidFill>
              </a:rPr>
              <a:t>迭代：循环</a:t>
            </a:r>
            <a:r>
              <a:rPr lang="en-US" altLang="zh-CN" sz="1710">
                <a:solidFill>
                  <a:schemeClr val="tx1"/>
                </a:solidFill>
              </a:rPr>
              <a:t> + </a:t>
            </a:r>
            <a:r>
              <a:rPr lang="zh-CN" altLang="en-US" sz="1710">
                <a:solidFill>
                  <a:schemeClr val="tx1"/>
                </a:solidFill>
              </a:rPr>
              <a:t>栈模拟回溯状态，避免系统栈溢出</a:t>
            </a:r>
            <a:endParaRPr lang="zh-CN" altLang="en-US" sz="1710">
              <a:solidFill>
                <a:schemeClr val="tx1"/>
              </a:solidFill>
            </a:endParaRPr>
          </a:p>
          <a:p>
            <a:endParaRPr lang="zh-CN" altLang="en-US" sz="171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6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7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8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9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10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复旦">
  <a:themeElements>
    <a:clrScheme name="默认设计模板 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99CCFF"/>
      </a:accent1>
      <a:accent2>
        <a:srgbClr val="CCCCFF"/>
      </a:accent2>
      <a:accent3>
        <a:srgbClr val="FFFFFF"/>
      </a:accent3>
      <a:accent4>
        <a:srgbClr val="000000"/>
      </a:accent4>
      <a:accent5>
        <a:srgbClr val="CAE2FF"/>
      </a:accent5>
      <a:accent6>
        <a:srgbClr val="B9B9E7"/>
      </a:accent6>
      <a:hlink>
        <a:srgbClr val="3333CC"/>
      </a:hlink>
      <a:folHlink>
        <a:srgbClr val="AF67FF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6344</Words>
  <Application>WPS 演示</Application>
  <PresentationFormat/>
  <Paragraphs>461</Paragraphs>
  <Slides>39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13</vt:i4>
      </vt:variant>
      <vt:variant>
        <vt:lpstr>幻灯片标题</vt:lpstr>
      </vt:variant>
      <vt:variant>
        <vt:i4>39</vt:i4>
      </vt:variant>
    </vt:vector>
  </HeadingPairs>
  <TitlesOfParts>
    <vt:vector size="69" baseType="lpstr">
      <vt:lpstr>Arial</vt:lpstr>
      <vt:lpstr>宋体</vt:lpstr>
      <vt:lpstr>Wingdings</vt:lpstr>
      <vt:lpstr>Arial</vt:lpstr>
      <vt:lpstr>Microsoft YaHei</vt:lpstr>
      <vt:lpstr>苹方-简</vt:lpstr>
      <vt:lpstr>JetBrains Maple Mono</vt:lpstr>
      <vt:lpstr>Noto Sans SC</vt:lpstr>
      <vt:lpstr>Thonburi</vt:lpstr>
      <vt:lpstr>微软雅黑</vt:lpstr>
      <vt:lpstr>Arial Unicode MS</vt:lpstr>
      <vt:lpstr>Microsoft YaHei Regular</vt:lpstr>
      <vt:lpstr>JetBrains Mono</vt:lpstr>
      <vt:lpstr>JetBrains Mono</vt:lpstr>
      <vt:lpstr>Noto Sans SC</vt:lpstr>
      <vt:lpstr>Apple Color Emoji</vt:lpstr>
      <vt:lpstr>Calibri</vt:lpstr>
      <vt:lpstr>默认主题</vt:lpstr>
      <vt:lpstr>1_默认主题</vt:lpstr>
      <vt:lpstr>2_默认主题</vt:lpstr>
      <vt:lpstr>3_默认主题</vt:lpstr>
      <vt:lpstr>5_默认主题</vt:lpstr>
      <vt:lpstr>6_默认主题</vt:lpstr>
      <vt:lpstr>7_默认主题</vt:lpstr>
      <vt:lpstr>8_默认主题</vt:lpstr>
      <vt:lpstr>9_默认主题</vt:lpstr>
      <vt:lpstr>10_默认主题</vt:lpstr>
      <vt:lpstr>11_默认主题</vt:lpstr>
      <vt:lpstr>12_默认主题</vt:lpstr>
      <vt:lpstr>复旦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刘百祥</cp:lastModifiedBy>
  <cp:revision>107</cp:revision>
  <dcterms:created xsi:type="dcterms:W3CDTF">2026-03-26T07:48:56Z</dcterms:created>
  <dcterms:modified xsi:type="dcterms:W3CDTF">2026-03-26T07:48:56Z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E6D2ED79F181E07A2006C46939C3CCC9_42</vt:lpwstr>
  </property>
  <property fmtid="{D5CDD505-2E9C-101B-9397-08002B2CF9AE}" pid="3" name="KSOProductBuildVer">
    <vt:lpwstr>2052-12.1.24709.24709</vt:lpwstr>
  </property>
</Properties>
</file>