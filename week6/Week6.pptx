
<file path=[Content_Types].xml><?xml version="1.0" encoding="utf-8"?>
<Types xmlns="http://schemas.openxmlformats.org/package/2006/content-types">
  <Default Extension="png" ContentType="image/png"/>
  <Default Extension="tiff" ContentType="image/tif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handoutMasterIdLst>
    <p:handoutMasterId r:id="rId57"/>
  </p:handoutMasterIdLst>
  <p:sldIdLst>
    <p:sldId id="256" r:id="rId3"/>
    <p:sldId id="285" r:id="rId4"/>
    <p:sldId id="299" r:id="rId5"/>
    <p:sldId id="286" r:id="rId6"/>
    <p:sldId id="287" r:id="rId7"/>
    <p:sldId id="288" r:id="rId8"/>
    <p:sldId id="289" r:id="rId9"/>
    <p:sldId id="290" r:id="rId10"/>
    <p:sldId id="291" r:id="rId11"/>
    <p:sldId id="293" r:id="rId12"/>
    <p:sldId id="294" r:id="rId13"/>
    <p:sldId id="295" r:id="rId14"/>
    <p:sldId id="297" r:id="rId15"/>
    <p:sldId id="311" r:id="rId16"/>
    <p:sldId id="298" r:id="rId17"/>
    <p:sldId id="312" r:id="rId18"/>
    <p:sldId id="300" r:id="rId20"/>
    <p:sldId id="301" r:id="rId21"/>
    <p:sldId id="321" r:id="rId22"/>
    <p:sldId id="303" r:id="rId23"/>
    <p:sldId id="320" r:id="rId24"/>
    <p:sldId id="302" r:id="rId25"/>
    <p:sldId id="323" r:id="rId26"/>
    <p:sldId id="324" r:id="rId27"/>
    <p:sldId id="325" r:id="rId28"/>
    <p:sldId id="279" r:id="rId29"/>
    <p:sldId id="344" r:id="rId30"/>
    <p:sldId id="304" r:id="rId31"/>
    <p:sldId id="305" r:id="rId32"/>
    <p:sldId id="307" r:id="rId33"/>
    <p:sldId id="308" r:id="rId34"/>
    <p:sldId id="306" r:id="rId35"/>
    <p:sldId id="313" r:id="rId36"/>
    <p:sldId id="310" r:id="rId37"/>
    <p:sldId id="314" r:id="rId38"/>
    <p:sldId id="333" r:id="rId39"/>
    <p:sldId id="334" r:id="rId40"/>
    <p:sldId id="315" r:id="rId41"/>
    <p:sldId id="326" r:id="rId42"/>
    <p:sldId id="335" r:id="rId43"/>
    <p:sldId id="336" r:id="rId44"/>
    <p:sldId id="340" r:id="rId45"/>
    <p:sldId id="341" r:id="rId46"/>
    <p:sldId id="342" r:id="rId47"/>
    <p:sldId id="343" r:id="rId48"/>
    <p:sldId id="337" r:id="rId49"/>
    <p:sldId id="338" r:id="rId50"/>
    <p:sldId id="339" r:id="rId51"/>
    <p:sldId id="309" r:id="rId52"/>
    <p:sldId id="316" r:id="rId53"/>
    <p:sldId id="318" r:id="rId54"/>
    <p:sldId id="319" r:id="rId55"/>
    <p:sldId id="345" r:id="rId5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0" Type="http://schemas.openxmlformats.org/officeDocument/2006/relationships/tableStyles" Target="tableStyles.xml"/><Relationship Id="rId6" Type="http://schemas.openxmlformats.org/officeDocument/2006/relationships/slide" Target="slides/slide4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handoutMaster" Target="handoutMasters/handoutMaster1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  <a:p>
            <a:r>
              <a:rPr lang="zh-CN" altLang="en-US"/>
              <a:t>主串为：</a:t>
            </a:r>
            <a:r>
              <a:rPr lang="en-US" altLang="zh-CN"/>
              <a:t>"ABABABCABABABD"</a:t>
            </a:r>
            <a:endParaRPr lang="en-US" altLang="zh-CN"/>
          </a:p>
          <a:p>
            <a:r>
              <a:rPr lang="zh-CN" altLang="en-US"/>
              <a:t>模式为：</a:t>
            </a:r>
            <a:r>
              <a:rPr lang="en-US" altLang="zh-CN"/>
              <a:t>"ABABD"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普通暴力匹配（</a:t>
            </a:r>
            <a:r>
              <a:rPr lang="en-US" altLang="zh-CN"/>
              <a:t>BF</a:t>
            </a:r>
            <a:r>
              <a:rPr lang="zh-CN" altLang="en-US"/>
              <a:t>算法）</a:t>
            </a:r>
            <a:r>
              <a:rPr lang="en-US" altLang="zh-CN"/>
              <a:t>‌</a:t>
            </a:r>
            <a:r>
              <a:rPr lang="zh-CN" altLang="en-US"/>
              <a:t>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(1) </a:t>
            </a:r>
            <a:r>
              <a:rPr lang="zh-CN" altLang="en-US"/>
              <a:t>主串和模式串从头开始对比：</a:t>
            </a:r>
            <a:r>
              <a:rPr lang="en-US" altLang="zh-CN"/>
              <a:t> ABABA</a:t>
            </a:r>
            <a:r>
              <a:rPr lang="zh-CN" altLang="en-US"/>
              <a:t>（主串）</a:t>
            </a:r>
            <a:r>
              <a:rPr lang="en-US" altLang="zh-CN"/>
              <a:t> vs ABABD</a:t>
            </a:r>
            <a:r>
              <a:rPr lang="zh-CN" altLang="en-US"/>
              <a:t>（模式串）</a:t>
            </a:r>
            <a:r>
              <a:rPr lang="en-US" altLang="zh-CN"/>
              <a:t> </a:t>
            </a:r>
            <a:r>
              <a:rPr lang="zh-CN" altLang="en-US"/>
              <a:t>，发现</a:t>
            </a:r>
            <a:r>
              <a:rPr lang="en-US" altLang="zh-CN"/>
              <a:t> </a:t>
            </a:r>
            <a:r>
              <a:rPr lang="zh-CN" altLang="en-US"/>
              <a:t>前</a:t>
            </a:r>
            <a:r>
              <a:rPr lang="en-US" altLang="zh-CN"/>
              <a:t>4</a:t>
            </a:r>
            <a:r>
              <a:rPr lang="zh-CN" altLang="en-US"/>
              <a:t>个字符</a:t>
            </a:r>
            <a:r>
              <a:rPr lang="en-US" altLang="zh-CN"/>
              <a:t>ABAB</a:t>
            </a:r>
            <a:r>
              <a:rPr lang="zh-CN" altLang="en-US"/>
              <a:t>匹配，但第</a:t>
            </a:r>
            <a:r>
              <a:rPr lang="en-US" altLang="zh-CN"/>
              <a:t>5</a:t>
            </a:r>
            <a:r>
              <a:rPr lang="zh-CN" altLang="en-US"/>
              <a:t>个字符</a:t>
            </a:r>
            <a:r>
              <a:rPr lang="en-US" altLang="zh-CN"/>
              <a:t>A</a:t>
            </a:r>
            <a:r>
              <a:rPr lang="zh-CN" altLang="en-US"/>
              <a:t>（主串）</a:t>
            </a:r>
            <a:r>
              <a:rPr lang="en-US" altLang="zh-CN"/>
              <a:t>≠ D</a:t>
            </a:r>
            <a:r>
              <a:rPr lang="zh-CN" altLang="en-US"/>
              <a:t>（模式串），所以，匹配失败。</a:t>
            </a:r>
            <a:endParaRPr lang="zh-CN" altLang="en-US"/>
          </a:p>
          <a:p>
            <a:r>
              <a:rPr lang="en-US" altLang="zh-CN"/>
              <a:t>(2) </a:t>
            </a:r>
            <a:r>
              <a:rPr lang="zh-CN" altLang="en-US"/>
              <a:t>暴力法会</a:t>
            </a:r>
            <a:r>
              <a:rPr lang="en-US" altLang="zh-CN"/>
              <a:t>‌</a:t>
            </a:r>
            <a:r>
              <a:rPr lang="zh-CN" altLang="en-US"/>
              <a:t>回退</a:t>
            </a:r>
            <a:r>
              <a:rPr lang="en-US" altLang="zh-CN"/>
              <a:t>‌</a:t>
            </a:r>
            <a:r>
              <a:rPr lang="zh-CN" altLang="en-US"/>
              <a:t>：主串从第</a:t>
            </a:r>
            <a:r>
              <a:rPr lang="en-US" altLang="zh-CN"/>
              <a:t>2</a:t>
            </a:r>
            <a:r>
              <a:rPr lang="zh-CN" altLang="en-US"/>
              <a:t>个字符</a:t>
            </a:r>
            <a:r>
              <a:rPr lang="en-US" altLang="zh-CN"/>
              <a:t>B</a:t>
            </a:r>
            <a:r>
              <a:rPr lang="zh-CN" altLang="en-US"/>
              <a:t>开始重新对比，模式串从头开始。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‌KMP</a:t>
            </a:r>
            <a:r>
              <a:rPr lang="zh-CN" altLang="en-US"/>
              <a:t>的做法</a:t>
            </a:r>
            <a:r>
              <a:rPr lang="en-US" altLang="zh-CN"/>
              <a:t>‌</a:t>
            </a:r>
            <a:r>
              <a:rPr lang="zh-CN" altLang="en-US"/>
              <a:t>：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1</a:t>
            </a:r>
            <a:r>
              <a:rPr lang="zh-CN" altLang="en-US"/>
              <a:t>、发现前</a:t>
            </a:r>
            <a:r>
              <a:rPr lang="en-US" altLang="zh-CN"/>
              <a:t>4</a:t>
            </a:r>
            <a:r>
              <a:rPr lang="zh-CN" altLang="en-US"/>
              <a:t>个字符</a:t>
            </a:r>
            <a:r>
              <a:rPr lang="en-US" altLang="zh-CN"/>
              <a:t>ABAB</a:t>
            </a:r>
            <a:r>
              <a:rPr lang="zh-CN" altLang="en-US"/>
              <a:t>匹配，但第</a:t>
            </a:r>
            <a:r>
              <a:rPr lang="en-US" altLang="zh-CN"/>
              <a:t>5</a:t>
            </a:r>
            <a:r>
              <a:rPr lang="zh-CN" altLang="en-US"/>
              <a:t>个字符失败时，</a:t>
            </a:r>
            <a:r>
              <a:rPr lang="en-US" altLang="zh-CN"/>
              <a:t>KMP</a:t>
            </a:r>
            <a:r>
              <a:rPr lang="zh-CN" altLang="en-US"/>
              <a:t>会问：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已匹配的</a:t>
            </a:r>
            <a:r>
              <a:rPr lang="en-US" altLang="zh-CN"/>
              <a:t>ABAB</a:t>
            </a:r>
            <a:r>
              <a:rPr lang="zh-CN" altLang="en-US"/>
              <a:t>中，</a:t>
            </a:r>
            <a:r>
              <a:rPr lang="en-US" altLang="zh-CN"/>
              <a:t>‌</a:t>
            </a:r>
            <a:r>
              <a:rPr lang="zh-CN" altLang="en-US"/>
              <a:t>最长的相同</a:t>
            </a:r>
            <a:r>
              <a:rPr lang="en-US" altLang="zh-CN"/>
              <a:t> </a:t>
            </a:r>
            <a:r>
              <a:rPr lang="zh-CN" altLang="en-US"/>
              <a:t>前后缀</a:t>
            </a:r>
            <a:r>
              <a:rPr lang="en-US" altLang="zh-CN"/>
              <a:t>‌</a:t>
            </a:r>
            <a:r>
              <a:rPr lang="zh-CN" altLang="en-US"/>
              <a:t>是什么？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ABAB </a:t>
            </a:r>
            <a:r>
              <a:rPr lang="zh-CN" altLang="en-US"/>
              <a:t>的前缀有：</a:t>
            </a:r>
            <a:r>
              <a:rPr lang="en-US" altLang="zh-CN"/>
              <a:t> A </a:t>
            </a:r>
            <a:r>
              <a:rPr lang="zh-CN" altLang="en-US"/>
              <a:t>、</a:t>
            </a:r>
            <a:r>
              <a:rPr lang="en-US" altLang="zh-CN"/>
              <a:t>AB</a:t>
            </a:r>
            <a:r>
              <a:rPr lang="zh-CN" altLang="en-US"/>
              <a:t>、</a:t>
            </a:r>
            <a:r>
              <a:rPr lang="en-US" altLang="zh-CN"/>
              <a:t> ABA </a:t>
            </a:r>
            <a:r>
              <a:rPr lang="zh-CN" altLang="en-US"/>
              <a:t>；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ABAB </a:t>
            </a:r>
            <a:r>
              <a:rPr lang="zh-CN" altLang="en-US"/>
              <a:t>的后缀有：</a:t>
            </a:r>
            <a:r>
              <a:rPr lang="en-US" altLang="zh-CN"/>
              <a:t> B</a:t>
            </a:r>
            <a:r>
              <a:rPr lang="zh-CN" altLang="en-US"/>
              <a:t>、</a:t>
            </a:r>
            <a:r>
              <a:rPr lang="en-US" altLang="zh-CN"/>
              <a:t>AB</a:t>
            </a:r>
            <a:r>
              <a:rPr lang="zh-CN" altLang="en-US"/>
              <a:t>、</a:t>
            </a:r>
            <a:r>
              <a:rPr lang="en-US" altLang="zh-CN"/>
              <a:t>BAB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最长公共前后缀是</a:t>
            </a:r>
            <a:r>
              <a:rPr lang="en-US" altLang="zh-CN"/>
              <a:t>AB</a:t>
            </a:r>
            <a:r>
              <a:rPr lang="zh-CN" altLang="en-US"/>
              <a:t>，长度</a:t>
            </a:r>
            <a:r>
              <a:rPr lang="en-US" altLang="zh-CN"/>
              <a:t>=2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、直接让模式串的</a:t>
            </a:r>
            <a:r>
              <a:rPr lang="en-US" altLang="zh-CN"/>
              <a:t> AB </a:t>
            </a:r>
            <a:r>
              <a:rPr lang="zh-CN" altLang="en-US"/>
              <a:t>对齐</a:t>
            </a:r>
            <a:r>
              <a:rPr lang="en-US" altLang="zh-CN"/>
              <a:t> </a:t>
            </a:r>
            <a:r>
              <a:rPr lang="zh-CN" altLang="en-US"/>
              <a:t>主串已匹配部分的</a:t>
            </a:r>
            <a:r>
              <a:rPr lang="en-US" altLang="zh-CN"/>
              <a:t> AB , </a:t>
            </a:r>
            <a:r>
              <a:rPr lang="zh-CN" altLang="en-US"/>
              <a:t>跳过无效对比：</a:t>
            </a:r>
            <a:endParaRPr lang="zh-CN" altLang="en-US"/>
          </a:p>
          <a:p>
            <a:endParaRPr lang="en-US" altLang="zh-CN"/>
          </a:p>
          <a:p>
            <a:r>
              <a:rPr lang="zh-CN" altLang="en-US"/>
              <a:t>主串：</a:t>
            </a:r>
            <a:r>
              <a:rPr lang="en-US" altLang="zh-CN"/>
              <a:t>ABABABCABABABD  </a:t>
            </a:r>
            <a:endParaRPr lang="en-US" altLang="zh-CN"/>
          </a:p>
          <a:p>
            <a:r>
              <a:rPr lang="en-US" altLang="zh-CN"/>
              <a:t>           </a:t>
            </a:r>
            <a:r>
              <a:rPr lang="en-US" altLang="en-US"/>
              <a:t>↓</a:t>
            </a:r>
            <a:r>
              <a:rPr lang="en-US" altLang="zh-CN"/>
              <a:t>   </a:t>
            </a:r>
            <a:r>
              <a:rPr lang="zh-CN" altLang="en-US"/>
              <a:t>模式串从第</a:t>
            </a:r>
            <a:r>
              <a:rPr lang="en-US" altLang="zh-CN"/>
              <a:t>3</a:t>
            </a:r>
            <a:r>
              <a:rPr lang="zh-CN" altLang="en-US"/>
              <a:t>个字符继续匹配（</a:t>
            </a:r>
            <a:r>
              <a:rPr lang="en-US" altLang="zh-CN"/>
              <a:t>`ABABD`</a:t>
            </a:r>
            <a:r>
              <a:rPr lang="zh-CN" altLang="en-US"/>
              <a:t>的第</a:t>
            </a:r>
            <a:r>
              <a:rPr lang="en-US" altLang="zh-CN"/>
              <a:t>3</a:t>
            </a:r>
            <a:r>
              <a:rPr lang="zh-CN" altLang="en-US"/>
              <a:t>个字符</a:t>
            </a:r>
            <a:r>
              <a:rPr lang="en-US" altLang="zh-CN"/>
              <a:t>`A`</a:t>
            </a:r>
            <a:r>
              <a:rPr lang="zh-CN" altLang="en-US"/>
              <a:t>对齐主串</a:t>
            </a:r>
            <a:r>
              <a:rPr lang="en-US" altLang="zh-CN"/>
              <a:t>`C`</a:t>
            </a:r>
            <a:r>
              <a:rPr lang="zh-CN" altLang="en-US"/>
              <a:t>的位置）</a:t>
            </a:r>
            <a:r>
              <a:rPr lang="en-US" altLang="zh-CN"/>
              <a:t>  </a:t>
            </a:r>
            <a:endParaRPr lang="en-US" altLang="zh-CN"/>
          </a:p>
          <a:p>
            <a:r>
              <a:rPr lang="zh-CN" altLang="en-US"/>
              <a:t>模式串：</a:t>
            </a:r>
            <a:r>
              <a:rPr lang="en-US" altLang="zh-CN"/>
              <a:t>  ABABD</a:t>
            </a:r>
            <a:endParaRPr lang="en-US" altLang="zh-CN"/>
          </a:p>
          <a:p>
            <a:endParaRPr lang="zh-CN" altLang="en-US"/>
          </a:p>
          <a:p>
            <a:r>
              <a:rPr lang="zh-CN" altLang="en-US"/>
              <a:t>主串指针不后退</a:t>
            </a:r>
            <a:r>
              <a:rPr lang="en-US" altLang="zh-CN"/>
              <a:t>‌</a:t>
            </a:r>
            <a:r>
              <a:rPr lang="zh-CN" altLang="en-US"/>
              <a:t>，模式串利用</a:t>
            </a:r>
            <a:r>
              <a:rPr lang="en-US" altLang="zh-CN"/>
              <a:t>next</a:t>
            </a:r>
            <a:r>
              <a:rPr lang="zh-CN" altLang="en-US"/>
              <a:t>数组智能跳跃。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关键点</a:t>
            </a:r>
            <a:r>
              <a:rPr lang="en-US" altLang="zh-CN"/>
              <a:t>‌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 altLang="zh-CN"/>
              <a:t>next</a:t>
            </a:r>
            <a:r>
              <a:rPr lang="zh-CN" altLang="en-US"/>
              <a:t>数组记录模式串的</a:t>
            </a:r>
            <a:r>
              <a:rPr lang="en-US" altLang="zh-CN"/>
              <a:t>“</a:t>
            </a:r>
            <a:r>
              <a:rPr lang="zh-CN" altLang="en-US"/>
              <a:t>自相似性</a:t>
            </a:r>
            <a:r>
              <a:rPr lang="en-US" altLang="zh-CN"/>
              <a:t>”</a:t>
            </a:r>
            <a:r>
              <a:rPr lang="zh-CN" altLang="en-US"/>
              <a:t>（比如</a:t>
            </a:r>
            <a:r>
              <a:rPr lang="en-US" altLang="zh-CN"/>
              <a:t>ABAB</a:t>
            </a:r>
            <a:r>
              <a:rPr lang="zh-CN" altLang="en-US"/>
              <a:t>中</a:t>
            </a:r>
            <a:r>
              <a:rPr lang="en-US" altLang="zh-CN"/>
              <a:t>AB</a:t>
            </a:r>
            <a:r>
              <a:rPr lang="zh-CN" altLang="en-US"/>
              <a:t>重复）。</a:t>
            </a:r>
            <a:endParaRPr lang="zh-CN" altLang="en-US"/>
          </a:p>
          <a:p>
            <a:r>
              <a:rPr lang="zh-CN" altLang="en-US"/>
              <a:t>匹配失败时，模式串按</a:t>
            </a:r>
            <a:r>
              <a:rPr lang="en-US" altLang="zh-CN"/>
              <a:t>next</a:t>
            </a:r>
            <a:r>
              <a:rPr lang="zh-CN" altLang="en-US"/>
              <a:t>值滑动，主串永不回退。</a:t>
            </a:r>
            <a:endParaRPr lang="zh-CN" altLang="en-US"/>
          </a:p>
          <a:p>
            <a:r>
              <a:rPr lang="zh-CN" altLang="en-US"/>
              <a:t>就像用尺子量布时，发现一段花纹重复，直接跳过已知重复部分继续量，省时高效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9120027" cy="1455648"/>
          </a:xfrm>
        </p:spPr>
        <p:txBody>
          <a:bodyPr/>
          <a:lstStyle>
            <a:lvl1pPr algn="just">
              <a:defRPr sz="32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849348"/>
            <a:ext cx="10972800" cy="4276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 dirty="0"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773197"/>
            <a:ext cx="5384800" cy="43529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773197"/>
            <a:ext cx="5384800" cy="435296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773199"/>
            <a:ext cx="5386917" cy="5735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465797"/>
            <a:ext cx="5386917" cy="366036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773199"/>
            <a:ext cx="5389033" cy="5735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465797"/>
            <a:ext cx="5389033" cy="36603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E27C3970-F629-4164-8ED3-C6E3D19F5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7E03F02A-5DFD-446D-8B83-A8486F51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E27C3970-F629-4164-8ED3-C6E3D19F5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7E03F02A-5DFD-446D-8B83-A8486F51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609600" y="1600203"/>
            <a:ext cx="10972800" cy="4525963"/>
          </a:xfrm>
        </p:spPr>
        <p:txBody>
          <a:bodyPr/>
          <a:lstStyle/>
          <a:p>
            <a:pPr lvl="0"/>
            <a:r>
              <a:rPr lang="zh-CN" altLang="en-US" noProof="0"/>
              <a:t>单击图标添加表格</a:t>
            </a:r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fld id="{E27C3970-F629-4164-8ED3-C6E3D19F5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mtClean="0">
                <a:latin typeface="Calibri" panose="020F05020202040A0204" pitchFamily="34" charset="0"/>
              </a:defRPr>
            </a:lvl1pPr>
          </a:lstStyle>
          <a:p>
            <a:fld id="{7E03F02A-5DFD-446D-8B83-A8486F51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 latinLnBrk="0">
              <a:lnSpc>
                <a:spcPct val="150000"/>
              </a:lnSpc>
              <a:spcBef>
                <a:spcPts val="600"/>
              </a:spcBef>
              <a:buNone/>
              <a:defRPr kumimoji="1" lang="ja-JP" sz="2800" b="1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  <a:lvl2pPr marL="457200" indent="0" algn="ctr" latinLnBrk="0">
              <a:buNone/>
              <a:defRPr kumimoji="1" lang="ja-JP" sz="2000"/>
            </a:lvl2pPr>
            <a:lvl3pPr marL="914400" indent="0" algn="ctr" latinLnBrk="0">
              <a:buNone/>
              <a:defRPr kumimoji="1" lang="ja-JP" sz="1800"/>
            </a:lvl3pPr>
            <a:lvl4pPr marL="1371600" indent="0" algn="ctr" latinLnBrk="0">
              <a:buNone/>
              <a:defRPr kumimoji="1" lang="ja-JP" sz="1600"/>
            </a:lvl4pPr>
            <a:lvl5pPr marL="1828800" indent="0" algn="ctr" latinLnBrk="0">
              <a:buNone/>
              <a:defRPr kumimoji="1" lang="ja-JP" sz="1600"/>
            </a:lvl5pPr>
            <a:lvl6pPr marL="2286000" indent="0" algn="ctr" latinLnBrk="0">
              <a:buNone/>
              <a:defRPr kumimoji="1" lang="ja-JP" sz="1600"/>
            </a:lvl6pPr>
            <a:lvl7pPr marL="2743200" indent="0" algn="ctr" latinLnBrk="0">
              <a:buNone/>
              <a:defRPr kumimoji="1" lang="ja-JP" sz="1600"/>
            </a:lvl7pPr>
            <a:lvl8pPr marL="3200400" indent="0" algn="ctr" latinLnBrk="0">
              <a:buNone/>
              <a:defRPr kumimoji="1" lang="ja-JP" sz="1600"/>
            </a:lvl8pPr>
            <a:lvl9pPr marL="3657600" indent="0" algn="ctr" latinLnBrk="0">
              <a:buNone/>
              <a:defRPr kumimoji="1" lang="ja-JP"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ja-JP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4257673"/>
          </a:xfrm>
        </p:spPr>
        <p:txBody>
          <a:bodyPr anchor="b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3970-F629-4164-8ED3-C6E3D19F587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43798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i="1"/>
            </a:lvl1pPr>
          </a:lstStyle>
          <a:p>
            <a:fld id="{7E03F02A-5DFD-446D-8B83-A8486F512C0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1.png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9600" y="274637"/>
            <a:ext cx="9099549" cy="1379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9"/>
          </p:nvPr>
        </p:nvSpPr>
        <p:spPr bwMode="auto">
          <a:xfrm>
            <a:off x="609600" y="1869897"/>
            <a:ext cx="10972800" cy="4256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Tx/>
              <a:buNone/>
              <a:defRPr sz="1400" b="0" i="0">
                <a:solidFill>
                  <a:srgbClr val="000000"/>
                </a:solidFill>
                <a:latin typeface="Arial" panose="020B0704020202020204" pitchFamily="34" charset="0"/>
                <a:ea typeface="Microsoft YaHei" panose="020B0502040204020203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sz="1400" b="0" i="0">
                <a:solidFill>
                  <a:srgbClr val="000000"/>
                </a:solidFill>
                <a:latin typeface="Arial" panose="020B0704020202020204" pitchFamily="34" charset="0"/>
                <a:ea typeface="Microsoft YaHei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 b="0" i="0" smtClean="0">
                <a:solidFill>
                  <a:srgbClr val="000000"/>
                </a:solidFill>
                <a:latin typeface="Arial" panose="020B0704020202020204" pitchFamily="34" charset="0"/>
                <a:ea typeface="Microsoft YaHei" panose="020B0502040204020203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18" b="36140"/>
          <a:stretch>
            <a:fillRect/>
          </a:stretch>
        </p:blipFill>
        <p:spPr bwMode="auto">
          <a:xfrm>
            <a:off x="9709149" y="274638"/>
            <a:ext cx="1873251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Microsoft YaHei" panose="020B0502040204020203" pitchFamily="34" charset="-122"/>
          <a:ea typeface="Microsoft YaHei" panose="020B0502040204020203" pitchFamily="34" charset="-122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7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Microsoft YaHei" panose="020B0502040204020203" pitchFamily="34" charset="-122"/>
          <a:ea typeface="Microsoft YaHei" panose="020B0502040204020203" pitchFamily="34" charset="-122"/>
          <a:cs typeface="+mn-cs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Microsoft YaHei" panose="020B0502040204020203" pitchFamily="34" charset="-122"/>
          <a:ea typeface="Microsoft YaHei" panose="020B0502040204020203" pitchFamily="34" charset="-122"/>
        </a:defRPr>
      </a:lvl2pPr>
      <a:lvl3pPr marL="11430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Microsoft YaHei" panose="020B0502040204020203" pitchFamily="34" charset="-122"/>
          <a:ea typeface="Microsoft YaHei" panose="020B0502040204020203" pitchFamily="34" charset="-122"/>
        </a:defRPr>
      </a:lvl3pPr>
      <a:lvl4pPr marL="16002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Microsoft YaHei" panose="020B0502040204020203" pitchFamily="34" charset="-122"/>
          <a:ea typeface="Microsoft YaHei" panose="020B0502040204020203" pitchFamily="34" charset="-122"/>
        </a:defRPr>
      </a:lvl4pPr>
      <a:lvl5pPr marL="20574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Microsoft YaHei" panose="020B0502040204020203" pitchFamily="34" charset="-122"/>
          <a:ea typeface="Microsoft YaHei" panose="020B0502040204020203" pitchFamily="34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image" Target="../media/image2.webp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tif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3.xml"/><Relationship Id="rId1" Type="http://schemas.openxmlformats.org/officeDocument/2006/relationships/tags" Target="../tags/tag4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zh-CN" altLang="en-US">
                <a:sym typeface="+mn-ea"/>
              </a:rPr>
              <a:t>字符</a:t>
            </a:r>
            <a:r>
              <a:rPr lang="zh-CN" altLang="en-US"/>
              <a:t>）串及串匹配算法</a:t>
            </a:r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EST50016.02 </a:t>
            </a:r>
            <a:r>
              <a:rPr lang="zh-CN" altLang="en-US">
                <a:sym typeface="+mn-ea"/>
              </a:rPr>
              <a:t>数据结构</a:t>
            </a:r>
            <a:endParaRPr lang="en-US" altLang="zh-CN"/>
          </a:p>
          <a:p>
            <a:r>
              <a:rPr lang="en-US" altLang="zh-CN"/>
              <a:t>Week6</a:t>
            </a:r>
            <a:endParaRPr lang="en-US" altLang="zh-CN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本周教学目标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理解串的定义、存储结构与基本操作</a:t>
            </a:r>
            <a:endParaRPr lang="zh-CN" altLang="en-US"/>
          </a:p>
          <a:p>
            <a:r>
              <a:rPr lang="zh-CN" altLang="en-US"/>
              <a:t>掌握朴素模式匹配原理与实现</a:t>
            </a:r>
            <a:endParaRPr lang="zh-CN" altLang="en-US"/>
          </a:p>
          <a:p>
            <a:r>
              <a:rPr lang="zh-CN" altLang="en-US"/>
              <a:t>精通</a:t>
            </a:r>
            <a:r>
              <a:rPr lang="en-US" altLang="zh-CN"/>
              <a:t> KMP </a:t>
            </a:r>
            <a:r>
              <a:rPr lang="zh-CN" altLang="en-US"/>
              <a:t>算法：</a:t>
            </a:r>
            <a:r>
              <a:rPr lang="en-US" altLang="zh-CN"/>
              <a:t>next </a:t>
            </a:r>
            <a:r>
              <a:rPr lang="zh-CN" altLang="en-US"/>
              <a:t>数组</a:t>
            </a:r>
            <a:r>
              <a:rPr lang="en-US" altLang="zh-CN"/>
              <a:t> + </a:t>
            </a:r>
            <a:r>
              <a:rPr lang="zh-CN" altLang="en-US"/>
              <a:t>匹配流程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zh-CN" altLang="en-US"/>
              <a:t>字符）串</a:t>
            </a:r>
            <a:r>
              <a:rPr lang="zh-CN" altLang="en-US"/>
              <a:t>基础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zh-CN" altLang="en-US"/>
              <a:t>字符）串的定义与基本概念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串（</a:t>
            </a:r>
            <a:r>
              <a:rPr lang="en-US" altLang="zh-CN"/>
              <a:t>String</a:t>
            </a:r>
            <a:r>
              <a:rPr lang="zh-CN" altLang="en-US"/>
              <a:t>）：由零个或多个字符组成的有限序列</a:t>
            </a:r>
            <a:endParaRPr lang="zh-CN" altLang="en-US"/>
          </a:p>
          <a:p>
            <a:r>
              <a:rPr lang="zh-CN" altLang="en-US"/>
              <a:t>定义为：</a:t>
            </a:r>
            <a:endParaRPr lang="zh-CN" altLang="en-US"/>
          </a:p>
          <a:p>
            <a:pPr lvl="1"/>
            <a:r>
              <a:rPr lang="en-US" altLang="zh-CN">
                <a:solidFill>
                  <a:srgbClr val="0070C0"/>
                </a:solidFill>
              </a:rPr>
              <a:t>S = s</a:t>
            </a:r>
            <a:r>
              <a:rPr lang="en-US" altLang="zh-CN" baseline="-25000">
                <a:solidFill>
                  <a:srgbClr val="0070C0"/>
                </a:solidFill>
              </a:rPr>
              <a:t>1</a:t>
            </a:r>
            <a:r>
              <a:rPr lang="en-US" altLang="zh-CN">
                <a:solidFill>
                  <a:srgbClr val="0070C0"/>
                </a:solidFill>
              </a:rPr>
              <a:t>s</a:t>
            </a:r>
            <a:r>
              <a:rPr lang="en-US" altLang="zh-CN" baseline="-25000">
                <a:solidFill>
                  <a:srgbClr val="0070C0"/>
                </a:solidFill>
              </a:rPr>
              <a:t>2</a:t>
            </a:r>
            <a:r>
              <a:rPr lang="en-US" altLang="zh-CN">
                <a:solidFill>
                  <a:srgbClr val="0070C0"/>
                </a:solidFill>
              </a:rPr>
              <a:t>s</a:t>
            </a:r>
            <a:r>
              <a:rPr lang="en-US" altLang="zh-CN" baseline="-25000">
                <a:solidFill>
                  <a:srgbClr val="0070C0"/>
                </a:solidFill>
              </a:rPr>
              <a:t>3</a:t>
            </a:r>
            <a:r>
              <a:rPr lang="en-US" altLang="zh-CN">
                <a:solidFill>
                  <a:srgbClr val="0070C0"/>
                </a:solidFill>
              </a:rPr>
              <a:t>...s</a:t>
            </a:r>
            <a:r>
              <a:rPr lang="en-US" altLang="zh-CN" baseline="-25000">
                <a:solidFill>
                  <a:srgbClr val="0070C0"/>
                </a:solidFill>
              </a:rPr>
              <a:t>n</a:t>
            </a:r>
            <a:endParaRPr lang="en-US" altLang="zh-CN" baseline="-25000">
              <a:solidFill>
                <a:srgbClr val="0070C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基本术语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串长</a:t>
            </a:r>
            <a:endParaRPr lang="zh-CN" altLang="en-US"/>
          </a:p>
          <a:p>
            <a:r>
              <a:rPr lang="zh-CN" altLang="en-US"/>
              <a:t>空串、空格串</a:t>
            </a:r>
            <a:endParaRPr lang="zh-CN" altLang="en-US"/>
          </a:p>
          <a:p>
            <a:r>
              <a:rPr lang="zh-CN" altLang="en-US"/>
              <a:t>子串、主串</a:t>
            </a:r>
            <a:endParaRPr lang="zh-CN" altLang="en-US"/>
          </a:p>
          <a:p>
            <a:r>
              <a:rPr lang="zh-CN" altLang="en-US"/>
              <a:t>前缀、后缀</a:t>
            </a:r>
            <a:endParaRPr lang="zh-CN" altLang="en-US"/>
          </a:p>
          <a:p>
            <a:r>
              <a:rPr lang="zh-CN" altLang="en-US"/>
              <a:t>模式匹配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串</a:t>
            </a:r>
            <a:r>
              <a:rPr lang="en-US" altLang="zh-CN"/>
              <a:t> vs </a:t>
            </a:r>
            <a:r>
              <a:rPr lang="zh-CN" altLang="en-US"/>
              <a:t>普通线性表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相同：都是线性结构</a:t>
            </a:r>
            <a:endParaRPr lang="zh-CN" altLang="en-US"/>
          </a:p>
          <a:p>
            <a:r>
              <a:rPr lang="zh-CN" altLang="en-US"/>
              <a:t>不同：</a:t>
            </a:r>
            <a:endParaRPr lang="zh-CN" altLang="en-US"/>
          </a:p>
          <a:p>
            <a:pPr lvl="1"/>
            <a:r>
              <a:rPr lang="zh-CN" altLang="en-US"/>
              <a:t>串的数据元素只能是字符</a:t>
            </a:r>
            <a:endParaRPr lang="zh-CN" altLang="en-US"/>
          </a:p>
          <a:p>
            <a:pPr lvl="1"/>
            <a:r>
              <a:rPr lang="zh-CN" altLang="en-US"/>
              <a:t>串关注</a:t>
            </a:r>
            <a:r>
              <a:rPr lang="zh-CN" altLang="en-US" b="1">
                <a:solidFill>
                  <a:srgbClr val="0070C0"/>
                </a:solidFill>
              </a:rPr>
              <a:t>整体操作（查找、替换、匹配）</a:t>
            </a:r>
            <a:endParaRPr lang="zh-CN" altLang="en-US"/>
          </a:p>
          <a:p>
            <a:pPr lvl="1"/>
            <a:r>
              <a:rPr lang="zh-CN" altLang="en-US"/>
              <a:t>线性表关注单个元素操作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串的存储</a:t>
            </a:r>
            <a:r>
              <a:rPr lang="zh-CN" altLang="en-US"/>
              <a:t>结构：顺序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用数组连续存储字符</a:t>
            </a:r>
            <a:endParaRPr lang="zh-CN" altLang="en-US"/>
          </a:p>
          <a:p>
            <a:r>
              <a:rPr lang="zh-CN" altLang="en-US"/>
              <a:t>优点：随机访问快、实现简单</a:t>
            </a:r>
            <a:endParaRPr lang="zh-CN" altLang="en-US"/>
          </a:p>
          <a:p>
            <a:r>
              <a:rPr lang="zh-CN" altLang="en-US"/>
              <a:t>缺点：插入</a:t>
            </a:r>
            <a:r>
              <a:rPr lang="en-US" altLang="zh-CN"/>
              <a:t> / </a:t>
            </a:r>
            <a:r>
              <a:rPr lang="zh-CN" altLang="en-US"/>
              <a:t>删除需移动元素</a:t>
            </a:r>
            <a:endParaRPr lang="zh-CN" altLang="en-US"/>
          </a:p>
          <a:p>
            <a:r>
              <a:rPr lang="en-US" altLang="zh-CN"/>
              <a:t>Python</a:t>
            </a:r>
            <a:r>
              <a:rPr lang="zh-CN" altLang="en-US"/>
              <a:t>：</a:t>
            </a:r>
            <a:r>
              <a:rPr lang="en-US" altLang="zh-CN"/>
              <a:t>str / list </a:t>
            </a:r>
            <a:r>
              <a:rPr lang="zh-CN" altLang="en-US"/>
              <a:t>基于顺序存储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串的存储</a:t>
            </a:r>
            <a:r>
              <a:rPr lang="zh-CN" altLang="en-US"/>
              <a:t>结构：链式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每个节点存</a:t>
            </a:r>
            <a:r>
              <a:rPr lang="en-US" altLang="zh-CN"/>
              <a:t> 1 </a:t>
            </a:r>
            <a:r>
              <a:rPr lang="zh-CN" altLang="en-US"/>
              <a:t>个或多个字符</a:t>
            </a:r>
            <a:endParaRPr lang="zh-CN" altLang="en-US"/>
          </a:p>
          <a:p>
            <a:r>
              <a:rPr lang="zh-CN" altLang="en-US"/>
              <a:t>优点：插入</a:t>
            </a:r>
            <a:r>
              <a:rPr lang="en-US" altLang="zh-CN"/>
              <a:t> / </a:t>
            </a:r>
            <a:r>
              <a:rPr lang="zh-CN" altLang="en-US"/>
              <a:t>删除无需移动</a:t>
            </a:r>
            <a:endParaRPr lang="zh-CN" altLang="en-US"/>
          </a:p>
          <a:p>
            <a:r>
              <a:rPr lang="zh-CN" altLang="en-US"/>
              <a:t>缺点：空间利用率低、访问慢</a:t>
            </a:r>
            <a:endParaRPr lang="zh-CN" altLang="en-US"/>
          </a:p>
          <a:p>
            <a:r>
              <a:rPr lang="zh-CN" altLang="en-US"/>
              <a:t>实际工程极少使用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模式匹配问题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给定：</a:t>
            </a:r>
            <a:endParaRPr lang="zh-CN" altLang="en-US"/>
          </a:p>
          <a:p>
            <a:pPr lvl="1"/>
            <a:r>
              <a:rPr lang="zh-CN" altLang="en-US"/>
              <a:t>主串</a:t>
            </a:r>
            <a:r>
              <a:rPr lang="en-US" altLang="zh-CN"/>
              <a:t> String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ABABABCABABABD</a:t>
            </a:r>
            <a:endParaRPr lang="en-US" altLang="zh-CN"/>
          </a:p>
          <a:p>
            <a:pPr lvl="1"/>
            <a:r>
              <a:rPr lang="zh-CN" altLang="en-US"/>
              <a:t>模式串</a:t>
            </a:r>
            <a:r>
              <a:rPr lang="en-US" altLang="zh-CN"/>
              <a:t> Pattern</a:t>
            </a:r>
            <a:r>
              <a:rPr lang="zh-CN" altLang="en-US"/>
              <a:t>：</a:t>
            </a:r>
            <a:r>
              <a:rPr lang="en-US" altLang="zh-CN">
                <a:sym typeface="+mn-ea"/>
              </a:rPr>
              <a:t>ABABD</a:t>
            </a:r>
            <a:endParaRPr lang="en-US" altLang="zh-CN"/>
          </a:p>
          <a:p>
            <a:r>
              <a:rPr lang="zh-CN" altLang="en-US"/>
              <a:t>目标：找到</a:t>
            </a:r>
            <a:r>
              <a:rPr lang="en-US" altLang="zh-CN"/>
              <a:t> P </a:t>
            </a:r>
            <a:r>
              <a:rPr lang="zh-CN" altLang="en-US"/>
              <a:t>在</a:t>
            </a:r>
            <a:r>
              <a:rPr lang="en-US" altLang="zh-CN"/>
              <a:t> S </a:t>
            </a:r>
            <a:r>
              <a:rPr lang="zh-CN" altLang="en-US"/>
              <a:t>中第一次出现的起始位置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朴素（暴力</a:t>
            </a:r>
            <a:r>
              <a:rPr lang="en-US" altLang="zh-CN"/>
              <a:t> Brute Force</a:t>
            </a:r>
            <a:r>
              <a:rPr lang="zh-CN" altLang="en-US"/>
              <a:t>）模式匹配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主串</a:t>
            </a:r>
            <a:r>
              <a:rPr lang="en-US" altLang="zh-CN"/>
              <a:t> i</a:t>
            </a:r>
            <a:r>
              <a:rPr lang="zh-CN" altLang="en-US"/>
              <a:t>、模式串</a:t>
            </a:r>
            <a:r>
              <a:rPr lang="en-US" altLang="zh-CN"/>
              <a:t> j </a:t>
            </a:r>
            <a:r>
              <a:rPr lang="zh-CN" altLang="en-US"/>
              <a:t>从头开始比较</a:t>
            </a:r>
            <a:endParaRPr lang="zh-CN" altLang="en-US"/>
          </a:p>
          <a:p>
            <a:pPr lvl="1"/>
            <a:r>
              <a:rPr lang="zh-CN" altLang="en-US"/>
              <a:t>相等：</a:t>
            </a:r>
            <a:r>
              <a:rPr lang="en-US" altLang="zh-CN"/>
              <a:t>i++</a:t>
            </a:r>
            <a:r>
              <a:rPr lang="zh-CN" altLang="en-US"/>
              <a:t>、</a:t>
            </a:r>
            <a:r>
              <a:rPr lang="en-US" altLang="zh-CN"/>
              <a:t>j++</a:t>
            </a:r>
            <a:endParaRPr lang="en-US" altLang="zh-CN"/>
          </a:p>
          <a:p>
            <a:pPr lvl="1"/>
            <a:r>
              <a:rPr lang="zh-CN" altLang="en-US"/>
              <a:t>不等：</a:t>
            </a:r>
            <a:r>
              <a:rPr lang="en-US" altLang="zh-CN"/>
              <a:t>i </a:t>
            </a:r>
            <a:r>
              <a:rPr lang="zh-CN" altLang="en-US"/>
              <a:t>回退，</a:t>
            </a:r>
            <a:r>
              <a:rPr lang="en-US" altLang="zh-CN"/>
              <a:t>j </a:t>
            </a:r>
            <a:r>
              <a:rPr lang="zh-CN" altLang="en-US"/>
              <a:t>重置为</a:t>
            </a:r>
            <a:r>
              <a:rPr lang="en-US" altLang="zh-CN"/>
              <a:t> 0</a:t>
            </a:r>
            <a:endParaRPr lang="en-US" altLang="zh-CN"/>
          </a:p>
          <a:p>
            <a:r>
              <a:rPr lang="zh-CN" altLang="en-US"/>
              <a:t>暴力枚举所有对齐位置</a:t>
            </a:r>
            <a:endParaRPr lang="zh-CN" altLang="en-US"/>
          </a:p>
          <a:p>
            <a:r>
              <a:rPr lang="zh-CN" altLang="en-US"/>
              <a:t>时间复杂度</a:t>
            </a:r>
            <a:endParaRPr lang="zh-CN" altLang="en-US"/>
          </a:p>
          <a:p>
            <a:pPr lvl="1"/>
            <a:r>
              <a:rPr lang="zh-CN" altLang="en-US"/>
              <a:t>最好：</a:t>
            </a:r>
            <a:r>
              <a:rPr lang="en-US" altLang="zh-CN"/>
              <a:t>O (n)</a:t>
            </a:r>
            <a:endParaRPr lang="en-US" altLang="zh-CN"/>
          </a:p>
          <a:p>
            <a:pPr lvl="1"/>
            <a:r>
              <a:rPr lang="zh-CN" altLang="en-US"/>
              <a:t>最坏：</a:t>
            </a:r>
            <a:r>
              <a:rPr lang="en-US" altLang="zh-CN"/>
              <a:t>O(n</a:t>
            </a:r>
            <a:r>
              <a:rPr lang="en-US" altLang="en-US"/>
              <a:t>×</a:t>
            </a:r>
            <a:r>
              <a:rPr lang="en-US" altLang="zh-CN"/>
              <a:t>m)</a:t>
            </a:r>
            <a:r>
              <a:rPr lang="zh-CN" altLang="en-US"/>
              <a:t>（如</a:t>
            </a:r>
            <a:r>
              <a:rPr lang="en-US" altLang="zh-CN"/>
              <a:t> aaaaaab </a:t>
            </a:r>
            <a:r>
              <a:rPr lang="zh-CN" altLang="en-US"/>
              <a:t>匹配</a:t>
            </a:r>
            <a:r>
              <a:rPr lang="en-US" altLang="zh-CN"/>
              <a:t> aaab</a:t>
            </a:r>
            <a:r>
              <a:rPr lang="zh-CN" altLang="en-US"/>
              <a:t>）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适用场景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模式串极短（长度</a:t>
            </a:r>
            <a:r>
              <a:rPr lang="en-US" altLang="zh-CN"/>
              <a:t> &lt; 10</a:t>
            </a:r>
            <a:r>
              <a:rPr lang="zh-CN" altLang="en-US"/>
              <a:t>）</a:t>
            </a:r>
            <a:endParaRPr lang="zh-CN" altLang="en-US"/>
          </a:p>
          <a:p>
            <a:r>
              <a:rPr lang="zh-CN" altLang="en-US"/>
              <a:t>一次性简单匹配</a:t>
            </a:r>
            <a:endParaRPr lang="zh-CN" altLang="en-US"/>
          </a:p>
          <a:p>
            <a:r>
              <a:rPr lang="zh-CN" altLang="en-US"/>
              <a:t>文本量小、对速度无要求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缺陷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匹配失败时主串</a:t>
            </a:r>
            <a:r>
              <a:rPr lang="en-US" altLang="zh-CN"/>
              <a:t> i </a:t>
            </a:r>
            <a:r>
              <a:rPr lang="zh-CN" altLang="en-US"/>
              <a:t>必须回退</a:t>
            </a:r>
            <a:endParaRPr lang="zh-CN" altLang="en-US"/>
          </a:p>
          <a:p>
            <a:r>
              <a:rPr lang="zh-CN" altLang="en-US"/>
              <a:t>已比较字符全部作废，大量重复计算</a:t>
            </a:r>
            <a:endParaRPr lang="zh-CN" altLang="en-US"/>
          </a:p>
          <a:p>
            <a:r>
              <a:rPr lang="zh-CN" altLang="en-US"/>
              <a:t>长文本、长模式下效率极差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KMP </a:t>
            </a:r>
            <a:r>
              <a:rPr lang="zh-CN" altLang="en-US"/>
              <a:t>算法原理与实现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KMP</a:t>
            </a:r>
            <a:r>
              <a:rPr lang="zh-CN" altLang="en-US"/>
              <a:t>算法</a:t>
            </a:r>
            <a:r>
              <a:rPr lang="en-US" altLang="zh-CN"/>
              <a:t>(Knuth Morris Pratt </a:t>
            </a:r>
            <a:r>
              <a:rPr lang="zh-CN" altLang="en-US"/>
              <a:t>算法</a:t>
            </a:r>
            <a:r>
              <a:rPr lang="en-US" altLang="zh-CN"/>
              <a:t>)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根据三位作者（</a:t>
            </a:r>
            <a:r>
              <a:rPr lang="en-US" altLang="zh-CN"/>
              <a:t>D.E.Knuth</a:t>
            </a:r>
            <a:r>
              <a:rPr lang="zh-CN" altLang="en-US"/>
              <a:t>，</a:t>
            </a:r>
            <a:r>
              <a:rPr lang="en-US" altLang="zh-CN"/>
              <a:t>J.H.Morris </a:t>
            </a:r>
            <a:r>
              <a:rPr lang="zh-CN" altLang="en-US"/>
              <a:t>和</a:t>
            </a:r>
            <a:r>
              <a:rPr lang="en-US" altLang="zh-CN"/>
              <a:t> V.R.Pratt</a:t>
            </a:r>
            <a:r>
              <a:rPr lang="zh-CN" altLang="en-US"/>
              <a:t>）的名字来命名，全称是</a:t>
            </a:r>
            <a:r>
              <a:rPr lang="en-US" altLang="zh-CN"/>
              <a:t> Knuth Morris Pratt </a:t>
            </a:r>
            <a:r>
              <a:rPr lang="zh-CN" altLang="en-US"/>
              <a:t>算法</a:t>
            </a:r>
            <a:endParaRPr lang="zh-CN" altLang="en-US"/>
          </a:p>
          <a:p>
            <a:r>
              <a:rPr lang="zh-CN" altLang="en-US"/>
              <a:t>简称为</a:t>
            </a:r>
            <a:r>
              <a:rPr lang="en-US" altLang="zh-CN"/>
              <a:t> KMP </a:t>
            </a:r>
            <a:r>
              <a:rPr lang="zh-CN" altLang="en-US"/>
              <a:t>算法。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KMP </a:t>
            </a:r>
            <a:r>
              <a:rPr lang="zh-CN" altLang="en-US"/>
              <a:t>核心思想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解决朴素匹配回溯浪费：</a:t>
            </a:r>
            <a:endParaRPr lang="zh-CN" altLang="en-US"/>
          </a:p>
          <a:p>
            <a:pPr lvl="1"/>
            <a:r>
              <a:rPr lang="zh-CN" altLang="en-US"/>
              <a:t>主串</a:t>
            </a:r>
            <a:r>
              <a:rPr lang="en-US" altLang="zh-CN"/>
              <a:t> i </a:t>
            </a:r>
            <a:r>
              <a:rPr lang="zh-CN" altLang="en-US"/>
              <a:t>永远不回退</a:t>
            </a:r>
            <a:endParaRPr lang="zh-CN" altLang="en-US"/>
          </a:p>
          <a:p>
            <a:pPr lvl="1"/>
            <a:r>
              <a:rPr lang="zh-CN" altLang="en-US"/>
              <a:t>只回退模式串</a:t>
            </a:r>
            <a:r>
              <a:rPr lang="en-US" altLang="zh-CN"/>
              <a:t> j</a:t>
            </a:r>
            <a:endParaRPr lang="en-US" altLang="zh-CN"/>
          </a:p>
          <a:p>
            <a:pPr lvl="1"/>
            <a:r>
              <a:rPr lang="zh-CN" altLang="en-US"/>
              <a:t>用最长相等前缀后缀跳过无效比较</a:t>
            </a:r>
            <a:endParaRPr lang="zh-CN" altLang="en-US"/>
          </a:p>
          <a:p>
            <a:pPr lvl="0"/>
            <a:r>
              <a:rPr lang="zh-CN" altLang="en-US"/>
              <a:t>总复杂度：</a:t>
            </a:r>
            <a:r>
              <a:rPr lang="en-US" altLang="zh-CN"/>
              <a:t>O(n + m) </a:t>
            </a:r>
            <a:r>
              <a:rPr lang="zh-CN" altLang="en-US"/>
              <a:t>线性最优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KMP </a:t>
            </a:r>
            <a:r>
              <a:rPr lang="zh-CN" altLang="en-US"/>
              <a:t>推演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主串为：</a:t>
            </a:r>
            <a:r>
              <a:rPr lang="en-US" altLang="zh-CN">
                <a:sym typeface="+mn-ea"/>
              </a:rPr>
              <a:t>"ABABABCABABABD"</a:t>
            </a:r>
            <a:endParaRPr lang="en-US" altLang="zh-CN"/>
          </a:p>
          <a:p>
            <a:r>
              <a:rPr lang="zh-CN" altLang="en-US">
                <a:sym typeface="+mn-ea"/>
              </a:rPr>
              <a:t>模式为：</a:t>
            </a:r>
            <a:r>
              <a:rPr lang="en-US" altLang="zh-CN">
                <a:sym typeface="+mn-ea"/>
              </a:rPr>
              <a:t>"ABABD"</a:t>
            </a:r>
            <a:endParaRPr lang="en-US" altLang="zh-CN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最长相等前缀后缀</a:t>
            </a:r>
            <a:r>
              <a:rPr lang="en-US" altLang="zh-CN"/>
              <a:t> LPS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/>
              <a:t>真前缀：不含最后一个字符的前缀</a:t>
            </a:r>
            <a:endParaRPr lang="zh-CN" altLang="en-US"/>
          </a:p>
          <a:p>
            <a:pPr lvl="0"/>
            <a:r>
              <a:rPr lang="zh-CN" altLang="en-US"/>
              <a:t>真后缀：不含第一个字符的后缀</a:t>
            </a:r>
            <a:endParaRPr lang="zh-CN" altLang="en-US"/>
          </a:p>
          <a:p>
            <a:r>
              <a:rPr lang="en-US" altLang="zh-CN"/>
              <a:t>LPS = </a:t>
            </a:r>
            <a:r>
              <a:rPr lang="zh-CN" altLang="en-US"/>
              <a:t>最长相等真前缀与真后缀的长度</a:t>
            </a:r>
            <a:endParaRPr lang="zh-CN" altLang="en-US"/>
          </a:p>
          <a:p>
            <a:pPr lvl="1"/>
            <a:r>
              <a:rPr lang="zh-CN" altLang="en-US"/>
              <a:t>示例：模式</a:t>
            </a:r>
            <a:r>
              <a:rPr lang="en-US" altLang="zh-CN"/>
              <a:t> ABABD</a:t>
            </a:r>
            <a:endParaRPr lang="en-US" altLang="zh-CN"/>
          </a:p>
          <a:p>
            <a:pPr lvl="1"/>
            <a:r>
              <a:rPr lang="zh-CN" altLang="en-US"/>
              <a:t>前缀：</a:t>
            </a:r>
            <a:r>
              <a:rPr lang="en-US" altLang="zh-CN"/>
              <a:t>A, AB, ABA, ABAB</a:t>
            </a:r>
            <a:endParaRPr lang="en-US" altLang="zh-CN"/>
          </a:p>
          <a:p>
            <a:pPr lvl="1"/>
            <a:r>
              <a:rPr lang="zh-CN" altLang="en-US"/>
              <a:t>后缀：</a:t>
            </a:r>
            <a:r>
              <a:rPr lang="en-US" altLang="zh-CN"/>
              <a:t>B, BD, ABD, BABD</a:t>
            </a:r>
            <a:endParaRPr lang="en-US" altLang="zh-CN"/>
          </a:p>
          <a:p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next </a:t>
            </a:r>
            <a:r>
              <a:rPr lang="zh-CN" altLang="en-US"/>
              <a:t>数组构建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next[j] = </a:t>
            </a:r>
            <a:r>
              <a:rPr lang="zh-CN" altLang="en-US"/>
              <a:t>模式串前</a:t>
            </a:r>
            <a:r>
              <a:rPr lang="en-US" altLang="zh-CN"/>
              <a:t> j </a:t>
            </a:r>
            <a:r>
              <a:rPr lang="zh-CN" altLang="en-US"/>
              <a:t>个字符的最长相等真前缀后缀（</a:t>
            </a:r>
            <a:r>
              <a:rPr lang="en-US" altLang="zh-CN"/>
              <a:t>LPS</a:t>
            </a:r>
            <a:r>
              <a:rPr lang="zh-CN" altLang="en-US"/>
              <a:t>）长度</a:t>
            </a:r>
            <a:endParaRPr lang="zh-CN" altLang="en-US"/>
          </a:p>
          <a:p>
            <a:r>
              <a:rPr lang="zh-CN" altLang="en-US"/>
              <a:t>示例：</a:t>
            </a:r>
            <a:endParaRPr lang="zh-CN" altLang="en-US"/>
          </a:p>
          <a:p>
            <a:pPr lvl="1"/>
            <a:r>
              <a:rPr lang="en-US" altLang="zh-CN">
                <a:sym typeface="+mn-ea"/>
              </a:rPr>
              <a:t>ABABD</a:t>
            </a:r>
            <a:endParaRPr lang="en-US" altLang="zh-CN"/>
          </a:p>
          <a:p>
            <a:pPr lvl="1"/>
            <a:r>
              <a:rPr lang="en-US" altLang="zh-CN"/>
              <a:t>next = [0, 0, 1, 2, 0]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next </a:t>
            </a:r>
            <a:r>
              <a:rPr lang="zh-CN" altLang="en-US">
                <a:sym typeface="+mn-ea"/>
              </a:rPr>
              <a:t>数组（以</a:t>
            </a:r>
            <a:r>
              <a:rPr lang="en-US" altLang="zh-CN">
                <a:sym typeface="+mn-ea"/>
              </a:rPr>
              <a:t>ABABD</a:t>
            </a:r>
            <a:r>
              <a:rPr lang="zh-CN" altLang="en-US">
                <a:sym typeface="+mn-ea"/>
              </a:rPr>
              <a:t>为</a:t>
            </a:r>
            <a:r>
              <a:rPr lang="zh-CN" altLang="en-US">
                <a:sym typeface="+mn-ea"/>
              </a:rPr>
              <a:t>例）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853440" y="1730375"/>
          <a:ext cx="10485120" cy="4511040"/>
        </p:xfrm>
        <a:graphic>
          <a:graphicData uri="http://schemas.openxmlformats.org/drawingml/2006/table">
            <a:tbl>
              <a:tblPr/>
              <a:tblGrid>
                <a:gridCol w="1165542"/>
                <a:gridCol w="1165542"/>
                <a:gridCol w="2595245"/>
                <a:gridCol w="2595245"/>
                <a:gridCol w="1481772"/>
                <a:gridCol w="1481772"/>
              </a:tblGrid>
              <a:tr h="0">
                <a:tc>
                  <a:txBody>
                    <a:bodyPr/>
                    <a:p>
                      <a:pPr algn="l"/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位置</a:t>
                      </a:r>
                      <a:endParaRPr lang="zh-CN" altLang="en-US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字符</a:t>
                      </a:r>
                      <a:endParaRPr lang="zh-CN" altLang="en-US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前缀</a:t>
                      </a:r>
                      <a:endParaRPr lang="zh-CN" altLang="en-US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后缀</a:t>
                      </a:r>
                      <a:endParaRPr lang="zh-CN" altLang="en-US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最长公共前后缀长度</a:t>
                      </a:r>
                      <a:endParaRPr lang="zh-CN" altLang="en-US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next </a:t>
                      </a:r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值</a:t>
                      </a:r>
                      <a:endParaRPr lang="zh-CN" altLang="en-US" sz="24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0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A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无</a:t>
                      </a:r>
                      <a:endParaRPr lang="zh-CN" altLang="en-US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无</a:t>
                      </a:r>
                      <a:endParaRPr lang="zh-CN" altLang="en-US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0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0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1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B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A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B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0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0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2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A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</a:t>
                      </a:r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、</a:t>
                      </a:r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AB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</a:t>
                      </a:r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、</a:t>
                      </a:r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BA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1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1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3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B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</a:t>
                      </a:r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、</a:t>
                      </a:r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AB</a:t>
                      </a:r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、</a:t>
                      </a:r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ABA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AB</a:t>
                      </a:r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、</a:t>
                      </a:r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BAB</a:t>
                      </a:r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、</a:t>
                      </a:r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B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2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2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4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D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</a:t>
                      </a:r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、</a:t>
                      </a:r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AB</a:t>
                      </a:r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、</a:t>
                      </a:r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ABA</a:t>
                      </a:r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、</a:t>
                      </a:r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ABAB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D</a:t>
                      </a:r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、</a:t>
                      </a:r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BD</a:t>
                      </a:r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、</a:t>
                      </a:r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ABD</a:t>
                      </a:r>
                      <a:r>
                        <a:rPr lang="zh-CN" altLang="en-US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、</a:t>
                      </a:r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BABD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0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4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0</a:t>
                      </a:r>
                      <a:endParaRPr lang="en-US" altLang="zh-CN" sz="24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KMP </a:t>
            </a:r>
            <a:r>
              <a:rPr lang="zh-CN" altLang="en-US"/>
              <a:t>匹配流程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 </a:t>
            </a:r>
            <a:r>
              <a:rPr lang="zh-CN" altLang="en-US"/>
              <a:t>遍历主串，</a:t>
            </a:r>
            <a:r>
              <a:rPr lang="en-US" altLang="zh-CN"/>
              <a:t>j </a:t>
            </a:r>
            <a:r>
              <a:rPr lang="zh-CN" altLang="en-US"/>
              <a:t>遍历模式串</a:t>
            </a:r>
            <a:endParaRPr lang="zh-CN" altLang="en-US"/>
          </a:p>
          <a:p>
            <a:pPr lvl="1"/>
            <a:r>
              <a:rPr lang="zh-CN" altLang="en-US"/>
              <a:t>相等：</a:t>
            </a:r>
            <a:r>
              <a:rPr lang="en-US" altLang="zh-CN"/>
              <a:t>i++</a:t>
            </a:r>
            <a:r>
              <a:rPr lang="zh-CN" altLang="en-US"/>
              <a:t>、</a:t>
            </a:r>
            <a:r>
              <a:rPr lang="en-US" altLang="zh-CN"/>
              <a:t>j++</a:t>
            </a:r>
            <a:endParaRPr lang="en-US" altLang="zh-CN"/>
          </a:p>
          <a:p>
            <a:pPr lvl="1"/>
            <a:r>
              <a:rPr lang="zh-CN" altLang="en-US"/>
              <a:t>不等：</a:t>
            </a:r>
            <a:r>
              <a:rPr lang="en-US" altLang="zh-CN"/>
              <a:t>j = next [j-1]</a:t>
            </a:r>
            <a:endParaRPr lang="en-US" altLang="zh-CN"/>
          </a:p>
          <a:p>
            <a:r>
              <a:rPr lang="en-US" altLang="zh-CN"/>
              <a:t>j == </a:t>
            </a:r>
            <a:r>
              <a:rPr lang="zh-CN" altLang="en-US"/>
              <a:t>模式长度</a:t>
            </a:r>
            <a:r>
              <a:rPr lang="en-US" altLang="zh-CN"/>
              <a:t> </a:t>
            </a:r>
            <a:r>
              <a:rPr lang="zh-CN" altLang="en-US"/>
              <a:t>则</a:t>
            </a:r>
            <a:r>
              <a:rPr lang="en-US" altLang="zh-CN"/>
              <a:t> </a:t>
            </a:r>
            <a:r>
              <a:rPr lang="zh-CN" altLang="en-US"/>
              <a:t>匹配成功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对比</a:t>
            </a:r>
            <a:r>
              <a:rPr lang="en-US" altLang="zh-CN">
                <a:sym typeface="+mn-ea"/>
              </a:rPr>
              <a:t>KMP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BF</a:t>
            </a:r>
            <a:r>
              <a:rPr lang="zh-CN" altLang="en-US">
                <a:sym typeface="+mn-ea"/>
              </a:rPr>
              <a:t>的效率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‌</a:t>
            </a:r>
            <a:r>
              <a:rPr lang="zh-CN" altLang="en-US"/>
              <a:t>暴力匹配（</a:t>
            </a:r>
            <a:r>
              <a:rPr lang="en-US" altLang="zh-CN"/>
              <a:t>BF</a:t>
            </a:r>
            <a:r>
              <a:rPr lang="zh-CN" altLang="en-US"/>
              <a:t>）</a:t>
            </a:r>
            <a:r>
              <a:rPr lang="en-US" altLang="zh-CN"/>
              <a:t>‌</a:t>
            </a:r>
            <a:r>
              <a:rPr lang="zh-CN" altLang="en-US"/>
              <a:t>：</a:t>
            </a:r>
            <a:endParaRPr lang="en-US" altLang="zh-CN"/>
          </a:p>
          <a:p>
            <a:pPr lvl="1"/>
            <a:r>
              <a:rPr lang="zh-CN" altLang="en-US"/>
              <a:t>在失败后，需要对比若干次无效位置</a:t>
            </a:r>
            <a:r>
              <a:rPr lang="en-US" altLang="zh-CN"/>
              <a:t>‌</a:t>
            </a:r>
            <a:endParaRPr lang="en-US" altLang="zh-CN"/>
          </a:p>
          <a:p>
            <a:pPr lvl="0"/>
            <a:r>
              <a:rPr lang="en-US" altLang="zh-CN"/>
              <a:t>‌KMP</a:t>
            </a:r>
            <a:r>
              <a:rPr lang="zh-CN" altLang="en-US"/>
              <a:t>算法</a:t>
            </a:r>
            <a:r>
              <a:rPr lang="en-US" altLang="zh-CN"/>
              <a:t>‌</a:t>
            </a:r>
            <a:r>
              <a:rPr lang="zh-CN" altLang="en-US"/>
              <a:t>：</a:t>
            </a:r>
            <a:endParaRPr lang="en-US" altLang="zh-CN"/>
          </a:p>
          <a:p>
            <a:pPr lvl="1"/>
            <a:r>
              <a:rPr lang="zh-CN" altLang="en-US"/>
              <a:t>对比失败后，直接跳过已经对比</a:t>
            </a:r>
            <a:r>
              <a:rPr lang="zh-CN" altLang="en-US"/>
              <a:t>的位置，避免无效对比</a:t>
            </a:r>
            <a:endParaRPr lang="zh-CN" altLang="en-US"/>
          </a:p>
          <a:p>
            <a:pPr lvl="1"/>
            <a:r>
              <a:rPr lang="zh-CN" altLang="en-US"/>
              <a:t>主串指针始终向前（从停止位置继续，无需回退到</a:t>
            </a:r>
            <a:r>
              <a:rPr lang="zh-CN" altLang="en-US"/>
              <a:t>前面）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KMP </a:t>
            </a:r>
            <a:r>
              <a:rPr lang="zh-CN" altLang="en-US"/>
              <a:t>适用场景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长文本、长模式串匹配</a:t>
            </a:r>
            <a:endParaRPr lang="zh-CN" altLang="en-US"/>
          </a:p>
          <a:p>
            <a:r>
              <a:rPr lang="zh-CN" altLang="en-US"/>
              <a:t>主串重复被搜索（一次预处理多次用）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病毒特征码匹配、生物序列比对</a:t>
            </a:r>
            <a:endParaRPr lang="zh-CN" altLang="en-US"/>
          </a:p>
          <a:p>
            <a:r>
              <a:rPr lang="zh-CN" altLang="en-US"/>
              <a:t>日志关键词检索、网络流量检测</a:t>
            </a:r>
            <a:endParaRPr lang="zh-CN" altLang="en-US"/>
          </a:p>
          <a:p>
            <a:r>
              <a:rPr lang="zh-CN" altLang="en-US"/>
              <a:t>编辑器</a:t>
            </a:r>
            <a:r>
              <a:rPr lang="en-US" altLang="zh-CN"/>
              <a:t> “</a:t>
            </a:r>
            <a:r>
              <a:rPr lang="zh-CN" altLang="en-US"/>
              <a:t>查找</a:t>
            </a:r>
            <a:r>
              <a:rPr lang="en-US" altLang="zh-CN"/>
              <a:t> / </a:t>
            </a:r>
            <a:r>
              <a:rPr lang="zh-CN" altLang="en-US"/>
              <a:t>替换</a:t>
            </a:r>
            <a:r>
              <a:rPr lang="en-US" altLang="zh-CN"/>
              <a:t>” </a:t>
            </a:r>
            <a:r>
              <a:rPr lang="zh-CN" altLang="en-US"/>
              <a:t>底层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BM</a:t>
            </a:r>
            <a:r>
              <a:rPr lang="zh-CN" altLang="en-US"/>
              <a:t>（</a:t>
            </a:r>
            <a:r>
              <a:rPr lang="en-US" altLang="zh-CN"/>
              <a:t>Boyer-Moore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从后往前匹配，用两个规则跳过大量不可能位置：</a:t>
            </a:r>
            <a:endParaRPr lang="zh-CN" altLang="en-US"/>
          </a:p>
          <a:p>
            <a:pPr lvl="1"/>
            <a:r>
              <a:rPr lang="zh-CN" altLang="en-US"/>
              <a:t>坏字符规则</a:t>
            </a:r>
            <a:endParaRPr lang="zh-CN" altLang="en-US"/>
          </a:p>
          <a:p>
            <a:pPr lvl="1"/>
            <a:r>
              <a:rPr lang="zh-CN" altLang="en-US"/>
              <a:t>好后缀规则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Sunday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匹配失败时，只看主串中「对齐位的下一个字符」</a:t>
            </a:r>
            <a:endParaRPr lang="zh-CN" altLang="en-US"/>
          </a:p>
          <a:p>
            <a:r>
              <a:rPr lang="zh-CN" altLang="en-US"/>
              <a:t>在模式里找这个字符，移动到对应位</a:t>
            </a:r>
            <a:r>
              <a:rPr lang="zh-CN" altLang="en-US"/>
              <a:t>置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算法</a:t>
            </a:r>
            <a:r>
              <a:rPr lang="zh-CN" altLang="en-US"/>
              <a:t>对比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854075" y="2326640"/>
          <a:ext cx="10483850" cy="0"/>
        </p:xfrm>
        <a:graphic>
          <a:graphicData uri="http://schemas.openxmlformats.org/drawingml/2006/table">
            <a:tbl>
              <a:tblPr/>
              <a:tblGrid>
                <a:gridCol w="2096770"/>
                <a:gridCol w="2096770"/>
                <a:gridCol w="2096770"/>
                <a:gridCol w="2096770"/>
                <a:gridCol w="2096770"/>
              </a:tblGrid>
              <a:tr h="0"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算法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匹配方向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核心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速度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适用场景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KMP</a:t>
                      </a:r>
                      <a:endParaRPr lang="en-US" altLang="zh-CN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从左到右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next </a:t>
                      </a:r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数组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快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教学、长文本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BM</a:t>
                      </a:r>
                      <a:endParaRPr lang="en-US" altLang="zh-CN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从右到左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坏字符 </a:t>
                      </a:r>
                      <a:r>
                        <a:rPr lang="en-US" altLang="zh-CN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+ </a:t>
                      </a:r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好后缀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极快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文本编辑器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en-US" altLang="zh-CN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Sunday</a:t>
                      </a:r>
                      <a:endParaRPr lang="en-US" altLang="zh-CN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从左到右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看后一个字符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极快、最简单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工程手写首选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</a:t>
            </a:r>
            <a:r>
              <a:rPr lang="zh-CN" altLang="en-US"/>
              <a:t>本</a:t>
            </a:r>
            <a:r>
              <a:rPr lang="zh-CN" altLang="en-US"/>
              <a:t>周要点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字符串基础</a:t>
            </a:r>
            <a:endParaRPr lang="zh-CN" altLang="en-US"/>
          </a:p>
          <a:p>
            <a:r>
              <a:rPr lang="zh-CN" altLang="en-US"/>
              <a:t>朴素算法</a:t>
            </a:r>
            <a:endParaRPr lang="en-US" altLang="zh-CN"/>
          </a:p>
          <a:p>
            <a:r>
              <a:rPr lang="en-US" altLang="zh-CN"/>
              <a:t>KMP </a:t>
            </a:r>
            <a:r>
              <a:rPr lang="zh-CN" altLang="en-US"/>
              <a:t>核心：</a:t>
            </a:r>
            <a:r>
              <a:rPr lang="en-US" altLang="zh-CN"/>
              <a:t>next </a:t>
            </a:r>
            <a:r>
              <a:rPr lang="zh-CN" altLang="en-US"/>
              <a:t>数组</a:t>
            </a:r>
            <a:r>
              <a:rPr lang="en-US" altLang="zh-CN"/>
              <a:t> = LPS</a:t>
            </a:r>
            <a:endParaRPr lang="en-US" altLang="zh-CN"/>
          </a:p>
          <a:p>
            <a:r>
              <a:rPr lang="zh-CN" altLang="en-US"/>
              <a:t>优势：主串不回溯、线性复杂度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作业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KMP </a:t>
            </a:r>
            <a:r>
              <a:rPr lang="zh-CN" altLang="en-US"/>
              <a:t>手动模拟</a:t>
            </a:r>
            <a:endParaRPr lang="zh-CN" altLang="en-US"/>
          </a:p>
          <a:p>
            <a:pPr lvl="1"/>
            <a:r>
              <a:rPr lang="zh-CN" altLang="en-US"/>
              <a:t>主串：</a:t>
            </a:r>
            <a:r>
              <a:rPr lang="en-US" altLang="zh-CN"/>
              <a:t>ABABABCABABABD</a:t>
            </a:r>
            <a:endParaRPr lang="en-US" altLang="zh-CN"/>
          </a:p>
          <a:p>
            <a:pPr lvl="1"/>
            <a:r>
              <a:rPr lang="zh-CN" altLang="en-US"/>
              <a:t>模式串：</a:t>
            </a:r>
            <a:r>
              <a:rPr lang="en-US" altLang="zh-CN"/>
              <a:t>ABABD</a:t>
            </a:r>
            <a:endParaRPr lang="en-US" altLang="zh-CN"/>
          </a:p>
          <a:p>
            <a:pPr lvl="1"/>
            <a:r>
              <a:rPr lang="zh-CN" altLang="en-US"/>
              <a:t>完整写出</a:t>
            </a:r>
            <a:r>
              <a:rPr lang="en-US" altLang="zh-CN"/>
              <a:t> next </a:t>
            </a:r>
            <a:r>
              <a:rPr lang="zh-CN" altLang="en-US"/>
              <a:t>数组计算过程</a:t>
            </a:r>
            <a:endParaRPr lang="zh-CN" altLang="en-US"/>
          </a:p>
          <a:p>
            <a:pPr lvl="1"/>
            <a:r>
              <a:rPr lang="zh-CN" altLang="en-US"/>
              <a:t>逐步骤模拟</a:t>
            </a:r>
            <a:r>
              <a:rPr lang="en-US" altLang="zh-CN"/>
              <a:t> KMP </a:t>
            </a:r>
            <a:r>
              <a:rPr lang="zh-CN" altLang="en-US"/>
              <a:t>匹配，标注</a:t>
            </a:r>
            <a:r>
              <a:rPr lang="en-US" altLang="zh-CN"/>
              <a:t> i</a:t>
            </a:r>
            <a:r>
              <a:rPr lang="zh-CN" altLang="en-US"/>
              <a:t>、</a:t>
            </a:r>
            <a:r>
              <a:rPr lang="en-US" altLang="zh-CN"/>
              <a:t>j </a:t>
            </a:r>
            <a:r>
              <a:rPr lang="zh-CN" altLang="en-US"/>
              <a:t>变化</a:t>
            </a:r>
            <a:endParaRPr lang="zh-CN" altLang="en-US"/>
          </a:p>
          <a:p>
            <a:pPr lvl="1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多模式匹配与自动机思想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>
                <a:sym typeface="+mn-ea"/>
              </a:rPr>
              <a:t>EST50016h.12 </a:t>
            </a:r>
            <a:r>
              <a:rPr lang="zh-CN" altLang="en-US"/>
              <a:t>数据结构与算法设计（</a:t>
            </a:r>
            <a:r>
              <a:rPr lang="en-US" altLang="zh-CN"/>
              <a:t>H</a:t>
            </a:r>
            <a:r>
              <a:rPr lang="zh-CN" altLang="en-US"/>
              <a:t>）</a:t>
            </a:r>
            <a:endParaRPr lang="zh-CN" altLang="en-US"/>
          </a:p>
          <a:p>
            <a:r>
              <a:rPr lang="en-US" altLang="zh-CN">
                <a:sym typeface="+mn-ea"/>
              </a:rPr>
              <a:t>Week6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多模式匹配</a:t>
            </a:r>
            <a:r>
              <a:rPr lang="zh-CN" altLang="en-US"/>
              <a:t>要求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一个主串，同时匹配</a:t>
            </a:r>
            <a:r>
              <a:rPr lang="en-US" altLang="zh-CN"/>
              <a:t> N </a:t>
            </a:r>
            <a:r>
              <a:rPr lang="zh-CN" altLang="en-US"/>
              <a:t>个模式串</a:t>
            </a:r>
            <a:endParaRPr lang="zh-CN" altLang="en-US"/>
          </a:p>
          <a:p>
            <a:r>
              <a:rPr lang="zh-CN" altLang="en-US"/>
              <a:t>场景：敏感词过滤、关键词检索、入侵检测</a:t>
            </a:r>
            <a:endParaRPr lang="zh-CN" altLang="en-US"/>
          </a:p>
          <a:p>
            <a:pPr lvl="1"/>
            <a:r>
              <a:rPr lang="zh-CN" altLang="en-US"/>
              <a:t>单模式（</a:t>
            </a:r>
            <a:r>
              <a:rPr lang="en-US" altLang="zh-CN"/>
              <a:t>KMP</a:t>
            </a:r>
            <a:r>
              <a:rPr lang="zh-CN" altLang="en-US"/>
              <a:t>）需跑</a:t>
            </a:r>
            <a:r>
              <a:rPr lang="en-US" altLang="zh-CN"/>
              <a:t> N </a:t>
            </a:r>
            <a:r>
              <a:rPr lang="zh-CN" altLang="en-US"/>
              <a:t>次，效率低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Aho-Corasick</a:t>
            </a:r>
            <a:r>
              <a:rPr lang="zh-CN" altLang="en-US">
                <a:sym typeface="+mn-ea"/>
              </a:rPr>
              <a:t>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Aho-Corasick </a:t>
            </a:r>
            <a:r>
              <a:rPr lang="zh-CN" altLang="en-US"/>
              <a:t>自动机，由</a:t>
            </a:r>
            <a:r>
              <a:rPr lang="en-US" altLang="zh-CN"/>
              <a:t>Alfred V. Aho</a:t>
            </a:r>
            <a:r>
              <a:rPr lang="zh-CN" altLang="en-US"/>
              <a:t>和</a:t>
            </a:r>
            <a:r>
              <a:rPr lang="en-US" altLang="zh-CN"/>
              <a:t>Margaret J. Corasick</a:t>
            </a:r>
            <a:r>
              <a:rPr lang="zh-CN" altLang="en-US"/>
              <a:t>于</a:t>
            </a:r>
            <a:r>
              <a:rPr lang="en-US" altLang="zh-CN"/>
              <a:t>1975</a:t>
            </a:r>
            <a:r>
              <a:rPr lang="zh-CN" altLang="en-US"/>
              <a:t>年发明</a:t>
            </a:r>
            <a:endParaRPr lang="zh-CN" altLang="en-US"/>
          </a:p>
          <a:p>
            <a:r>
              <a:rPr lang="en-US" altLang="zh-CN"/>
              <a:t>Aho-Corasick</a:t>
            </a:r>
            <a:r>
              <a:rPr lang="zh-CN" altLang="en-US"/>
              <a:t>算法构建了一个有限状态机，类似于带有额外链接的</a:t>
            </a:r>
            <a:r>
              <a:rPr lang="en-US" altLang="zh-CN"/>
              <a:t>Trie</a:t>
            </a:r>
            <a:r>
              <a:rPr lang="zh-CN" altLang="en-US"/>
              <a:t>树。这些额外的内部链接允许在字符串匹配失败时快速转换到</a:t>
            </a:r>
            <a:r>
              <a:rPr lang="en-US" altLang="zh-CN"/>
              <a:t>Trie</a:t>
            </a:r>
            <a:r>
              <a:rPr lang="zh-CN" altLang="en-US"/>
              <a:t>树的其他分支，而无需回溯。</a:t>
            </a:r>
            <a:endParaRPr lang="zh-CN" altLang="en-US"/>
          </a:p>
          <a:p>
            <a:r>
              <a:rPr lang="zh-CN" altLang="en-US"/>
              <a:t>当字符串字典已知时，可以离线构建自动机并存储以供以后使用。在这种情况下，其运行时间与输入长度和匹配条目数成线性关系。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Aho-Corasick</a:t>
            </a:r>
            <a:r>
              <a:rPr lang="zh-CN" altLang="en-US">
                <a:sym typeface="+mn-ea"/>
              </a:rPr>
              <a:t>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AC</a:t>
            </a:r>
            <a:r>
              <a:rPr lang="zh-CN" altLang="en-US"/>
              <a:t>自动机是多模式匹配的一个经典数据结构，原理是和</a:t>
            </a:r>
            <a:r>
              <a:rPr lang="en-US" altLang="zh-CN"/>
              <a:t>KMP</a:t>
            </a:r>
            <a:r>
              <a:rPr lang="zh-CN" altLang="en-US"/>
              <a:t>一样的构造</a:t>
            </a:r>
            <a:r>
              <a:rPr lang="en-US" altLang="zh-CN"/>
              <a:t>Fail</a:t>
            </a:r>
            <a:r>
              <a:rPr lang="zh-CN" altLang="en-US"/>
              <a:t>指针，不过</a:t>
            </a:r>
            <a:r>
              <a:rPr lang="en-US" altLang="zh-CN"/>
              <a:t>AC</a:t>
            </a:r>
            <a:r>
              <a:rPr lang="zh-CN" altLang="en-US"/>
              <a:t>自动机是在</a:t>
            </a:r>
            <a:r>
              <a:rPr lang="en-US" altLang="zh-CN"/>
              <a:t>Trie</a:t>
            </a:r>
            <a:r>
              <a:rPr lang="zh-CN" altLang="en-US"/>
              <a:t>树上构造的，但原理是一样的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Trie </a:t>
            </a:r>
            <a:r>
              <a:rPr lang="zh-CN" altLang="en-US"/>
              <a:t>字典树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849120"/>
            <a:ext cx="6196965" cy="4276725"/>
          </a:xfrm>
        </p:spPr>
        <p:txBody>
          <a:bodyPr/>
          <a:p>
            <a:r>
              <a:rPr lang="zh-CN" altLang="en-US" sz="2400"/>
              <a:t>利用字符串的公共前缀（</a:t>
            </a:r>
            <a:r>
              <a:rPr lang="en-US" altLang="zh-CN" sz="2400"/>
              <a:t>common-prefix</a:t>
            </a:r>
            <a:r>
              <a:rPr lang="zh-CN" altLang="en-US" sz="2400"/>
              <a:t>）来减少查询时间，搜索时间为</a:t>
            </a:r>
            <a:r>
              <a:rPr lang="en-US" altLang="zh-CN" sz="2400"/>
              <a:t>O(d)</a:t>
            </a:r>
            <a:r>
              <a:rPr lang="zh-CN" altLang="en-US" sz="2400"/>
              <a:t>，</a:t>
            </a:r>
            <a:r>
              <a:rPr lang="en-US" altLang="zh-CN" sz="2400"/>
              <a:t>d</a:t>
            </a:r>
            <a:r>
              <a:rPr lang="zh-CN" altLang="en-US" sz="2400"/>
              <a:t>为树的深度。</a:t>
            </a:r>
            <a:endParaRPr lang="en-US" altLang="zh-CN" sz="2400"/>
          </a:p>
          <a:p>
            <a:pPr marL="514350" indent="-514350">
              <a:buAutoNum type="arabicPeriod"/>
            </a:pPr>
            <a:r>
              <a:rPr lang="zh-CN" altLang="en-US" sz="2400"/>
              <a:t>根节点不含字符</a:t>
            </a:r>
            <a:endParaRPr lang="en-US" altLang="zh-CN" sz="2400"/>
          </a:p>
          <a:p>
            <a:pPr marL="514350" indent="-514350">
              <a:buAutoNum type="arabicPeriod"/>
            </a:pPr>
            <a:r>
              <a:rPr lang="zh-CN" altLang="en-US" sz="2400"/>
              <a:t>根节点到某一终点连起来即为搜索字符串</a:t>
            </a:r>
            <a:endParaRPr lang="en-US" altLang="zh-CN" sz="2400"/>
          </a:p>
          <a:p>
            <a:pPr marL="514350" indent="-514350">
              <a:buAutoNum type="arabicPeriod"/>
            </a:pPr>
            <a:r>
              <a:rPr lang="zh-CN" altLang="en-US" sz="2400"/>
              <a:t>任意节点的所有子节点包含字符不同</a:t>
            </a:r>
            <a:endParaRPr lang="zh-CN" altLang="en-US" sz="2400"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7261225" y="0"/>
            <a:ext cx="493141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AC </a:t>
            </a:r>
            <a:r>
              <a:rPr lang="zh-CN" altLang="en-US"/>
              <a:t>自动机思想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Aho-Corasick </a:t>
            </a:r>
            <a:r>
              <a:rPr lang="zh-CN" altLang="en-US"/>
              <a:t>自动机</a:t>
            </a:r>
            <a:r>
              <a:rPr lang="en-US" altLang="zh-CN"/>
              <a:t> </a:t>
            </a:r>
            <a:endParaRPr lang="en-US" altLang="zh-CN"/>
          </a:p>
          <a:p>
            <a:pPr lvl="1"/>
            <a:r>
              <a:rPr lang="en-US" altLang="zh-CN"/>
              <a:t>Trie </a:t>
            </a:r>
            <a:r>
              <a:rPr lang="zh-CN" altLang="en-US"/>
              <a:t>树</a:t>
            </a:r>
            <a:endParaRPr lang="zh-CN" altLang="en-US"/>
          </a:p>
          <a:p>
            <a:pPr lvl="1"/>
            <a:r>
              <a:rPr lang="en-US" altLang="zh-CN"/>
              <a:t>KMP </a:t>
            </a:r>
            <a:r>
              <a:rPr lang="zh-CN" altLang="en-US"/>
              <a:t>失败指针</a:t>
            </a:r>
            <a:endParaRPr lang="zh-CN" altLang="en-US"/>
          </a:p>
          <a:p>
            <a:r>
              <a:rPr lang="zh-CN" altLang="en-US"/>
              <a:t>一次遍历主串，输出所有匹配模式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失败指针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类似</a:t>
            </a:r>
            <a:r>
              <a:rPr lang="en-US" altLang="zh-CN"/>
              <a:t> KMP next </a:t>
            </a:r>
            <a:r>
              <a:rPr lang="zh-CN" altLang="en-US"/>
              <a:t>数组</a:t>
            </a:r>
            <a:endParaRPr lang="zh-CN" altLang="en-US"/>
          </a:p>
          <a:p>
            <a:r>
              <a:rPr lang="zh-CN" altLang="en-US"/>
              <a:t>匹配失败时跳转，避免回退</a:t>
            </a:r>
            <a:endParaRPr lang="zh-CN" altLang="en-US"/>
          </a:p>
          <a:p>
            <a:r>
              <a:rPr lang="zh-CN" altLang="en-US"/>
              <a:t>使用</a:t>
            </a:r>
            <a:r>
              <a:rPr lang="en-US" altLang="zh-CN"/>
              <a:t> BFS </a:t>
            </a:r>
            <a:r>
              <a:rPr lang="zh-CN" altLang="en-US"/>
              <a:t>层序构建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AC </a:t>
            </a:r>
            <a:r>
              <a:rPr lang="zh-CN" altLang="en-US"/>
              <a:t>自动机匹配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从根开始遍历主串</a:t>
            </a:r>
            <a:endParaRPr lang="zh-CN" altLang="en-US"/>
          </a:p>
          <a:p>
            <a:r>
              <a:rPr lang="zh-CN" altLang="en-US"/>
              <a:t>能继续移动则移动，不能移动根据失败指针</a:t>
            </a:r>
            <a:r>
              <a:rPr lang="zh-CN" altLang="en-US"/>
              <a:t>跳转</a:t>
            </a:r>
            <a:endParaRPr lang="zh-CN" altLang="en-US"/>
          </a:p>
          <a:p>
            <a:r>
              <a:rPr lang="zh-CN" altLang="en-US"/>
              <a:t>到达可结尾节点</a:t>
            </a:r>
            <a:r>
              <a:rPr lang="zh-CN" altLang="en-US"/>
              <a:t>时输出匹配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复杂度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n: </a:t>
            </a:r>
            <a:r>
              <a:rPr lang="zh-CN" altLang="en-US"/>
              <a:t>主串长度</a:t>
            </a:r>
            <a:endParaRPr lang="zh-CN" altLang="en-US"/>
          </a:p>
          <a:p>
            <a:r>
              <a:rPr lang="en-US" altLang="zh-CN"/>
              <a:t>m: </a:t>
            </a:r>
            <a:r>
              <a:rPr lang="zh-CN" altLang="en-US"/>
              <a:t>所有模式串的总长度</a:t>
            </a:r>
            <a:endParaRPr lang="zh-CN" altLang="en-US"/>
          </a:p>
          <a:p>
            <a:r>
              <a:rPr lang="en-US" altLang="zh-CN"/>
              <a:t>k: </a:t>
            </a:r>
            <a:r>
              <a:rPr lang="zh-CN" altLang="en-US"/>
              <a:t>模式串的数量</a:t>
            </a:r>
            <a:endParaRPr lang="zh-CN" altLang="en-US"/>
          </a:p>
          <a:p>
            <a:r>
              <a:rPr lang="en-US" altLang="zh-CN"/>
              <a:t>z: </a:t>
            </a:r>
            <a:r>
              <a:rPr lang="zh-CN" altLang="en-US"/>
              <a:t>匹配结果的数量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复杂度</a:t>
            </a:r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构建复杂度：</a:t>
            </a:r>
            <a:endParaRPr lang="zh-CN" altLang="en-US"/>
          </a:p>
          <a:p>
            <a:pPr lvl="1"/>
            <a:r>
              <a:rPr lang="en-US" altLang="zh-CN"/>
              <a:t> Trie </a:t>
            </a:r>
            <a:r>
              <a:rPr lang="zh-CN" altLang="en-US"/>
              <a:t>树构建</a:t>
            </a:r>
            <a:r>
              <a:rPr lang="en-US" altLang="zh-CN"/>
              <a:t> O (m)</a:t>
            </a:r>
            <a:r>
              <a:rPr lang="zh-CN" altLang="en-US" sz="2400"/>
              <a:t> </a:t>
            </a:r>
            <a:r>
              <a:rPr lang="en-US" altLang="zh-CN" sz="2400"/>
              <a:t>+ </a:t>
            </a:r>
            <a:r>
              <a:rPr lang="zh-CN" altLang="en-US" sz="2400"/>
              <a:t>失败指针</a:t>
            </a:r>
            <a:r>
              <a:rPr lang="en-US" altLang="zh-CN"/>
              <a:t> O (m * </a:t>
            </a:r>
            <a:r>
              <a:rPr lang="zh-CN" altLang="en-US"/>
              <a:t>字符集大小</a:t>
            </a:r>
            <a:r>
              <a:rPr lang="en-US" altLang="zh-CN"/>
              <a:t>)</a:t>
            </a:r>
            <a:endParaRPr lang="en-US" altLang="zh-CN"/>
          </a:p>
          <a:p>
            <a:r>
              <a:rPr lang="zh-CN" altLang="en-US"/>
              <a:t>匹配复杂度：</a:t>
            </a:r>
            <a:endParaRPr lang="zh-CN" altLang="en-US"/>
          </a:p>
          <a:p>
            <a:pPr lvl="1"/>
            <a:r>
              <a:rPr lang="zh-CN" altLang="en-US"/>
              <a:t>主串字符处理</a:t>
            </a:r>
            <a:r>
              <a:rPr lang="en-US" altLang="zh-CN"/>
              <a:t> O (n)</a:t>
            </a:r>
            <a:endParaRPr lang="en-US" altLang="zh-CN"/>
          </a:p>
          <a:p>
            <a:pPr lvl="1"/>
            <a:r>
              <a:rPr lang="zh-CN" altLang="en-US"/>
              <a:t>失败跳转的总次数是</a:t>
            </a:r>
            <a:r>
              <a:rPr lang="en-US" altLang="zh-CN"/>
              <a:t> O (n)</a:t>
            </a:r>
            <a:r>
              <a:rPr lang="zh-CN" altLang="en-US"/>
              <a:t>（在整个匹配过程中，所有跳转的总次数是有限的，并且与主串长度</a:t>
            </a:r>
            <a:r>
              <a:rPr lang="en-US" altLang="zh-CN"/>
              <a:t> n </a:t>
            </a:r>
            <a:r>
              <a:rPr lang="zh-CN" altLang="en-US"/>
              <a:t>成正比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结果输出，</a:t>
            </a:r>
            <a:r>
              <a:rPr lang="en-US" altLang="zh-CN"/>
              <a:t>O(z)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有限自动机</a:t>
            </a:r>
            <a:r>
              <a:rPr lang="en-US" altLang="zh-CN"/>
              <a:t> DFA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状态</a:t>
            </a:r>
            <a:r>
              <a:rPr lang="en-US" altLang="zh-CN"/>
              <a:t> + </a:t>
            </a:r>
            <a:r>
              <a:rPr lang="zh-CN" altLang="en-US"/>
              <a:t>转移规则</a:t>
            </a:r>
            <a:endParaRPr lang="zh-CN" altLang="en-US"/>
          </a:p>
          <a:p>
            <a:r>
              <a:rPr lang="en-US" altLang="zh-CN"/>
              <a:t>KMP</a:t>
            </a:r>
            <a:r>
              <a:rPr lang="zh-CN" altLang="en-US"/>
              <a:t>、</a:t>
            </a:r>
            <a:r>
              <a:rPr lang="en-US" altLang="zh-CN"/>
              <a:t>AC </a:t>
            </a:r>
            <a:r>
              <a:rPr lang="zh-CN" altLang="en-US"/>
              <a:t>自动机本质都是</a:t>
            </a:r>
            <a:r>
              <a:rPr lang="en-US" altLang="zh-CN"/>
              <a:t> DFA</a:t>
            </a:r>
            <a:endParaRPr lang="en-US" altLang="zh-CN"/>
          </a:p>
          <a:p>
            <a:r>
              <a:rPr lang="zh-CN" altLang="en-US"/>
              <a:t>适合流式处理、大数据、高性能匹配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DFA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Deterministic Finite Automaton</a:t>
            </a:r>
            <a:r>
              <a:rPr lang="zh-CN" altLang="en-US">
                <a:sym typeface="+mn-ea"/>
              </a:rPr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确定性有限自动机，是一个状态转移系统，用来识别字符串是否符合某个模式。</a:t>
            </a:r>
            <a:endParaRPr lang="zh-CN" altLang="en-US"/>
          </a:p>
          <a:p>
            <a:r>
              <a:rPr lang="zh-CN" altLang="en-US"/>
              <a:t>串匹配算法（</a:t>
            </a:r>
            <a:r>
              <a:rPr lang="en-US" altLang="zh-CN"/>
              <a:t>KMP / BM / Sunday / AC </a:t>
            </a:r>
            <a:r>
              <a:rPr lang="zh-CN" altLang="en-US"/>
              <a:t>自动机）本质上都是</a:t>
            </a:r>
            <a:r>
              <a:rPr lang="en-US" altLang="zh-CN"/>
              <a:t> DFA </a:t>
            </a:r>
            <a:r>
              <a:rPr lang="zh-CN" altLang="en-US"/>
              <a:t>的具体实现。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状态机</a:t>
            </a: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State Machine</a:t>
            </a:r>
            <a:r>
              <a:rPr lang="zh-CN" altLang="en-US">
                <a:sym typeface="+mn-ea"/>
              </a:rPr>
              <a:t>）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状态机是有限状态自动机的简称，是现实事物运行规则抽象而成的一个数学模型。</a:t>
            </a:r>
            <a:endParaRPr lang="en-US" altLang="zh-CN" dirty="0"/>
          </a:p>
          <a:p>
            <a:r>
              <a:rPr lang="zh-CN" altLang="en-US" dirty="0"/>
              <a:t>有限状态机</a:t>
            </a:r>
            <a:r>
              <a:rPr lang="en-GB" altLang="zh-CN" dirty="0"/>
              <a:t>FSM</a:t>
            </a:r>
            <a:r>
              <a:rPr lang="zh-CN" altLang="en-GB" dirty="0"/>
              <a:t>（</a:t>
            </a:r>
            <a:r>
              <a:rPr lang="en-GB" altLang="zh-CN" dirty="0"/>
              <a:t>Finite State Machine</a:t>
            </a:r>
            <a:r>
              <a:rPr lang="zh-CN" altLang="en-GB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1943</a:t>
            </a:r>
            <a:r>
              <a:rPr lang="zh-CN" altLang="en-US" dirty="0"/>
              <a:t>年，当时 </a:t>
            </a:r>
            <a:r>
              <a:rPr lang="en-GB" altLang="zh-CN" dirty="0"/>
              <a:t>Warren McCulloch </a:t>
            </a:r>
            <a:r>
              <a:rPr lang="zh-CN" altLang="en-US" dirty="0"/>
              <a:t>和 </a:t>
            </a:r>
            <a:r>
              <a:rPr lang="en-GB" altLang="zh-CN" dirty="0"/>
              <a:t>Walter Pitts </a:t>
            </a:r>
            <a:r>
              <a:rPr lang="zh-CN" altLang="en-US" dirty="0"/>
              <a:t>的论文</a:t>
            </a:r>
            <a:endParaRPr lang="en-US" altLang="zh-CN" dirty="0"/>
          </a:p>
          <a:p>
            <a:pPr lvl="1"/>
            <a:r>
              <a:rPr lang="en-US" altLang="zh-CN" dirty="0"/>
              <a:t>1955</a:t>
            </a:r>
            <a:r>
              <a:rPr lang="zh-CN" altLang="en-US" dirty="0"/>
              <a:t>年，</a:t>
            </a:r>
            <a:r>
              <a:rPr lang="en-GB" altLang="zh-CN" dirty="0"/>
              <a:t> George </a:t>
            </a:r>
            <a:r>
              <a:rPr lang="en-GB" altLang="zh-CN" dirty="0" err="1"/>
              <a:t>H.Mealy</a:t>
            </a:r>
            <a:r>
              <a:rPr lang="en-GB" altLang="zh-CN" dirty="0"/>
              <a:t> </a:t>
            </a:r>
            <a:r>
              <a:rPr lang="zh-CN" altLang="en-US" dirty="0"/>
              <a:t>在提出了一个状态机概念，称为</a:t>
            </a:r>
            <a:r>
              <a:rPr lang="en-GB" altLang="zh-CN" dirty="0"/>
              <a:t>Mealy</a:t>
            </a:r>
            <a:r>
              <a:rPr lang="zh-CN" altLang="en-US" dirty="0"/>
              <a:t>机</a:t>
            </a:r>
            <a:endParaRPr lang="en-US" altLang="zh-CN" dirty="0"/>
          </a:p>
          <a:p>
            <a:pPr lvl="1"/>
            <a:r>
              <a:rPr lang="en-US" altLang="zh-CN" dirty="0"/>
              <a:t>1956</a:t>
            </a:r>
            <a:r>
              <a:rPr lang="zh-CN" altLang="en-US" dirty="0"/>
              <a:t>年，</a:t>
            </a:r>
            <a:r>
              <a:rPr lang="en-GB" altLang="zh-CN" dirty="0"/>
              <a:t>Edward </a:t>
            </a:r>
            <a:r>
              <a:rPr lang="en-GB" altLang="zh-CN" dirty="0" err="1"/>
              <a:t>F.Moore</a:t>
            </a:r>
            <a:r>
              <a:rPr lang="en-GB" altLang="zh-CN" dirty="0"/>
              <a:t> </a:t>
            </a:r>
            <a:r>
              <a:rPr lang="zh-CN" altLang="en-US" dirty="0"/>
              <a:t>提出了另一篇被称为</a:t>
            </a:r>
            <a:r>
              <a:rPr lang="en-GB" altLang="zh-CN" dirty="0"/>
              <a:t>Moore</a:t>
            </a:r>
            <a:r>
              <a:rPr lang="zh-CN" altLang="en-US" dirty="0"/>
              <a:t>机的论文。后来这个概念被广泛应用于语言学、计算机科学、生物学、数学和逻辑学，甚至于哲学等各种领域。</a:t>
            </a:r>
            <a:endParaRPr lang="zh-CN" altLang="en-US" dirty="0"/>
          </a:p>
          <a:p>
            <a:br>
              <a:rPr lang="zh-CN" altLang="en-US" dirty="0"/>
            </a:br>
            <a:br>
              <a:rPr lang="zh-CN" altLang="en-US" dirty="0"/>
            </a:b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38201" y="1825625"/>
            <a:ext cx="5329843" cy="4351338"/>
          </a:xfrm>
        </p:spPr>
        <p:txBody>
          <a:bodyPr/>
          <a:lstStyle/>
          <a:p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状态</a:t>
            </a:r>
            <a:r>
              <a:rPr lang="zh-CN" altLang="en-US" dirty="0"/>
              <a:t>以及在这些状态之间的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转移</a:t>
            </a:r>
            <a:r>
              <a:rPr lang="zh-CN" altLang="en-US" dirty="0"/>
              <a:t>和</a:t>
            </a:r>
            <a:r>
              <a:rPr lang="zh-CN" altLang="en-US" dirty="0">
                <a:solidFill>
                  <a:schemeClr val="accent5">
                    <a:lumMod val="75000"/>
                  </a:schemeClr>
                </a:solidFill>
              </a:rPr>
              <a:t>动作</a:t>
            </a:r>
            <a:r>
              <a:rPr lang="zh-CN" altLang="en-US" dirty="0"/>
              <a:t>等行为的数学模型</a:t>
            </a:r>
            <a:endParaRPr lang="zh-CN" altLang="en-US" dirty="0"/>
          </a:p>
          <a:p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任一时刻，只处在一种状态之中。</a:t>
            </a:r>
            <a:endParaRPr lang="zh-CN" altLang="en-US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某种条件触发后，会从一种状态转变到另一种状态。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状态数量有限</a:t>
            </a:r>
            <a:endParaRPr lang="en-US" altLang="zh-CN" dirty="0"/>
          </a:p>
          <a:p>
            <a:endParaRPr lang="zh-CN" altLang="en-US" dirty="0"/>
          </a:p>
          <a:p>
            <a:endParaRPr kumimoji="1"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（有限）状态机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02778" y="2576181"/>
            <a:ext cx="6212031" cy="2850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状态机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现态：是指当前所处的状态。</a:t>
            </a:r>
            <a:endParaRPr lang="zh-CN" altLang="en-US" sz="2400" dirty="0"/>
          </a:p>
          <a:p>
            <a:r>
              <a:rPr lang="zh-CN" altLang="en-US" sz="2400" dirty="0"/>
              <a:t>条件：又称为“事件”，当一个条件被满足，将会触发一个动作，或者执行一次状态的迁移。</a:t>
            </a:r>
            <a:endParaRPr lang="en-US" altLang="zh-CN" sz="2400" dirty="0"/>
          </a:p>
          <a:p>
            <a:r>
              <a:rPr lang="zh-CN" altLang="en-US" sz="2400" dirty="0"/>
              <a:t>动作：条件满足后执行的动作，动作执行完毕后，可以迁移到新的状态，也可以仍旧保持原状态。动作不是必需的，当条件满足后，也可以不执行任何动作，直接迁移到新状态。</a:t>
            </a:r>
            <a:endParaRPr lang="zh-CN" altLang="en-US" sz="2400" dirty="0"/>
          </a:p>
          <a:p>
            <a:r>
              <a:rPr lang="zh-CN" altLang="en-US" sz="2400" dirty="0"/>
              <a:t>次态：条件满足后要迁往的新状态。“次态”是相对于“现态”而言的，“次态”一旦被激活，就转变成新的“现态”了。</a:t>
            </a:r>
            <a:endParaRPr lang="zh-CN" altLang="en-US" sz="2400" dirty="0"/>
          </a:p>
          <a:p>
            <a:endParaRPr kumimoji="1"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状态转移表</a:t>
            </a:r>
            <a:endParaRPr kumimoji="1"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609600" y="2936240"/>
          <a:ext cx="10972800" cy="21031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0">
                <a:tc gridSpan="4">
                  <a:txBody>
                    <a:bodyPr/>
                    <a:lstStyle/>
                    <a:p>
                      <a:r>
                        <a:rPr lang="zh-CN" altLang="en-US" b="0" i="0" dirty="0">
                          <a:ea typeface="Microsoft YaHei" panose="020B0502040204020203" pitchFamily="34" charset="-122"/>
                        </a:rPr>
                        <a:t>状态转移表</a:t>
                      </a:r>
                      <a:endParaRPr lang="zh-CN" altLang="en-US" b="0" i="0" dirty="0">
                        <a:ea typeface="Microsoft YaHei" panose="020B0502040204020203" pitchFamily="34" charset="-122"/>
                      </a:endParaRPr>
                    </a:p>
                  </a:txBody>
                  <a:tcPr anchor="ctr">
                    <a:solidFill>
                      <a:srgbClr val="F8F9FA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effectLst/>
                          <a:ea typeface="Microsoft YaHei" panose="020B0502040204020203" pitchFamily="34" charset="-122"/>
                        </a:rPr>
                        <a:t>当前状态→</a:t>
                      </a:r>
                      <a:br>
                        <a:rPr lang="zh-CN" altLang="en-US" b="0" i="0" dirty="0">
                          <a:effectLst/>
                          <a:ea typeface="Microsoft YaHei" panose="020B0502040204020203" pitchFamily="34" charset="-122"/>
                        </a:rPr>
                      </a:br>
                      <a:r>
                        <a:rPr lang="zh-CN" altLang="en-US" b="0" i="0" dirty="0">
                          <a:effectLst/>
                          <a:ea typeface="Microsoft YaHei" panose="020B0502040204020203" pitchFamily="34" charset="-122"/>
                        </a:rPr>
                        <a:t>条件↓</a:t>
                      </a:r>
                      <a:endParaRPr lang="zh-CN" altLang="en-US" b="0" i="0" dirty="0">
                        <a:effectLst/>
                        <a:ea typeface="Microsoft YaHei" panose="020B0502040204020203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effectLst/>
                          <a:ea typeface="Microsoft YaHei" panose="020B0502040204020203" pitchFamily="34" charset="-122"/>
                        </a:rPr>
                        <a:t>状态</a:t>
                      </a:r>
                      <a:r>
                        <a:rPr lang="en-GB" dirty="0">
                          <a:effectLst/>
                        </a:rPr>
                        <a:t>A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effectLst/>
                          <a:ea typeface="Microsoft YaHei" panose="020B0502040204020203" pitchFamily="34" charset="-122"/>
                        </a:rPr>
                        <a:t>状态</a:t>
                      </a:r>
                      <a:r>
                        <a:rPr lang="en-GB" dirty="0">
                          <a:effectLst/>
                        </a:rPr>
                        <a:t>B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effectLst/>
                          <a:ea typeface="Microsoft YaHei" panose="020B0502040204020203" pitchFamily="34" charset="-122"/>
                        </a:rPr>
                        <a:t>状态</a:t>
                      </a:r>
                      <a:r>
                        <a:rPr lang="en-GB" dirty="0">
                          <a:effectLst/>
                        </a:rPr>
                        <a:t>C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effectLst/>
                          <a:ea typeface="Microsoft YaHei" panose="020B0502040204020203" pitchFamily="34" charset="-122"/>
                        </a:rPr>
                        <a:t>条件</a:t>
                      </a:r>
                      <a:r>
                        <a:rPr lang="en-GB" dirty="0">
                          <a:effectLst/>
                        </a:rPr>
                        <a:t>X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i="0" dirty="0">
                          <a:effectLst/>
                          <a:ea typeface="Microsoft YaHei" panose="020B0502040204020203" pitchFamily="34" charset="-122"/>
                        </a:rPr>
                        <a:t>…</a:t>
                      </a:r>
                      <a:endParaRPr lang="en-US" altLang="zh-CN" b="0" i="0" dirty="0">
                        <a:effectLst/>
                        <a:ea typeface="Microsoft YaHei" panose="020B0502040204020203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i="0" dirty="0">
                          <a:effectLst/>
                          <a:ea typeface="Microsoft YaHei" panose="020B0502040204020203" pitchFamily="34" charset="-122"/>
                        </a:rPr>
                        <a:t>…</a:t>
                      </a:r>
                      <a:endParaRPr lang="en-US" altLang="zh-CN" b="0" i="0" dirty="0">
                        <a:effectLst/>
                        <a:ea typeface="Microsoft YaHei" panose="020B0502040204020203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i="0" dirty="0">
                          <a:effectLst/>
                          <a:ea typeface="Microsoft YaHei" panose="020B0502040204020203" pitchFamily="34" charset="-122"/>
                        </a:rPr>
                        <a:t>…</a:t>
                      </a:r>
                      <a:endParaRPr lang="en-US" altLang="zh-CN" b="0" i="0" dirty="0">
                        <a:effectLst/>
                        <a:ea typeface="Microsoft YaHei" panose="020B0502040204020203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effectLst/>
                          <a:ea typeface="Microsoft YaHei" panose="020B0502040204020203" pitchFamily="34" charset="-122"/>
                        </a:rPr>
                        <a:t>条件</a:t>
                      </a:r>
                      <a:r>
                        <a:rPr lang="en-GB" dirty="0">
                          <a:effectLst/>
                        </a:rPr>
                        <a:t>Y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i="0" dirty="0">
                          <a:effectLst/>
                          <a:ea typeface="Microsoft YaHei" panose="020B0502040204020203" pitchFamily="34" charset="-122"/>
                        </a:rPr>
                        <a:t>…</a:t>
                      </a:r>
                      <a:endParaRPr lang="en-US" altLang="zh-CN" b="0" i="0" dirty="0">
                        <a:effectLst/>
                        <a:ea typeface="Microsoft YaHei" panose="020B0502040204020203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b="0" i="0" dirty="0">
                          <a:effectLst/>
                          <a:ea typeface="Microsoft YaHei" panose="020B0502040204020203" pitchFamily="34" charset="-122"/>
                        </a:rPr>
                        <a:t>状态</a:t>
                      </a:r>
                      <a:r>
                        <a:rPr lang="en-GB" dirty="0">
                          <a:effectLst/>
                        </a:rPr>
                        <a:t>C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i="0" dirty="0">
                          <a:effectLst/>
                          <a:ea typeface="Microsoft YaHei" panose="020B0502040204020203" pitchFamily="34" charset="-122"/>
                        </a:rPr>
                        <a:t>…</a:t>
                      </a:r>
                      <a:endParaRPr lang="en-US" altLang="zh-CN" b="0" i="0" dirty="0">
                        <a:effectLst/>
                        <a:ea typeface="Microsoft YaHei" panose="020B0502040204020203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effectLst/>
                          <a:ea typeface="Microsoft YaHei" panose="020B0502040204020203" pitchFamily="34" charset="-122"/>
                        </a:rPr>
                        <a:t>条件</a:t>
                      </a:r>
                      <a:r>
                        <a:rPr lang="en-GB" dirty="0">
                          <a:effectLst/>
                        </a:rPr>
                        <a:t>Z</a:t>
                      </a:r>
                      <a:endParaRPr lang="en-GB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C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i="0" dirty="0">
                          <a:effectLst/>
                          <a:ea typeface="Microsoft YaHei" panose="020B0502040204020203" pitchFamily="34" charset="-122"/>
                        </a:rPr>
                        <a:t>…</a:t>
                      </a:r>
                      <a:endParaRPr lang="en-US" altLang="zh-CN" b="0" i="0" dirty="0">
                        <a:effectLst/>
                        <a:ea typeface="Microsoft YaHei" panose="020B0502040204020203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i="0" dirty="0">
                          <a:effectLst/>
                          <a:ea typeface="Microsoft YaHei" panose="020B0502040204020203" pitchFamily="34" charset="-122"/>
                        </a:rPr>
                        <a:t>…</a:t>
                      </a:r>
                      <a:endParaRPr lang="en-US" altLang="zh-CN" b="0" i="0" dirty="0">
                        <a:effectLst/>
                        <a:ea typeface="Microsoft YaHei" panose="020B0502040204020203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b="0" i="0" dirty="0">
                          <a:effectLst/>
                          <a:ea typeface="Microsoft YaHei" panose="020B0502040204020203" pitchFamily="34" charset="-122"/>
                        </a:rPr>
                        <a:t>…</a:t>
                      </a:r>
                      <a:endParaRPr lang="en-US" altLang="zh-CN" b="0" i="0" dirty="0">
                        <a:effectLst/>
                        <a:ea typeface="Microsoft YaHei" panose="020B0502040204020203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A2A9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3074" name="Picture 2" descr="查看源图像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113" y="0"/>
            <a:ext cx="111521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CF5"/>
              </a:clrFrom>
              <a:clrTo>
                <a:srgbClr val="FFFC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425" y="0"/>
            <a:ext cx="86931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自动机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专门用于处理字符串（或符号序列）的状态机，目标</a:t>
            </a:r>
            <a:r>
              <a:rPr lang="zh-CN" altLang="en-US"/>
              <a:t>是识别字符串是否符合某个预设模式</a:t>
            </a:r>
            <a:endParaRPr lang="zh-CN" altLang="en-US"/>
          </a:p>
          <a:p>
            <a:r>
              <a:rPr lang="zh-CN" altLang="en-US"/>
              <a:t>包含状态机的所有要素，额外增加</a:t>
            </a:r>
            <a:r>
              <a:rPr lang="en-US" altLang="zh-CN"/>
              <a:t> 2 </a:t>
            </a:r>
            <a:r>
              <a:rPr lang="zh-CN" altLang="en-US"/>
              <a:t>个关键约束：</a:t>
            </a:r>
            <a:endParaRPr lang="zh-CN" altLang="en-US"/>
          </a:p>
          <a:p>
            <a:pPr lvl="1"/>
            <a:r>
              <a:rPr lang="zh-CN" altLang="en-US"/>
              <a:t>输入必须是</a:t>
            </a:r>
            <a:r>
              <a:rPr lang="en-US" altLang="zh-CN"/>
              <a:t> “</a:t>
            </a:r>
            <a:r>
              <a:rPr lang="zh-CN" altLang="en-US"/>
              <a:t>字符串（符号序列）</a:t>
            </a:r>
            <a:r>
              <a:rPr lang="en-US" altLang="zh-CN"/>
              <a:t>”</a:t>
            </a:r>
            <a:r>
              <a:rPr lang="zh-CN" altLang="en-US"/>
              <a:t>（比如字符</a:t>
            </a:r>
            <a:r>
              <a:rPr lang="en-US" altLang="zh-CN"/>
              <a:t> a</a:t>
            </a:r>
            <a:r>
              <a:rPr lang="zh-CN" altLang="en-US"/>
              <a:t>、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，或二进制</a:t>
            </a:r>
            <a:r>
              <a:rPr lang="en-US" altLang="zh-CN"/>
              <a:t> 0</a:t>
            </a:r>
            <a:r>
              <a:rPr lang="zh-CN" altLang="en-US"/>
              <a:t>、</a:t>
            </a:r>
            <a:r>
              <a:rPr lang="en-US" altLang="zh-CN"/>
              <a:t>1</a:t>
            </a:r>
            <a:r>
              <a:rPr lang="zh-CN" altLang="en-US"/>
              <a:t>）</a:t>
            </a:r>
            <a:endParaRPr lang="zh-CN" altLang="en-US"/>
          </a:p>
          <a:p>
            <a:pPr lvl="1"/>
            <a:r>
              <a:rPr lang="zh-CN" altLang="en-US"/>
              <a:t>有明确的</a:t>
            </a:r>
            <a:r>
              <a:rPr lang="en-US" altLang="zh-CN"/>
              <a:t> “</a:t>
            </a:r>
            <a:r>
              <a:rPr lang="zh-CN" altLang="en-US"/>
              <a:t>初始状态</a:t>
            </a:r>
            <a:r>
              <a:rPr lang="en-US" altLang="zh-CN"/>
              <a:t>” </a:t>
            </a:r>
            <a:r>
              <a:rPr lang="zh-CN" altLang="en-US"/>
              <a:t>和</a:t>
            </a:r>
            <a:r>
              <a:rPr lang="en-US" altLang="zh-CN"/>
              <a:t> “</a:t>
            </a:r>
            <a:r>
              <a:rPr lang="zh-CN" altLang="en-US"/>
              <a:t>接受状态</a:t>
            </a:r>
            <a:r>
              <a:rPr lang="en-US" altLang="zh-CN"/>
              <a:t>”</a:t>
            </a:r>
            <a:r>
              <a:rPr lang="zh-CN" altLang="en-US"/>
              <a:t>（比如初始状态是</a:t>
            </a:r>
            <a:r>
              <a:rPr lang="en-US" altLang="zh-CN"/>
              <a:t> “</a:t>
            </a:r>
            <a:r>
              <a:rPr lang="zh-CN" altLang="en-US"/>
              <a:t>未匹配</a:t>
            </a:r>
            <a:r>
              <a:rPr lang="en-US" altLang="zh-CN"/>
              <a:t>”</a:t>
            </a:r>
            <a:r>
              <a:rPr lang="zh-CN" altLang="en-US"/>
              <a:t>，接受状态是</a:t>
            </a:r>
            <a:r>
              <a:rPr lang="en-US" altLang="zh-CN"/>
              <a:t> “</a:t>
            </a:r>
            <a:r>
              <a:rPr lang="zh-CN" altLang="en-US"/>
              <a:t>匹配成功</a:t>
            </a:r>
            <a:r>
              <a:rPr lang="en-US" altLang="zh-CN"/>
              <a:t>”</a:t>
            </a:r>
            <a:r>
              <a:rPr lang="zh-CN" altLang="en-US"/>
              <a:t>）</a:t>
            </a:r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853440" y="909320"/>
          <a:ext cx="10485120" cy="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0">
                <a:tc>
                  <a:txBody>
                    <a:bodyPr/>
                    <a:p>
                      <a:pPr algn="l"/>
                      <a:r>
                        <a:rPr lang="en-US" altLang="zh-CN" sz="2800" b="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KMP</a:t>
                      </a:r>
                      <a:endParaRPr lang="zh-CN" altLang="en-US" sz="2800" b="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800" b="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DFA</a:t>
                      </a:r>
                      <a:endParaRPr lang="en-US" altLang="zh-CN" sz="2800" b="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已匹配长度 </a:t>
                      </a:r>
                      <a:r>
                        <a:rPr lang="en-US" altLang="zh-CN" sz="2800" b="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j</a:t>
                      </a:r>
                      <a:endParaRPr lang="en-US" altLang="zh-CN" sz="2800" b="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状态</a:t>
                      </a:r>
                      <a:endParaRPr lang="zh-CN" altLang="en-US" sz="2800" b="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模式串长度 </a:t>
                      </a:r>
                      <a:r>
                        <a:rPr lang="en-US" altLang="zh-CN" sz="2800" b="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m</a:t>
                      </a:r>
                      <a:endParaRPr lang="en-US" altLang="zh-CN" sz="2800" b="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总状态数</a:t>
                      </a:r>
                      <a:endParaRPr lang="zh-CN" altLang="en-US" sz="2800" b="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完全匹配 </a:t>
                      </a:r>
                      <a:r>
                        <a:rPr lang="en-US" altLang="zh-CN" sz="2800" b="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j=m</a:t>
                      </a:r>
                      <a:endParaRPr lang="en-US" altLang="zh-CN" sz="2800" b="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接受状态</a:t>
                      </a:r>
                      <a:endParaRPr lang="zh-CN" altLang="en-US" sz="2800" b="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读入一个文本字符</a:t>
                      </a:r>
                      <a:endParaRPr lang="zh-CN" altLang="en-US" sz="2800" b="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输入符号</a:t>
                      </a:r>
                      <a:endParaRPr lang="zh-CN" altLang="en-US" sz="2800" b="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成功继续 </a:t>
                      </a:r>
                      <a:r>
                        <a:rPr lang="en-US" altLang="zh-CN" sz="2800" b="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j+1</a:t>
                      </a:r>
                      <a:endParaRPr lang="en-US" altLang="zh-CN" sz="2800" b="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正向转移</a:t>
                      </a:r>
                      <a:endParaRPr lang="zh-CN" altLang="en-US" sz="2800" b="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失败跳 </a:t>
                      </a:r>
                      <a:r>
                        <a:rPr lang="en-US" altLang="zh-CN" sz="2800" b="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next [j]</a:t>
                      </a:r>
                      <a:endParaRPr lang="en-US" altLang="zh-CN" sz="2800" b="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失败转移</a:t>
                      </a:r>
                      <a:endParaRPr lang="zh-CN" altLang="en-US" sz="2800" b="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文本指针不回退</a:t>
                      </a:r>
                      <a:endParaRPr lang="zh-CN" altLang="en-US" sz="2800" b="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 b="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确定性单向运行</a:t>
                      </a:r>
                      <a:endParaRPr lang="zh-CN" altLang="en-US" sz="2800" b="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853440" y="909320"/>
          <a:ext cx="10485120" cy="0"/>
        </p:xfrm>
        <a:graphic>
          <a:graphicData uri="http://schemas.openxmlformats.org/drawingml/2006/table">
            <a:tbl>
              <a:tblPr/>
              <a:tblGrid>
                <a:gridCol w="5242560"/>
                <a:gridCol w="5242560"/>
              </a:tblGrid>
              <a:tr h="0">
                <a:tc>
                  <a:txBody>
                    <a:bodyPr/>
                    <a:p>
                      <a:pPr algn="l"/>
                      <a:r>
                        <a:rPr lang="en-US" altLang="zh-CN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AC </a:t>
                      </a:r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自动机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 </a:t>
                      </a:r>
                      <a:r>
                        <a:rPr lang="en-US" altLang="zh-CN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DFA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当前节点（前缀树节点）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状态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前缀树节点总数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总状态数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节点标记为结束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接受状态（可多个）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读入一个文本字符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输入符号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沿 </a:t>
                      </a:r>
                      <a:r>
                        <a:rPr lang="en-US" altLang="zh-CN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trie </a:t>
                      </a:r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子节点走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正向转移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沿 </a:t>
                      </a:r>
                      <a:r>
                        <a:rPr lang="en-US" altLang="zh-CN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fail </a:t>
                      </a:r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指针跳转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失败转移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文本顺序扫描不回溯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8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确定性单向运行</a:t>
                      </a:r>
                      <a:endParaRPr lang="zh-CN" altLang="en-US" sz="28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Aho-Corasick</a:t>
            </a:r>
            <a:r>
              <a:rPr lang="zh-CN" altLang="en-US">
                <a:sym typeface="+mn-ea"/>
              </a:rPr>
              <a:t>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预处理一次，可多次匹配，非常适合流式数据和多模式匹配场景</a:t>
            </a:r>
            <a:endParaRPr lang="en-US" altLang="zh-CN"/>
          </a:p>
          <a:p>
            <a:pPr lvl="1"/>
            <a:r>
              <a:rPr lang="zh-CN" altLang="en-US"/>
              <a:t>检测抄袭：通过匹配文本中的多个模式来检测抄袭</a:t>
            </a:r>
            <a:endParaRPr lang="en-US" altLang="zh-CN"/>
          </a:p>
          <a:p>
            <a:pPr lvl="1"/>
            <a:r>
              <a:rPr lang="zh-CN" altLang="en-US"/>
              <a:t>文本挖掘：在大文本中搜索多个模式</a:t>
            </a:r>
            <a:endParaRPr lang="en-US" altLang="zh-CN"/>
          </a:p>
          <a:p>
            <a:pPr lvl="1"/>
            <a:r>
              <a:rPr lang="zh-CN" altLang="en-US"/>
              <a:t>生物信息学：在</a:t>
            </a:r>
            <a:r>
              <a:rPr lang="en-US" altLang="zh-CN"/>
              <a:t>DNA</a:t>
            </a:r>
            <a:r>
              <a:rPr lang="zh-CN" altLang="en-US"/>
              <a:t>序列中搜索特定模式</a:t>
            </a:r>
            <a:endParaRPr lang="en-US" altLang="zh-CN"/>
          </a:p>
          <a:p>
            <a:pPr lvl="1"/>
            <a:r>
              <a:rPr lang="zh-CN" altLang="en-US"/>
              <a:t>入侵检测：检测网络流量中的恶意模式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边界处理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必须处理：</a:t>
            </a:r>
            <a:endParaRPr lang="zh-CN" altLang="en-US"/>
          </a:p>
          <a:p>
            <a:pPr lvl="1"/>
            <a:r>
              <a:rPr lang="zh-CN" altLang="en-US"/>
              <a:t>空主串</a:t>
            </a:r>
            <a:r>
              <a:rPr lang="en-US" altLang="zh-CN"/>
              <a:t> / </a:t>
            </a:r>
            <a:r>
              <a:rPr lang="zh-CN" altLang="en-US"/>
              <a:t>空模式</a:t>
            </a:r>
            <a:endParaRPr lang="zh-CN" altLang="en-US"/>
          </a:p>
          <a:p>
            <a:pPr lvl="1"/>
            <a:r>
              <a:rPr lang="zh-CN" altLang="en-US"/>
              <a:t>模式串</a:t>
            </a:r>
            <a:r>
              <a:rPr lang="en-US" altLang="zh-CN"/>
              <a:t> &gt; </a:t>
            </a:r>
            <a:r>
              <a:rPr lang="zh-CN" altLang="en-US"/>
              <a:t>主串长度</a:t>
            </a:r>
            <a:endParaRPr lang="zh-CN" altLang="en-US"/>
          </a:p>
          <a:p>
            <a:pPr lvl="1"/>
            <a:r>
              <a:rPr lang="zh-CN" altLang="en-US"/>
              <a:t>全字符相同</a:t>
            </a:r>
            <a:endParaRPr lang="zh-CN" altLang="en-US"/>
          </a:p>
          <a:p>
            <a:pPr lvl="1"/>
            <a:r>
              <a:rPr lang="zh-CN" altLang="en-US"/>
              <a:t>大小写、编码、特殊符号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Python </a:t>
            </a:r>
            <a:r>
              <a:rPr lang="zh-CN" altLang="en-US"/>
              <a:t>工程实践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简单场景：</a:t>
            </a:r>
            <a:r>
              <a:rPr lang="en-US" altLang="zh-CN"/>
              <a:t>str.find() / in</a:t>
            </a:r>
            <a:endParaRPr lang="en-US" altLang="zh-CN"/>
          </a:p>
          <a:p>
            <a:r>
              <a:rPr lang="zh-CN" altLang="en-US"/>
              <a:t>复杂规则：</a:t>
            </a:r>
            <a:r>
              <a:rPr lang="en-US" altLang="zh-CN"/>
              <a:t>re </a:t>
            </a:r>
            <a:r>
              <a:rPr lang="zh-CN" altLang="en-US"/>
              <a:t>正则</a:t>
            </a:r>
            <a:endParaRPr lang="zh-CN" altLang="en-US"/>
          </a:p>
          <a:p>
            <a:r>
              <a:rPr lang="zh-CN" altLang="en-US"/>
              <a:t>海量多模式：</a:t>
            </a:r>
            <a:r>
              <a:rPr lang="en-US" altLang="zh-CN"/>
              <a:t>AC </a:t>
            </a:r>
            <a:r>
              <a:rPr lang="zh-CN" altLang="en-US"/>
              <a:t>自动机</a:t>
            </a:r>
            <a:endParaRPr lang="zh-CN" altLang="en-US"/>
          </a:p>
          <a:p>
            <a:r>
              <a:rPr lang="zh-CN" altLang="en-US"/>
              <a:t>手写算法仅用于学习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096000" y="1758315"/>
          <a:ext cx="5242560" cy="2783205"/>
        </p:xfrm>
        <a:graphic>
          <a:graphicData uri="http://schemas.openxmlformats.org/drawingml/2006/table">
            <a:tbl>
              <a:tblPr/>
              <a:tblGrid>
                <a:gridCol w="1747520"/>
                <a:gridCol w="1747520"/>
                <a:gridCol w="1747520"/>
              </a:tblGrid>
              <a:tr h="448945">
                <a:tc>
                  <a:txBody>
                    <a:bodyPr/>
                    <a:p>
                      <a:pPr algn="l"/>
                      <a:r>
                        <a:rPr lang="zh-CN" altLang="en-US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算法</a:t>
                      </a:r>
                      <a:endParaRPr lang="zh-CN" altLang="en-US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复杂度</a:t>
                      </a:r>
                      <a:endParaRPr lang="zh-CN" altLang="en-US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适用场景</a:t>
                      </a:r>
                      <a:endParaRPr lang="zh-CN" altLang="en-US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8945">
                <a:tc>
                  <a:txBody>
                    <a:bodyPr/>
                    <a:p>
                      <a:pPr algn="l"/>
                      <a:r>
                        <a:rPr lang="zh-CN" altLang="en-US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朴素</a:t>
                      </a:r>
                      <a:endParaRPr lang="zh-CN" altLang="en-US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O(nm)</a:t>
                      </a:r>
                      <a:endParaRPr lang="en-US" altLang="zh-CN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短模式、教学、简单场景</a:t>
                      </a:r>
                      <a:endParaRPr lang="zh-CN" altLang="en-US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38480">
                <a:tc>
                  <a:txBody>
                    <a:bodyPr/>
                    <a:p>
                      <a:pPr algn="l"/>
                      <a:r>
                        <a:rPr lang="en-US" altLang="zh-CN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KMP</a:t>
                      </a:r>
                      <a:endParaRPr lang="en-US" altLang="zh-CN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O(n+m)</a:t>
                      </a:r>
                      <a:endParaRPr lang="en-US" altLang="zh-CN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长文本、单模式、重复搜索</a:t>
                      </a:r>
                      <a:endParaRPr lang="zh-CN" altLang="en-US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8945">
                <a:tc>
                  <a:txBody>
                    <a:bodyPr/>
                    <a:p>
                      <a:pPr algn="l"/>
                      <a:r>
                        <a:rPr lang="en-US" altLang="zh-CN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BM</a:t>
                      </a:r>
                      <a:endParaRPr lang="en-US" altLang="zh-CN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亚线性</a:t>
                      </a:r>
                      <a:endParaRPr lang="zh-CN" altLang="en-US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编辑器查找、实际最快</a:t>
                      </a:r>
                      <a:endParaRPr lang="zh-CN" altLang="en-US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8945">
                <a:tc>
                  <a:txBody>
                    <a:bodyPr/>
                    <a:p>
                      <a:pPr algn="l"/>
                      <a:r>
                        <a:rPr lang="en-US" altLang="zh-CN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Sunday</a:t>
                      </a:r>
                      <a:endParaRPr lang="en-US" altLang="zh-CN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简单高效</a:t>
                      </a:r>
                      <a:endParaRPr lang="zh-CN" altLang="en-US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手写工程首选</a:t>
                      </a:r>
                      <a:endParaRPr lang="zh-CN" altLang="en-US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8945">
                <a:tc>
                  <a:txBody>
                    <a:bodyPr/>
                    <a:p>
                      <a:pPr algn="l"/>
                      <a:r>
                        <a:rPr lang="en-US" altLang="zh-CN" sz="20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AC </a:t>
                      </a:r>
                      <a:r>
                        <a:rPr lang="zh-CN" altLang="en-US" sz="2000">
                          <a:latin typeface="Microsoft YaHei Regular" panose="020B0502040204020203" charset="-122"/>
                          <a:ea typeface="Microsoft YaHei Regular" panose="020B0502040204020203" charset="-122"/>
                          <a:cs typeface="Microsoft YaHei Regular" panose="020B0502040204020203" charset="-122"/>
                        </a:rPr>
                        <a:t>自动机</a:t>
                      </a:r>
                      <a:endParaRPr lang="zh-CN" altLang="en-US" sz="2000">
                        <a:latin typeface="Microsoft YaHei Regular" panose="020B0502040204020203" charset="-122"/>
                        <a:ea typeface="Microsoft YaHei Regular" panose="020B0502040204020203" charset="-122"/>
                        <a:cs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O(n+z)</a:t>
                      </a:r>
                      <a:endParaRPr lang="en-US" altLang="zh-CN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2000">
                          <a:latin typeface="Microsoft YaHei Regular" panose="020B0502040204020203" charset="-122"/>
                          <a:ea typeface="Microsoft YaHei Regular" panose="020B0502040204020203" charset="-122"/>
                        </a:rPr>
                        <a:t>多模式、敏感词过滤</a:t>
                      </a:r>
                      <a:endParaRPr lang="zh-CN" altLang="en-US" sz="2000">
                        <a:latin typeface="Microsoft YaHei Regular" panose="020B0502040204020203" charset="-122"/>
                        <a:ea typeface="Microsoft YaHei Regular" panose="020B0502040204020203" charset="-122"/>
                      </a:endParaRPr>
                    </a:p>
                  </a:txBody>
                  <a:tcPr marL="101917" marR="101917" marT="101917" marB="101917" anchor="ctr" anchorCtr="0">
                    <a:lnL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本周</a:t>
            </a:r>
            <a:r>
              <a:rPr lang="zh-CN" altLang="en-US"/>
              <a:t>要点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多模式匹配：</a:t>
            </a:r>
            <a:r>
              <a:rPr lang="en-US" altLang="zh-CN"/>
              <a:t>Trie + AC </a:t>
            </a:r>
            <a:r>
              <a:rPr lang="zh-CN" altLang="en-US"/>
              <a:t>自动机</a:t>
            </a:r>
            <a:endParaRPr lang="zh-CN" altLang="en-US"/>
          </a:p>
          <a:p>
            <a:r>
              <a:rPr lang="zh-CN" altLang="en-US"/>
              <a:t>工程优先内置函数</a:t>
            </a:r>
            <a:r>
              <a:rPr lang="en-US" altLang="zh-CN"/>
              <a:t> + </a:t>
            </a:r>
            <a:r>
              <a:rPr lang="zh-CN" altLang="en-US"/>
              <a:t>健壮性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作业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自适应</a:t>
            </a:r>
            <a:r>
              <a:rPr lang="zh-CN" altLang="en-US"/>
              <a:t>算法的串</a:t>
            </a:r>
            <a:r>
              <a:rPr lang="zh-CN" altLang="en-US"/>
              <a:t>检索程序</a:t>
            </a:r>
            <a:endParaRPr lang="zh-CN" altLang="en-US"/>
          </a:p>
          <a:p>
            <a:pPr lvl="1"/>
            <a:r>
              <a:rPr lang="zh-CN" altLang="en-US"/>
              <a:t>设计统一输入</a:t>
            </a:r>
            <a:r>
              <a:rPr lang="zh-CN" altLang="en-US"/>
              <a:t>输出接口</a:t>
            </a:r>
            <a:endParaRPr lang="zh-CN" altLang="en-US"/>
          </a:p>
          <a:p>
            <a:pPr lvl="1"/>
            <a:r>
              <a:rPr lang="zh-CN" altLang="en-US"/>
              <a:t>可以自动根据场景选择最优匹配算法，支持单模式</a:t>
            </a:r>
            <a:r>
              <a:rPr lang="en-US" altLang="zh-CN"/>
              <a:t> / </a:t>
            </a:r>
            <a:r>
              <a:rPr lang="zh-CN" altLang="en-US"/>
              <a:t>多模式、长文本</a:t>
            </a:r>
            <a:r>
              <a:rPr lang="en-US" altLang="zh-CN"/>
              <a:t> / </a:t>
            </a:r>
            <a:r>
              <a:rPr lang="zh-CN" altLang="en-US"/>
              <a:t>短文本、批量检索，也可明确</a:t>
            </a:r>
            <a:r>
              <a:rPr lang="zh-CN" altLang="en-US"/>
              <a:t>指定</a:t>
            </a:r>
            <a:endParaRPr lang="zh-CN" altLang="en-US"/>
          </a:p>
          <a:p>
            <a:pPr lvl="1"/>
            <a:r>
              <a:rPr lang="zh-CN" altLang="en-US"/>
              <a:t>需要</a:t>
            </a:r>
            <a:r>
              <a:rPr lang="zh-CN" altLang="en-US"/>
              <a:t>包含完整边界校验、异常处理</a:t>
            </a:r>
            <a:endParaRPr lang="zh-CN" altLang="en-US"/>
          </a:p>
          <a:p>
            <a:pPr lvl="1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2.xml><?xml version="1.0" encoding="utf-8"?>
<p:tagLst xmlns:p="http://schemas.openxmlformats.org/presentationml/2006/main">
  <p:tag name="TABLE_ENDDRAG_ORIGIN_RECT" val="412*212"/>
  <p:tag name="TABLE_ENDDRAG_RECT" val="480*145*412*212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复旦">
  <a:themeElements>
    <a:clrScheme name="默认设计模板 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99CCFF"/>
      </a:accent1>
      <a:accent2>
        <a:srgbClr val="CCCCFF"/>
      </a:accent2>
      <a:accent3>
        <a:srgbClr val="FFFFFF"/>
      </a:accent3>
      <a:accent4>
        <a:srgbClr val="000000"/>
      </a:accent4>
      <a:accent5>
        <a:srgbClr val="CAE2FF"/>
      </a:accent5>
      <a:accent6>
        <a:srgbClr val="B9B9E7"/>
      </a:accent6>
      <a:hlink>
        <a:srgbClr val="3333CC"/>
      </a:hlink>
      <a:folHlink>
        <a:srgbClr val="AF67FF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4072</Words>
  <Application>WPS 文字</Application>
  <PresentationFormat>宽屏</PresentationFormat>
  <Paragraphs>577</Paragraphs>
  <Slides>53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71" baseType="lpstr">
      <vt:lpstr>Arial</vt:lpstr>
      <vt:lpstr>宋体</vt:lpstr>
      <vt:lpstr>Wingdings</vt:lpstr>
      <vt:lpstr>Microsoft YaHei</vt:lpstr>
      <vt:lpstr>Calibri</vt:lpstr>
      <vt:lpstr>Microsoft YaHei Regular</vt:lpstr>
      <vt:lpstr>Noto Sans SC</vt:lpstr>
      <vt:lpstr>Thonburi</vt:lpstr>
      <vt:lpstr>JetBrains Maple Mono</vt:lpstr>
      <vt:lpstr>微软雅黑</vt:lpstr>
      <vt:lpstr>Arial Unicode MS</vt:lpstr>
      <vt:lpstr>苹方-简</vt:lpstr>
      <vt:lpstr>Noto Sans SC</vt:lpstr>
      <vt:lpstr>-apple-system</vt:lpstr>
      <vt:lpstr>SFMono-Regular</vt:lpstr>
      <vt:lpstr>-apple-system</vt:lpstr>
      <vt:lpstr>SFMono-Regular</vt:lpstr>
      <vt:lpstr>复旦</vt:lpstr>
      <vt:lpstr>Python 性能感知</vt:lpstr>
      <vt:lpstr>PowerPoint 演示文稿</vt:lpstr>
      <vt:lpstr>KMP 算法原理与实现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本节要点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状态机</vt:lpstr>
      <vt:lpstr>（有限）状态机</vt:lpstr>
      <vt:lpstr>状态机</vt:lpstr>
      <vt:lpstr>状态转移表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刘百祥</cp:lastModifiedBy>
  <cp:revision>455</cp:revision>
  <dcterms:created xsi:type="dcterms:W3CDTF">2026-04-08T18:53:25Z</dcterms:created>
  <dcterms:modified xsi:type="dcterms:W3CDTF">2026-04-08T18:53:25Z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3BFD4F963FAD6A041651D6692D069283_43</vt:lpwstr>
  </property>
</Properties>
</file>